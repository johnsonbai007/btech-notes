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handoutMasterIdLst>
    <p:handoutMasterId r:id="rId71"/>
  </p:handoutMasterIdLst>
  <p:sldIdLst>
    <p:sldId id="256" r:id="rId2"/>
    <p:sldId id="257" r:id="rId3"/>
    <p:sldId id="273" r:id="rId4"/>
    <p:sldId id="274" r:id="rId5"/>
    <p:sldId id="275" r:id="rId6"/>
    <p:sldId id="259" r:id="rId7"/>
    <p:sldId id="260" r:id="rId8"/>
    <p:sldId id="261" r:id="rId9"/>
    <p:sldId id="262" r:id="rId10"/>
    <p:sldId id="263" r:id="rId11"/>
    <p:sldId id="264" r:id="rId12"/>
    <p:sldId id="265" r:id="rId13"/>
    <p:sldId id="276" r:id="rId14"/>
    <p:sldId id="267" r:id="rId15"/>
    <p:sldId id="268" r:id="rId16"/>
    <p:sldId id="270" r:id="rId17"/>
    <p:sldId id="277" r:id="rId18"/>
    <p:sldId id="272" r:id="rId19"/>
    <p:sldId id="278" r:id="rId20"/>
    <p:sldId id="279" r:id="rId21"/>
    <p:sldId id="283" r:id="rId22"/>
    <p:sldId id="284" r:id="rId23"/>
    <p:sldId id="290" r:id="rId24"/>
    <p:sldId id="286" r:id="rId25"/>
    <p:sldId id="287" r:id="rId26"/>
    <p:sldId id="288" r:id="rId27"/>
    <p:sldId id="292" r:id="rId28"/>
    <p:sldId id="294" r:id="rId29"/>
    <p:sldId id="350" r:id="rId30"/>
    <p:sldId id="354" r:id="rId31"/>
    <p:sldId id="351" r:id="rId32"/>
    <p:sldId id="352" r:id="rId33"/>
    <p:sldId id="296" r:id="rId34"/>
    <p:sldId id="298" r:id="rId35"/>
    <p:sldId id="301" r:id="rId36"/>
    <p:sldId id="304" r:id="rId37"/>
    <p:sldId id="306" r:id="rId38"/>
    <p:sldId id="307" r:id="rId39"/>
    <p:sldId id="331" r:id="rId40"/>
    <p:sldId id="309" r:id="rId41"/>
    <p:sldId id="312" r:id="rId42"/>
    <p:sldId id="313" r:id="rId43"/>
    <p:sldId id="315" r:id="rId44"/>
    <p:sldId id="322" r:id="rId45"/>
    <p:sldId id="332" r:id="rId46"/>
    <p:sldId id="323" r:id="rId47"/>
    <p:sldId id="324" r:id="rId48"/>
    <p:sldId id="333" r:id="rId49"/>
    <p:sldId id="334" r:id="rId50"/>
    <p:sldId id="358" r:id="rId51"/>
    <p:sldId id="359" r:id="rId52"/>
    <p:sldId id="363" r:id="rId53"/>
    <p:sldId id="364" r:id="rId54"/>
    <p:sldId id="365" r:id="rId55"/>
    <p:sldId id="366" r:id="rId56"/>
    <p:sldId id="367" r:id="rId57"/>
    <p:sldId id="368" r:id="rId58"/>
    <p:sldId id="375" r:id="rId59"/>
    <p:sldId id="376" r:id="rId60"/>
    <p:sldId id="377" r:id="rId61"/>
    <p:sldId id="378" r:id="rId62"/>
    <p:sldId id="379" r:id="rId63"/>
    <p:sldId id="380" r:id="rId64"/>
    <p:sldId id="369" r:id="rId65"/>
    <p:sldId id="370" r:id="rId66"/>
    <p:sldId id="371" r:id="rId67"/>
    <p:sldId id="372" r:id="rId68"/>
    <p:sldId id="374" r:id="rId6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05" autoAdjust="0"/>
    <p:restoredTop sz="94662" autoAdjust="0"/>
  </p:normalViewPr>
  <p:slideViewPr>
    <p:cSldViewPr>
      <p:cViewPr>
        <p:scale>
          <a:sx n="70" d="100"/>
          <a:sy n="70" d="100"/>
        </p:scale>
        <p:origin x="-480" y="-9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30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14B25D2-17B5-4E90-A4C7-6268B906A9B2}" type="datetimeFigureOut">
              <a:rPr lang="en-US" smtClean="0"/>
              <a:pPr/>
              <a:t>11/28/2023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CACEFE4-9D75-461E-9223-EB69437F05E0}" type="slidenum">
              <a:rPr lang="en-US" smtClean="0"/>
              <a:pPr/>
              <a:t>‹#›</a:t>
            </a:fld>
            <a:endParaRPr lang="en-US"/>
          </a:p>
        </p:txBody>
      </p:sp>
    </p:spTree>
    <p:extLst>
      <p:ext uri="{BB962C8B-B14F-4D97-AF65-F5344CB8AC3E}">
        <p14:creationId xmlns:p14="http://schemas.microsoft.com/office/powerpoint/2010/main" val="33342291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F61D78D-2C63-404D-9046-A315CC23C7F9}" type="datetimeFigureOut">
              <a:rPr lang="en-US" smtClean="0"/>
              <a:pPr/>
              <a:t>11/28/2023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A31EB1-7BE2-4D32-B738-A0C7F820CF22}" type="slidenum">
              <a:rPr lang="en-US" smtClean="0"/>
              <a:pPr/>
              <a:t>‹#›</a:t>
            </a:fld>
            <a:endParaRPr lang="en-US"/>
          </a:p>
        </p:txBody>
      </p:sp>
    </p:spTree>
    <p:extLst>
      <p:ext uri="{BB962C8B-B14F-4D97-AF65-F5344CB8AC3E}">
        <p14:creationId xmlns:p14="http://schemas.microsoft.com/office/powerpoint/2010/main" val="1013947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113110-8604-4975-BDAC-74B8C0E59552}" type="slidenum">
              <a:rPr lang="en-US" smtClean="0"/>
              <a:pPr/>
              <a:t>44</a:t>
            </a:fld>
            <a:endParaRPr lang="en-US"/>
          </a:p>
        </p:txBody>
      </p:sp>
    </p:spTree>
    <p:extLst>
      <p:ext uri="{BB962C8B-B14F-4D97-AF65-F5344CB8AC3E}">
        <p14:creationId xmlns:p14="http://schemas.microsoft.com/office/powerpoint/2010/main" val="37103999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ADA31EB1-7BE2-4D32-B738-A0C7F820CF22}" type="slidenum">
              <a:rPr lang="en-US" smtClean="0"/>
              <a:pPr/>
              <a:t>55</a:t>
            </a:fld>
            <a:endParaRPr lang="en-US"/>
          </a:p>
        </p:txBody>
      </p:sp>
    </p:spTree>
    <p:extLst>
      <p:ext uri="{BB962C8B-B14F-4D97-AF65-F5344CB8AC3E}">
        <p14:creationId xmlns:p14="http://schemas.microsoft.com/office/powerpoint/2010/main" val="3112833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9E30E16-648D-4726-9A6A-6EB71280A85B}" type="datetimeFigureOut">
              <a:rPr lang="en-US" smtClean="0"/>
              <a:pPr/>
              <a:t>11/28/2023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7107F70-D38B-46C4-8318-AA9B531874CD}"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30E16-648D-4726-9A6A-6EB71280A85B}" type="datetimeFigureOut">
              <a:rPr lang="en-US" smtClean="0"/>
              <a:pPr/>
              <a:t>11/28/2023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7107F70-D38B-46C4-8318-AA9B531874CD}"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9E30E16-648D-4726-9A6A-6EB71280A85B}" type="datetimeFigureOut">
              <a:rPr lang="en-US" smtClean="0"/>
              <a:pPr/>
              <a:t>11/28/2023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7107F70-D38B-46C4-8318-AA9B531874CD}"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9E30E16-648D-4726-9A6A-6EB71280A85B}" type="datetimeFigureOut">
              <a:rPr lang="en-US" smtClean="0"/>
              <a:pPr/>
              <a:t>11/28/2023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7107F70-D38B-46C4-8318-AA9B531874CD}"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9E30E16-648D-4726-9A6A-6EB71280A85B}" type="datetimeFigureOut">
              <a:rPr lang="en-US" smtClean="0"/>
              <a:pPr/>
              <a:t>11/28/2023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A7107F70-D38B-46C4-8318-AA9B531874CD}"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9E30E16-648D-4726-9A6A-6EB71280A85B}" type="datetimeFigureOut">
              <a:rPr lang="en-US" smtClean="0"/>
              <a:pPr/>
              <a:t>11/28/2023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7107F70-D38B-46C4-8318-AA9B531874CD}"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E30E16-648D-4726-9A6A-6EB71280A85B}" type="datetimeFigureOut">
              <a:rPr lang="en-US" smtClean="0"/>
              <a:pPr/>
              <a:t>11/28/2023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7107F70-D38B-46C4-8318-AA9B531874CD}"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E30E16-648D-4726-9A6A-6EB71280A85B}" type="datetimeFigureOut">
              <a:rPr lang="en-US" smtClean="0"/>
              <a:pPr/>
              <a:t>11/28/2023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7107F70-D38B-46C4-8318-AA9B531874CD}"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E30E16-648D-4726-9A6A-6EB71280A85B}" type="datetimeFigureOut">
              <a:rPr lang="en-US" smtClean="0"/>
              <a:pPr/>
              <a:t>11/28/2023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7107F70-D38B-46C4-8318-AA9B531874CD}"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30E16-648D-4726-9A6A-6EB71280A85B}" type="datetimeFigureOut">
              <a:rPr lang="en-US" smtClean="0"/>
              <a:pPr/>
              <a:t>11/28/2023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7107F70-D38B-46C4-8318-AA9B531874CD}"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30E16-648D-4726-9A6A-6EB71280A85B}" type="datetimeFigureOut">
              <a:rPr lang="en-US" smtClean="0"/>
              <a:pPr/>
              <a:t>11/28/2023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7107F70-D38B-46C4-8318-AA9B531874CD}"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E30E16-648D-4726-9A6A-6EB71280A85B}" type="datetimeFigureOut">
              <a:rPr lang="en-US" smtClean="0"/>
              <a:pPr/>
              <a:t>11/28/2023</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107F70-D38B-46C4-8318-AA9B531874CD}"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Trees</a:t>
            </a:r>
            <a:br>
              <a:rPr lang="en-US" dirty="0" smtClean="0"/>
            </a:br>
            <a:endParaRPr lang="en-US" dirty="0"/>
          </a:p>
        </p:txBody>
      </p:sp>
      <p:sp>
        <p:nvSpPr>
          <p:cNvPr id="3" name="Subtitle 2"/>
          <p:cNvSpPr>
            <a:spLocks noGrp="1"/>
          </p:cNvSpPr>
          <p:nvPr>
            <p:ph type="subTitle" idx="1"/>
          </p:nvPr>
        </p:nvSpPr>
        <p:spPr/>
        <p:txBody>
          <a:bodyPr/>
          <a:lstStyle/>
          <a:p>
            <a:r>
              <a:rPr lang="en-US" dirty="0" smtClean="0"/>
              <a:t>Non linear Data Structure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2400" y="0"/>
            <a:ext cx="8763000" cy="6858000"/>
          </a:xfrm>
        </p:spPr>
        <p:txBody>
          <a:bodyPr>
            <a:normAutofit/>
          </a:bodyPr>
          <a:lstStyle/>
          <a:p>
            <a:pPr algn="just"/>
            <a:r>
              <a:rPr lang="en-US" dirty="0" smtClean="0"/>
              <a:t>Here elements appear in non linear fashion.</a:t>
            </a:r>
          </a:p>
          <a:p>
            <a:pPr algn="just"/>
            <a:r>
              <a:rPr lang="en-US" dirty="0" smtClean="0"/>
              <a:t>Tree DS is used where an hierarchy relationship exist between data.</a:t>
            </a:r>
          </a:p>
          <a:p>
            <a:pPr algn="just"/>
            <a:r>
              <a:rPr lang="en-US" dirty="0" smtClean="0"/>
              <a:t>For algebraic expression, X=(a-b)/((c*d)+e). </a:t>
            </a:r>
          </a:p>
          <a:p>
            <a:pPr algn="just"/>
            <a:endParaRPr lang="en-US" dirty="0" smtClean="0"/>
          </a:p>
          <a:p>
            <a:pPr algn="just"/>
            <a:endParaRPr lang="en-US" dirty="0" smtClean="0"/>
          </a:p>
          <a:p>
            <a:pPr algn="just"/>
            <a:endParaRPr lang="en-US" dirty="0" smtClean="0"/>
          </a:p>
          <a:p>
            <a:pPr algn="just">
              <a:buNone/>
            </a:pPr>
            <a:endParaRPr lang="en-US" dirty="0" smtClean="0"/>
          </a:p>
          <a:p>
            <a:pPr algn="just"/>
            <a:endParaRPr lang="en-US" dirty="0" smtClean="0"/>
          </a:p>
          <a:p>
            <a:pPr algn="just"/>
            <a:endParaRPr lang="en-US" dirty="0" smtClean="0"/>
          </a:p>
          <a:p>
            <a:pPr algn="just"/>
            <a:r>
              <a:rPr lang="en-US" dirty="0" smtClean="0"/>
              <a:t>Operations having highest precedence are at the lowest level.</a:t>
            </a:r>
          </a:p>
          <a:p>
            <a:pPr algn="just"/>
            <a:endParaRPr lang="en-US" dirty="0"/>
          </a:p>
        </p:txBody>
      </p:sp>
      <p:pic>
        <p:nvPicPr>
          <p:cNvPr id="4" name="Picture 2"/>
          <p:cNvPicPr>
            <a:picLocks noChangeAspect="1" noChangeArrowheads="1"/>
          </p:cNvPicPr>
          <p:nvPr/>
        </p:nvPicPr>
        <p:blipFill>
          <a:blip r:embed="rId2" cstate="print"/>
          <a:srcRect/>
          <a:stretch>
            <a:fillRect/>
          </a:stretch>
        </p:blipFill>
        <p:spPr bwMode="auto">
          <a:xfrm>
            <a:off x="2057400" y="2362200"/>
            <a:ext cx="4224547" cy="3124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458200" cy="5973763"/>
          </a:xfrm>
        </p:spPr>
        <p:txBody>
          <a:bodyPr/>
          <a:lstStyle/>
          <a:p>
            <a:pPr marL="514350" indent="-514350">
              <a:buNone/>
            </a:pPr>
            <a:r>
              <a:rPr lang="en-GB" sz="3600" u="sng" dirty="0" smtClean="0"/>
              <a:t>Advantages of Tree DS</a:t>
            </a:r>
          </a:p>
          <a:p>
            <a:pPr marL="514350" indent="-514350">
              <a:buAutoNum type="arabicPeriod"/>
            </a:pPr>
            <a:r>
              <a:rPr lang="en-GB" dirty="0" smtClean="0"/>
              <a:t>Represent and manipulate hierarchical data.</a:t>
            </a:r>
          </a:p>
          <a:p>
            <a:pPr marL="514350" indent="-514350">
              <a:buAutoNum type="arabicPeriod"/>
            </a:pPr>
            <a:r>
              <a:rPr lang="en-GB" dirty="0" smtClean="0"/>
              <a:t> Easier to Search compared to linear DS.</a:t>
            </a:r>
          </a:p>
          <a:p>
            <a:pPr marL="0" indent="0">
              <a:buNone/>
            </a:pPr>
            <a:endParaRPr lang="en-GB" dirty="0" smtClean="0"/>
          </a:p>
          <a:p>
            <a:pPr marL="514350" indent="-514350">
              <a:buAutoNum type="arabicPeriod"/>
            </a:pPr>
            <a:endParaRPr lang="en-GB" dirty="0" smtClean="0"/>
          </a:p>
          <a:p>
            <a:pPr marL="514350" indent="-514350">
              <a:buNone/>
            </a:pPr>
            <a:endParaRPr lang="en-GB" u="sng"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8686800" cy="6126163"/>
          </a:xfrm>
        </p:spPr>
        <p:txBody>
          <a:bodyPr/>
          <a:lstStyle/>
          <a:p>
            <a:pPr marL="514350" indent="-514350">
              <a:buNone/>
            </a:pPr>
            <a:r>
              <a:rPr lang="en-GB" sz="3600" u="sng" dirty="0" smtClean="0"/>
              <a:t>Application of trees</a:t>
            </a:r>
          </a:p>
          <a:p>
            <a:pPr marL="514350" indent="-514350">
              <a:buFont typeface="Arial" pitchFamily="34" charset="0"/>
              <a:buAutoNum type="arabicPeriod"/>
            </a:pPr>
            <a:r>
              <a:rPr lang="en-GB" dirty="0" smtClean="0"/>
              <a:t>File System of computer.</a:t>
            </a:r>
          </a:p>
          <a:p>
            <a:pPr marL="514350" indent="-514350">
              <a:buFont typeface="Arial" pitchFamily="34" charset="0"/>
              <a:buAutoNum type="arabicPeriod"/>
            </a:pPr>
            <a:endParaRPr lang="en-GB" dirty="0" smtClean="0"/>
          </a:p>
          <a:p>
            <a:endParaRPr lang="en-GB" dirty="0" smtClean="0"/>
          </a:p>
          <a:p>
            <a:endParaRPr lang="en-GB" dirty="0"/>
          </a:p>
        </p:txBody>
      </p:sp>
      <p:pic>
        <p:nvPicPr>
          <p:cNvPr id="4" name="Picture 3" descr="Untitled.png"/>
          <p:cNvPicPr>
            <a:picLocks noChangeAspect="1"/>
          </p:cNvPicPr>
          <p:nvPr/>
        </p:nvPicPr>
        <p:blipFill>
          <a:blip r:embed="rId2" cstate="print"/>
          <a:stretch>
            <a:fillRect/>
          </a:stretch>
        </p:blipFill>
        <p:spPr>
          <a:xfrm>
            <a:off x="854133" y="1219200"/>
            <a:ext cx="7666412" cy="480060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0"/>
            <a:ext cx="8534400" cy="6553200"/>
          </a:xfrm>
        </p:spPr>
        <p:txBody>
          <a:bodyPr>
            <a:normAutofit/>
          </a:bodyPr>
          <a:lstStyle/>
          <a:p>
            <a:pPr>
              <a:buNone/>
            </a:pPr>
            <a:r>
              <a:rPr lang="en-GB" dirty="0" smtClean="0"/>
              <a:t>2. HTML Document Object Model (DOM):</a:t>
            </a:r>
          </a:p>
          <a:p>
            <a:r>
              <a:rPr lang="en-GB" dirty="0" smtClean="0"/>
              <a:t>All html text, attributes are stored in tree called Document Object Model (DOM).</a:t>
            </a:r>
          </a:p>
          <a:p>
            <a:endParaRPr lang="en-GB" dirty="0" smtClean="0"/>
          </a:p>
          <a:p>
            <a:endParaRPr lang="en-GB" dirty="0" smtClean="0"/>
          </a:p>
          <a:p>
            <a:endParaRPr lang="en-GB" dirty="0" smtClean="0"/>
          </a:p>
          <a:p>
            <a:endParaRPr lang="en-GB" dirty="0" smtClean="0"/>
          </a:p>
          <a:p>
            <a:endParaRPr lang="en-GB" dirty="0" smtClean="0"/>
          </a:p>
          <a:p>
            <a:endParaRPr lang="en-GB" dirty="0" smtClean="0"/>
          </a:p>
          <a:p>
            <a:pPr>
              <a:buNone/>
            </a:pPr>
            <a:r>
              <a:rPr lang="en-GB" dirty="0" smtClean="0"/>
              <a:t>3. Network Routing</a:t>
            </a:r>
          </a:p>
          <a:p>
            <a:pPr>
              <a:buNone/>
            </a:pPr>
            <a:r>
              <a:rPr lang="en-GB" dirty="0" smtClean="0"/>
              <a:t>4. Syntax checking of compilers.</a:t>
            </a:r>
            <a:endParaRPr lang="en-GB" dirty="0"/>
          </a:p>
        </p:txBody>
      </p:sp>
      <p:pic>
        <p:nvPicPr>
          <p:cNvPr id="4" name="Picture 3" descr="Untitled.png"/>
          <p:cNvPicPr>
            <a:picLocks noChangeAspect="1"/>
          </p:cNvPicPr>
          <p:nvPr/>
        </p:nvPicPr>
        <p:blipFill>
          <a:blip r:embed="rId2" cstate="print"/>
          <a:stretch>
            <a:fillRect/>
          </a:stretch>
        </p:blipFill>
        <p:spPr>
          <a:xfrm>
            <a:off x="1295400" y="1600200"/>
            <a:ext cx="4753639" cy="3210373"/>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762000"/>
          </a:xfrm>
        </p:spPr>
        <p:txBody>
          <a:bodyPr>
            <a:normAutofit/>
          </a:bodyPr>
          <a:lstStyle/>
          <a:p>
            <a:r>
              <a:rPr lang="en-US" b="1" dirty="0" smtClean="0"/>
              <a:t>Basic Terminologies</a:t>
            </a:r>
            <a:endParaRPr lang="en-US" b="1" dirty="0"/>
          </a:p>
        </p:txBody>
      </p:sp>
      <p:sp>
        <p:nvSpPr>
          <p:cNvPr id="3" name="Content Placeholder 2"/>
          <p:cNvSpPr>
            <a:spLocks noGrp="1"/>
          </p:cNvSpPr>
          <p:nvPr>
            <p:ph idx="1"/>
          </p:nvPr>
        </p:nvSpPr>
        <p:spPr>
          <a:xfrm>
            <a:off x="0" y="762000"/>
            <a:ext cx="9144000" cy="6096000"/>
          </a:xfrm>
        </p:spPr>
        <p:txBody>
          <a:bodyPr/>
          <a:lstStyle/>
          <a:p>
            <a:pPr>
              <a:buNone/>
            </a:pPr>
            <a:r>
              <a:rPr lang="en-US" dirty="0" smtClean="0"/>
              <a:t>1. Node- Fundamental unit of a tree. Stores data and pointers to other nodes.</a:t>
            </a:r>
            <a:endParaRPr lang="en-US" dirty="0"/>
          </a:p>
          <a:p>
            <a:endParaRPr lang="en-US" dirty="0" smtClean="0"/>
          </a:p>
          <a:p>
            <a:endParaRPr lang="en-US" dirty="0" smtClean="0"/>
          </a:p>
          <a:p>
            <a:pPr>
              <a:buNone/>
            </a:pPr>
            <a:r>
              <a:rPr lang="en-US" dirty="0" smtClean="0"/>
              <a:t>                   </a:t>
            </a:r>
          </a:p>
          <a:p>
            <a:pPr>
              <a:buNone/>
            </a:pPr>
            <a:r>
              <a:rPr lang="en-US" dirty="0" smtClean="0"/>
              <a:t>2. Parent- immediate predecessor of a node</a:t>
            </a:r>
          </a:p>
          <a:p>
            <a:pPr>
              <a:buNone/>
            </a:pPr>
            <a:r>
              <a:rPr lang="en-US" dirty="0" smtClean="0"/>
              <a:t>3. Child- Immediate successor(s) of a node</a:t>
            </a:r>
            <a:endParaRPr lang="en-US" dirty="0"/>
          </a:p>
        </p:txBody>
      </p:sp>
      <p:pic>
        <p:nvPicPr>
          <p:cNvPr id="3077" name="Picture 5"/>
          <p:cNvPicPr>
            <a:picLocks noChangeAspect="1" noChangeArrowheads="1"/>
          </p:cNvPicPr>
          <p:nvPr/>
        </p:nvPicPr>
        <p:blipFill>
          <a:blip r:embed="rId2" cstate="print"/>
          <a:srcRect/>
          <a:stretch>
            <a:fillRect/>
          </a:stretch>
        </p:blipFill>
        <p:spPr bwMode="auto">
          <a:xfrm>
            <a:off x="2579637" y="4724400"/>
            <a:ext cx="3668763" cy="2133600"/>
          </a:xfrm>
          <a:prstGeom prst="rect">
            <a:avLst/>
          </a:prstGeom>
          <a:noFill/>
          <a:ln w="9525">
            <a:noFill/>
            <a:miter lim="800000"/>
            <a:headEnd/>
            <a:tailEnd/>
          </a:ln>
        </p:spPr>
      </p:pic>
      <p:pic>
        <p:nvPicPr>
          <p:cNvPr id="7" name="Picture 6" descr="Untitled.png"/>
          <p:cNvPicPr>
            <a:picLocks noChangeAspect="1"/>
          </p:cNvPicPr>
          <p:nvPr/>
        </p:nvPicPr>
        <p:blipFill>
          <a:blip r:embed="rId3" cstate="print"/>
          <a:stretch>
            <a:fillRect/>
          </a:stretch>
        </p:blipFill>
        <p:spPr>
          <a:xfrm>
            <a:off x="2819400" y="1905000"/>
            <a:ext cx="2762636" cy="1419423"/>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8915400" cy="6629400"/>
          </a:xfrm>
        </p:spPr>
        <p:txBody>
          <a:bodyPr>
            <a:normAutofit/>
          </a:bodyPr>
          <a:lstStyle/>
          <a:p>
            <a:pPr>
              <a:buNone/>
            </a:pPr>
            <a:r>
              <a:rPr lang="en-US" sz="2600" dirty="0" smtClean="0"/>
              <a:t>4. Link(or branch/edge)- Pointer to other nodes.</a:t>
            </a:r>
          </a:p>
          <a:p>
            <a:pPr>
              <a:buNone/>
            </a:pPr>
            <a:r>
              <a:rPr lang="en-US" sz="2600" dirty="0" smtClean="0"/>
              <a:t>5. Root- A specially designated node which has no parent.</a:t>
            </a:r>
          </a:p>
          <a:p>
            <a:pPr>
              <a:buNone/>
            </a:pPr>
            <a:r>
              <a:rPr lang="en-US" sz="2600" dirty="0" smtClean="0"/>
              <a:t>6. Leaf- Node at end which does not have any child nodes.</a:t>
            </a:r>
          </a:p>
          <a:p>
            <a:pPr>
              <a:buNone/>
            </a:pPr>
            <a:r>
              <a:rPr lang="en-US" sz="2600" dirty="0" smtClean="0"/>
              <a:t>7. Level- Rank in the  hierarchy</a:t>
            </a:r>
          </a:p>
          <a:p>
            <a:pPr>
              <a:buNone/>
            </a:pPr>
            <a:r>
              <a:rPr lang="en-US" sz="2600" dirty="0" smtClean="0"/>
              <a:t>    </a:t>
            </a:r>
            <a:r>
              <a:rPr lang="en-US" sz="2600" dirty="0" smtClean="0">
                <a:solidFill>
                  <a:srgbClr val="FF0000"/>
                </a:solidFill>
              </a:rPr>
              <a:t>Always root node is at level 0</a:t>
            </a:r>
          </a:p>
          <a:p>
            <a:pPr>
              <a:buNone/>
            </a:pPr>
            <a:r>
              <a:rPr lang="en-US" sz="2600" dirty="0" smtClean="0">
                <a:solidFill>
                  <a:srgbClr val="FF0000"/>
                </a:solidFill>
              </a:rPr>
              <a:t>For all other nodes at level L,  parent is at level L-1, child is at L+1 </a:t>
            </a:r>
            <a:endParaRPr lang="en-US" sz="2600" dirty="0">
              <a:solidFill>
                <a:srgbClr val="FF0000"/>
              </a:solidFill>
            </a:endParaRPr>
          </a:p>
        </p:txBody>
      </p:sp>
      <p:pic>
        <p:nvPicPr>
          <p:cNvPr id="4098" name="Picture 2"/>
          <p:cNvPicPr>
            <a:picLocks noChangeAspect="1" noChangeArrowheads="1"/>
          </p:cNvPicPr>
          <p:nvPr/>
        </p:nvPicPr>
        <p:blipFill>
          <a:blip r:embed="rId2" cstate="print"/>
          <a:srcRect/>
          <a:stretch>
            <a:fillRect/>
          </a:stretch>
        </p:blipFill>
        <p:spPr bwMode="auto">
          <a:xfrm>
            <a:off x="1371600" y="2818798"/>
            <a:ext cx="6096000" cy="407203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686800" cy="6553200"/>
          </a:xfrm>
        </p:spPr>
        <p:txBody>
          <a:bodyPr>
            <a:normAutofit fontScale="92500" lnSpcReduction="10000"/>
          </a:bodyPr>
          <a:lstStyle/>
          <a:p>
            <a:pPr>
              <a:buNone/>
            </a:pPr>
            <a:r>
              <a:rPr lang="en-US" dirty="0" smtClean="0"/>
              <a:t>8. Height(or depth): Maximum number of nodes possible in a path from root node to leaf node.</a:t>
            </a:r>
          </a:p>
          <a:p>
            <a:pPr>
              <a:buNone/>
            </a:pPr>
            <a:endParaRPr lang="en-US" dirty="0"/>
          </a:p>
          <a:p>
            <a:pPr>
              <a:buNone/>
            </a:pPr>
            <a:endParaRPr lang="en-US" dirty="0" smtClean="0"/>
          </a:p>
          <a:p>
            <a:pPr>
              <a:buNone/>
            </a:pPr>
            <a:endParaRPr lang="en-US" dirty="0"/>
          </a:p>
          <a:p>
            <a:pPr>
              <a:buNone/>
            </a:pPr>
            <a:endParaRPr lang="en-US" dirty="0" smtClean="0"/>
          </a:p>
          <a:p>
            <a:pPr>
              <a:buNone/>
            </a:pPr>
            <a:endParaRPr lang="en-US" dirty="0"/>
          </a:p>
          <a:p>
            <a:pPr>
              <a:buNone/>
            </a:pPr>
            <a:endParaRPr lang="en-US" dirty="0" smtClean="0"/>
          </a:p>
          <a:p>
            <a:pPr>
              <a:buNone/>
            </a:pPr>
            <a:endParaRPr lang="en-US" dirty="0" smtClean="0"/>
          </a:p>
          <a:p>
            <a:pPr>
              <a:buNone/>
            </a:pPr>
            <a:endParaRPr lang="en-US" dirty="0" smtClean="0"/>
          </a:p>
          <a:p>
            <a:pPr>
              <a:buNone/>
            </a:pPr>
            <a:r>
              <a:rPr lang="en-US" dirty="0" smtClean="0"/>
              <a:t>A-C-F-J-M   height= 5</a:t>
            </a:r>
          </a:p>
          <a:p>
            <a:pPr>
              <a:buNone/>
            </a:pPr>
            <a:r>
              <a:rPr lang="en-US" dirty="0" smtClean="0"/>
              <a:t>Height= L</a:t>
            </a:r>
            <a:r>
              <a:rPr lang="en-US" baseline="-25000" dirty="0" smtClean="0"/>
              <a:t>max</a:t>
            </a:r>
            <a:r>
              <a:rPr lang="en-US" dirty="0" smtClean="0"/>
              <a:t>+1 , where </a:t>
            </a:r>
            <a:r>
              <a:rPr lang="en-US" dirty="0" err="1" smtClean="0"/>
              <a:t>L</a:t>
            </a:r>
            <a:r>
              <a:rPr lang="en-US" baseline="-25000" dirty="0" err="1" smtClean="0"/>
              <a:t>max</a:t>
            </a:r>
            <a:r>
              <a:rPr lang="en-US" dirty="0" smtClean="0"/>
              <a:t> is the maximum level of a tree</a:t>
            </a:r>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800934" y="1524000"/>
            <a:ext cx="6895266" cy="3733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324600"/>
          </a:xfrm>
        </p:spPr>
        <p:txBody>
          <a:bodyPr/>
          <a:lstStyle/>
          <a:p>
            <a:pPr>
              <a:buNone/>
            </a:pPr>
            <a:r>
              <a:rPr lang="en-US" dirty="0" smtClean="0"/>
              <a:t>9. Degree(or </a:t>
            </a:r>
            <a:r>
              <a:rPr lang="en-US" dirty="0" err="1" smtClean="0"/>
              <a:t>arity</a:t>
            </a:r>
            <a:r>
              <a:rPr lang="en-US" dirty="0" smtClean="0"/>
              <a:t>): Maximum number of children possible for a node in the tree. </a:t>
            </a:r>
          </a:p>
          <a:p>
            <a:pPr>
              <a:buNone/>
            </a:pPr>
            <a:r>
              <a:rPr lang="en-US" dirty="0" smtClean="0"/>
              <a:t>10. Sibling: Nodes which have the same parent</a:t>
            </a:r>
          </a:p>
          <a:p>
            <a:pPr>
              <a:buNone/>
            </a:pP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5" name="Content Placeholder 4" descr="Untitled.png"/>
          <p:cNvPicPr>
            <a:picLocks noGrp="1" noChangeAspect="1"/>
          </p:cNvPicPr>
          <p:nvPr>
            <p:ph idx="1"/>
          </p:nvPr>
        </p:nvPicPr>
        <p:blipFill>
          <a:blip r:embed="rId2" cstate="print"/>
          <a:stretch>
            <a:fillRect/>
          </a:stretch>
        </p:blipFill>
        <p:spPr>
          <a:xfrm>
            <a:off x="304800" y="990600"/>
            <a:ext cx="8458200" cy="5486400"/>
          </a:xfr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Tree Definition</a:t>
            </a:r>
            <a:endParaRPr lang="en-US" dirty="0"/>
          </a:p>
        </p:txBody>
      </p:sp>
      <p:sp>
        <p:nvSpPr>
          <p:cNvPr id="3" name="Content Placeholder 2"/>
          <p:cNvSpPr>
            <a:spLocks noGrp="1"/>
          </p:cNvSpPr>
          <p:nvPr>
            <p:ph idx="1"/>
          </p:nvPr>
        </p:nvSpPr>
        <p:spPr/>
        <p:txBody>
          <a:bodyPr/>
          <a:lstStyle/>
          <a:p>
            <a:pPr>
              <a:buNone/>
            </a:pPr>
            <a:r>
              <a:rPr lang="en-US" dirty="0" smtClean="0"/>
              <a:t>A tree is a set of one or more nodes such that </a:t>
            </a:r>
          </a:p>
          <a:p>
            <a:pPr>
              <a:buNone/>
            </a:pPr>
            <a:r>
              <a:rPr lang="en-US" dirty="0" smtClean="0"/>
              <a:t>         1. There is a specially designated node  </a:t>
            </a:r>
          </a:p>
          <a:p>
            <a:pPr>
              <a:buNone/>
            </a:pPr>
            <a:r>
              <a:rPr lang="en-US" dirty="0"/>
              <a:t> </a:t>
            </a:r>
            <a:r>
              <a:rPr lang="en-US" dirty="0" smtClean="0"/>
              <a:t>             called the root.</a:t>
            </a:r>
          </a:p>
          <a:p>
            <a:pPr>
              <a:buNone/>
            </a:pPr>
            <a:r>
              <a:rPr lang="en-US" dirty="0"/>
              <a:t> </a:t>
            </a:r>
            <a:r>
              <a:rPr lang="en-US" dirty="0" smtClean="0"/>
              <a:t>        2. The remaining nodes are partitioned in    </a:t>
            </a:r>
          </a:p>
          <a:p>
            <a:pPr>
              <a:buNone/>
            </a:pPr>
            <a:r>
              <a:rPr lang="en-US" dirty="0" smtClean="0"/>
              <a:t>              to n(n&gt;0) disjoint sets T</a:t>
            </a:r>
            <a:r>
              <a:rPr lang="en-US" baseline="-25000" dirty="0" smtClean="0"/>
              <a:t>1</a:t>
            </a:r>
            <a:r>
              <a:rPr lang="en-US" dirty="0" smtClean="0"/>
              <a:t>,T</a:t>
            </a:r>
            <a:r>
              <a:rPr lang="en-US" baseline="-25000" dirty="0" smtClean="0"/>
              <a:t>2</a:t>
            </a:r>
            <a:r>
              <a:rPr lang="en-US" dirty="0" smtClean="0"/>
              <a:t>,T</a:t>
            </a:r>
            <a:r>
              <a:rPr lang="en-US" baseline="-25000" dirty="0" smtClean="0"/>
              <a:t>3</a:t>
            </a:r>
            <a:r>
              <a:rPr lang="en-US" dirty="0" smtClean="0"/>
              <a:t>…</a:t>
            </a:r>
            <a:r>
              <a:rPr lang="en-US" dirty="0" err="1" smtClean="0"/>
              <a:t>T</a:t>
            </a:r>
            <a:r>
              <a:rPr lang="en-US" baseline="-25000" dirty="0" err="1" smtClean="0"/>
              <a:t>n</a:t>
            </a:r>
            <a:r>
              <a:rPr lang="en-US" dirty="0" smtClean="0"/>
              <a:t> where </a:t>
            </a:r>
          </a:p>
          <a:p>
            <a:pPr>
              <a:buNone/>
            </a:pPr>
            <a:r>
              <a:rPr lang="en-US" dirty="0" smtClean="0"/>
              <a:t>              each T</a:t>
            </a:r>
            <a:r>
              <a:rPr lang="en-US" baseline="-25000" dirty="0" smtClean="0"/>
              <a:t>i</a:t>
            </a:r>
            <a:r>
              <a:rPr lang="en-US" dirty="0" smtClean="0"/>
              <a:t>(</a:t>
            </a:r>
            <a:r>
              <a:rPr lang="en-US" dirty="0" err="1" smtClean="0"/>
              <a:t>i</a:t>
            </a:r>
            <a:r>
              <a:rPr lang="en-US" dirty="0" smtClean="0"/>
              <a:t>=1,2,3..n) are trees. T</a:t>
            </a:r>
            <a:r>
              <a:rPr lang="en-US" baseline="-25000" dirty="0" smtClean="0"/>
              <a:t>1</a:t>
            </a:r>
            <a:r>
              <a:rPr lang="en-US" dirty="0" smtClean="0"/>
              <a:t>,T</a:t>
            </a:r>
            <a:r>
              <a:rPr lang="en-US" baseline="-25000" dirty="0" smtClean="0"/>
              <a:t>2</a:t>
            </a:r>
            <a:r>
              <a:rPr lang="en-US" dirty="0" smtClean="0"/>
              <a:t>,T</a:t>
            </a:r>
            <a:r>
              <a:rPr lang="en-US" baseline="-25000" dirty="0" smtClean="0"/>
              <a:t>3</a:t>
            </a:r>
            <a:r>
              <a:rPr lang="en-US" dirty="0" smtClean="0"/>
              <a:t>…T</a:t>
            </a:r>
            <a:r>
              <a:rPr lang="en-US" baseline="-25000" dirty="0" smtClean="0"/>
              <a:t>n</a:t>
            </a:r>
            <a:r>
              <a:rPr lang="en-US" dirty="0" smtClean="0"/>
              <a:t> </a:t>
            </a:r>
          </a:p>
          <a:p>
            <a:pPr>
              <a:buNone/>
            </a:pPr>
            <a:r>
              <a:rPr lang="en-US" dirty="0"/>
              <a:t> </a:t>
            </a:r>
            <a:r>
              <a:rPr lang="en-US" dirty="0" smtClean="0"/>
              <a:t>             are said to be </a:t>
            </a:r>
            <a:r>
              <a:rPr lang="en-US" dirty="0" err="1" smtClean="0"/>
              <a:t>subtrees</a:t>
            </a:r>
            <a:r>
              <a:rPr lang="en-US" dirty="0" smtClean="0"/>
              <a:t> of the root</a:t>
            </a:r>
            <a:endParaRPr lang="en-US" baseline="-250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0" name="Picture 2"/>
          <p:cNvPicPr>
            <a:picLocks noChangeAspect="1" noChangeArrowheads="1"/>
          </p:cNvPicPr>
          <p:nvPr/>
        </p:nvPicPr>
        <p:blipFill>
          <a:blip r:embed="rId2" cstate="print"/>
          <a:srcRect/>
          <a:stretch>
            <a:fillRect/>
          </a:stretch>
        </p:blipFill>
        <p:spPr bwMode="auto">
          <a:xfrm>
            <a:off x="381000" y="609600"/>
            <a:ext cx="8165646" cy="5181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k-</a:t>
            </a:r>
            <a:r>
              <a:rPr lang="en-GB" b="1" dirty="0" err="1" smtClean="0"/>
              <a:t>ary</a:t>
            </a:r>
            <a:r>
              <a:rPr lang="en-GB" b="1" dirty="0" smtClean="0"/>
              <a:t> or m-</a:t>
            </a:r>
            <a:r>
              <a:rPr lang="en-GB" b="1" dirty="0" err="1" smtClean="0"/>
              <a:t>ary</a:t>
            </a:r>
            <a:r>
              <a:rPr lang="en-GB" b="1" dirty="0" smtClean="0"/>
              <a:t> Tree</a:t>
            </a:r>
            <a:endParaRPr lang="en-GB" b="1" dirty="0"/>
          </a:p>
        </p:txBody>
      </p:sp>
      <p:sp>
        <p:nvSpPr>
          <p:cNvPr id="3" name="Content Placeholder 2"/>
          <p:cNvSpPr>
            <a:spLocks noGrp="1"/>
          </p:cNvSpPr>
          <p:nvPr>
            <p:ph idx="1"/>
          </p:nvPr>
        </p:nvSpPr>
        <p:spPr>
          <a:xfrm>
            <a:off x="152400" y="1600200"/>
            <a:ext cx="8534400" cy="4525963"/>
          </a:xfrm>
        </p:spPr>
        <p:txBody>
          <a:bodyPr>
            <a:normAutofit lnSpcReduction="10000"/>
          </a:bodyPr>
          <a:lstStyle/>
          <a:p>
            <a:pPr algn="just"/>
            <a:r>
              <a:rPr lang="en-GB" dirty="0" smtClean="0"/>
              <a:t>A </a:t>
            </a:r>
            <a:r>
              <a:rPr lang="en-GB" b="1" dirty="0" smtClean="0"/>
              <a:t>k</a:t>
            </a:r>
            <a:r>
              <a:rPr lang="en-GB" dirty="0" smtClean="0"/>
              <a:t>-</a:t>
            </a:r>
            <a:r>
              <a:rPr lang="en-GB" b="1" dirty="0" err="1" smtClean="0"/>
              <a:t>ary</a:t>
            </a:r>
            <a:r>
              <a:rPr lang="en-GB" b="1" dirty="0" smtClean="0"/>
              <a:t> tree</a:t>
            </a:r>
            <a:r>
              <a:rPr lang="en-GB" dirty="0" smtClean="0"/>
              <a:t> is a rooted </a:t>
            </a:r>
            <a:r>
              <a:rPr lang="en-GB" b="1" dirty="0" smtClean="0"/>
              <a:t>tree</a:t>
            </a:r>
            <a:r>
              <a:rPr lang="en-GB" dirty="0" smtClean="0"/>
              <a:t> in which each node has no more than </a:t>
            </a:r>
            <a:r>
              <a:rPr lang="en-GB" b="1" dirty="0" smtClean="0"/>
              <a:t>k </a:t>
            </a:r>
            <a:r>
              <a:rPr lang="en-GB" dirty="0" smtClean="0"/>
              <a:t>children. It is also sometimes known as a </a:t>
            </a:r>
            <a:r>
              <a:rPr lang="en-GB" b="1" dirty="0" smtClean="0"/>
              <a:t>k</a:t>
            </a:r>
            <a:r>
              <a:rPr lang="en-GB" dirty="0" smtClean="0"/>
              <a:t>-way </a:t>
            </a:r>
            <a:r>
              <a:rPr lang="en-GB" b="1" dirty="0" smtClean="0"/>
              <a:t>tree</a:t>
            </a:r>
            <a:r>
              <a:rPr lang="en-GB" dirty="0" smtClean="0"/>
              <a:t>, an n-</a:t>
            </a:r>
            <a:r>
              <a:rPr lang="en-GB" b="1" dirty="0" err="1" smtClean="0"/>
              <a:t>ary</a:t>
            </a:r>
            <a:r>
              <a:rPr lang="en-GB" b="1" dirty="0" smtClean="0"/>
              <a:t> tree</a:t>
            </a:r>
            <a:r>
              <a:rPr lang="en-GB" dirty="0" smtClean="0"/>
              <a:t>, or an </a:t>
            </a:r>
            <a:r>
              <a:rPr lang="en-GB" b="1" dirty="0" smtClean="0"/>
              <a:t>m</a:t>
            </a:r>
            <a:r>
              <a:rPr lang="en-GB" dirty="0" smtClean="0"/>
              <a:t>-</a:t>
            </a:r>
            <a:r>
              <a:rPr lang="en-GB" b="1" dirty="0" err="1" smtClean="0"/>
              <a:t>ary</a:t>
            </a:r>
            <a:r>
              <a:rPr lang="en-GB" b="1" dirty="0" smtClean="0"/>
              <a:t> tree</a:t>
            </a:r>
            <a:r>
              <a:rPr lang="en-GB" dirty="0" smtClean="0"/>
              <a:t>.</a:t>
            </a:r>
          </a:p>
          <a:p>
            <a:pPr algn="just">
              <a:buNone/>
            </a:pPr>
            <a:endParaRPr lang="en-GB" dirty="0" smtClean="0"/>
          </a:p>
          <a:p>
            <a:pPr algn="just"/>
            <a:r>
              <a:rPr lang="en-GB" dirty="0" smtClean="0"/>
              <a:t>A </a:t>
            </a:r>
            <a:r>
              <a:rPr lang="en-GB" b="1" dirty="0" smtClean="0"/>
              <a:t>full k-</a:t>
            </a:r>
            <a:r>
              <a:rPr lang="en-GB" b="1" dirty="0" err="1" smtClean="0"/>
              <a:t>ary</a:t>
            </a:r>
            <a:r>
              <a:rPr lang="en-GB" b="1" dirty="0" smtClean="0"/>
              <a:t> tree</a:t>
            </a:r>
            <a:r>
              <a:rPr lang="en-GB" dirty="0" smtClean="0"/>
              <a:t> is a k-</a:t>
            </a:r>
            <a:r>
              <a:rPr lang="en-GB" dirty="0" err="1" smtClean="0"/>
              <a:t>ary</a:t>
            </a:r>
            <a:r>
              <a:rPr lang="en-GB" dirty="0" smtClean="0"/>
              <a:t> tree where within each level every node has either </a:t>
            </a:r>
            <a:r>
              <a:rPr lang="en-GB" i="1" dirty="0" smtClean="0"/>
              <a:t>0</a:t>
            </a:r>
            <a:r>
              <a:rPr lang="en-GB" dirty="0" smtClean="0"/>
              <a:t> or </a:t>
            </a:r>
            <a:r>
              <a:rPr lang="en-GB" i="1" dirty="0" smtClean="0"/>
              <a:t>k</a:t>
            </a:r>
            <a:r>
              <a:rPr lang="en-GB" dirty="0" smtClean="0"/>
              <a:t> children.</a:t>
            </a:r>
          </a:p>
          <a:p>
            <a:pPr algn="just">
              <a:buNone/>
            </a:pPr>
            <a:endParaRPr lang="en-GB" dirty="0" smtClean="0"/>
          </a:p>
          <a:p>
            <a:pPr algn="just"/>
            <a:r>
              <a:rPr lang="en-GB" dirty="0" smtClean="0"/>
              <a:t>A binary </a:t>
            </a:r>
            <a:r>
              <a:rPr lang="en-GB" b="1" dirty="0" smtClean="0"/>
              <a:t>tree</a:t>
            </a:r>
            <a:r>
              <a:rPr lang="en-GB" dirty="0" smtClean="0"/>
              <a:t> is the special case where </a:t>
            </a:r>
            <a:r>
              <a:rPr lang="en-GB" b="1" dirty="0" smtClean="0"/>
              <a:t>k</a:t>
            </a:r>
            <a:r>
              <a:rPr lang="en-GB" dirty="0" smtClean="0"/>
              <a:t>=2.</a:t>
            </a:r>
          </a:p>
          <a:p>
            <a:endParaRPr lang="en-GB"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229600" cy="914400"/>
          </a:xfrm>
        </p:spPr>
        <p:txBody>
          <a:bodyPr/>
          <a:lstStyle/>
          <a:p>
            <a:r>
              <a:rPr lang="en-US" b="1" dirty="0" smtClean="0"/>
              <a:t>Binary Trees- Definition</a:t>
            </a:r>
            <a:endParaRPr lang="en-US" b="1" dirty="0"/>
          </a:p>
        </p:txBody>
      </p:sp>
      <p:sp>
        <p:nvSpPr>
          <p:cNvPr id="3" name="Content Placeholder 2"/>
          <p:cNvSpPr>
            <a:spLocks noGrp="1"/>
          </p:cNvSpPr>
          <p:nvPr>
            <p:ph idx="1"/>
          </p:nvPr>
        </p:nvSpPr>
        <p:spPr>
          <a:xfrm>
            <a:off x="0" y="914400"/>
            <a:ext cx="9144000" cy="4525963"/>
          </a:xfrm>
        </p:spPr>
        <p:txBody>
          <a:bodyPr/>
          <a:lstStyle/>
          <a:p>
            <a:r>
              <a:rPr lang="en-US" dirty="0" smtClean="0"/>
              <a:t>A binary tree T is defined as finite set of nodes such that</a:t>
            </a:r>
          </a:p>
          <a:p>
            <a:pPr>
              <a:buNone/>
            </a:pPr>
            <a:r>
              <a:rPr lang="en-US" dirty="0" smtClean="0"/>
              <a:t>    </a:t>
            </a:r>
            <a:r>
              <a:rPr lang="en-US" sz="2800" dirty="0" smtClean="0"/>
              <a:t>1. T is empty(Empty Binary Tree) or</a:t>
            </a:r>
          </a:p>
          <a:p>
            <a:pPr>
              <a:buNone/>
            </a:pPr>
            <a:r>
              <a:rPr lang="en-US" sz="2800" dirty="0" smtClean="0"/>
              <a:t>    2. T contains a specially designated node called root node     	of T, remaining nodes to T form two disjoint binary 	trees T</a:t>
            </a:r>
            <a:r>
              <a:rPr lang="en-US" sz="2800" baseline="-25000" dirty="0" smtClean="0"/>
              <a:t>1</a:t>
            </a:r>
            <a:r>
              <a:rPr lang="en-US" sz="2800" dirty="0" smtClean="0"/>
              <a:t> and T</a:t>
            </a:r>
            <a:r>
              <a:rPr lang="en-US" sz="2800" baseline="-25000" dirty="0" smtClean="0"/>
              <a:t>2</a:t>
            </a:r>
            <a:r>
              <a:rPr lang="en-US" sz="2800" dirty="0" smtClean="0"/>
              <a:t> which are called left sub tree and right 	sub tree.</a:t>
            </a:r>
            <a:endParaRPr lang="en-US" sz="2800" dirty="0"/>
          </a:p>
        </p:txBody>
      </p:sp>
      <p:pic>
        <p:nvPicPr>
          <p:cNvPr id="9218" name="Picture 2"/>
          <p:cNvPicPr>
            <a:picLocks noChangeAspect="1" noChangeArrowheads="1"/>
          </p:cNvPicPr>
          <p:nvPr/>
        </p:nvPicPr>
        <p:blipFill>
          <a:blip r:embed="rId2" cstate="print"/>
          <a:srcRect/>
          <a:stretch>
            <a:fillRect/>
          </a:stretch>
        </p:blipFill>
        <p:spPr bwMode="auto">
          <a:xfrm>
            <a:off x="3733800" y="3810001"/>
            <a:ext cx="4572000" cy="304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63562"/>
          </a:xfrm>
        </p:spPr>
        <p:txBody>
          <a:bodyPr>
            <a:normAutofit fontScale="90000"/>
          </a:bodyPr>
          <a:lstStyle/>
          <a:p>
            <a:r>
              <a:rPr lang="en-US" u="sng" dirty="0" smtClean="0"/>
              <a:t>Full Binary Tree</a:t>
            </a:r>
            <a:endParaRPr lang="en-US" u="sng" dirty="0"/>
          </a:p>
        </p:txBody>
      </p:sp>
      <p:sp>
        <p:nvSpPr>
          <p:cNvPr id="3" name="Content Placeholder 2"/>
          <p:cNvSpPr>
            <a:spLocks noGrp="1"/>
          </p:cNvSpPr>
          <p:nvPr>
            <p:ph idx="1"/>
          </p:nvPr>
        </p:nvSpPr>
        <p:spPr>
          <a:xfrm>
            <a:off x="214234" y="914400"/>
            <a:ext cx="8382000" cy="5364163"/>
          </a:xfrm>
        </p:spPr>
        <p:txBody>
          <a:bodyPr>
            <a:normAutofit/>
          </a:bodyPr>
          <a:lstStyle/>
          <a:p>
            <a:r>
              <a:rPr lang="en-IN" sz="2800" dirty="0">
                <a:latin typeface="Times New Roman" pitchFamily="18" charset="0"/>
                <a:cs typeface="Times New Roman" pitchFamily="18" charset="0"/>
              </a:rPr>
              <a:t>A full binary tree is defined as a binary tree in which all nodes have either zero or two child nodes</a:t>
            </a:r>
            <a:r>
              <a:rPr lang="en-IN" sz="28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i.e. every node other than the leaves has two children. </a:t>
            </a:r>
            <a:endParaRPr lang="en-US" sz="2800" dirty="0">
              <a:latin typeface="Times New Roman" pitchFamily="18" charset="0"/>
              <a:cs typeface="Times New Roman" pitchFamily="18" charset="0"/>
            </a:endParaRPr>
          </a:p>
        </p:txBody>
      </p:sp>
      <p:pic>
        <p:nvPicPr>
          <p:cNvPr id="10242" name="Picture 2"/>
          <p:cNvPicPr>
            <a:picLocks noChangeAspect="1" noChangeArrowheads="1"/>
          </p:cNvPicPr>
          <p:nvPr/>
        </p:nvPicPr>
        <p:blipFill>
          <a:blip r:embed="rId2" cstate="print"/>
          <a:srcRect/>
          <a:stretch>
            <a:fillRect/>
          </a:stretch>
        </p:blipFill>
        <p:spPr bwMode="auto">
          <a:xfrm>
            <a:off x="457200" y="2438400"/>
            <a:ext cx="7896069" cy="3581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402" y="152400"/>
            <a:ext cx="8229600" cy="868362"/>
          </a:xfrm>
        </p:spPr>
        <p:txBody>
          <a:bodyPr/>
          <a:lstStyle/>
          <a:p>
            <a:r>
              <a:rPr lang="en-US" u="sng" dirty="0" smtClean="0"/>
              <a:t>Complete BT</a:t>
            </a:r>
            <a:endParaRPr lang="en-US" u="sng" dirty="0"/>
          </a:p>
        </p:txBody>
      </p:sp>
      <p:sp>
        <p:nvSpPr>
          <p:cNvPr id="3" name="Content Placeholder 2"/>
          <p:cNvSpPr>
            <a:spLocks noGrp="1"/>
          </p:cNvSpPr>
          <p:nvPr>
            <p:ph idx="1"/>
          </p:nvPr>
        </p:nvSpPr>
        <p:spPr>
          <a:xfrm>
            <a:off x="228600" y="1066800"/>
            <a:ext cx="8763000" cy="5562600"/>
          </a:xfrm>
        </p:spPr>
        <p:txBody>
          <a:bodyPr/>
          <a:lstStyle/>
          <a:p>
            <a:r>
              <a:rPr lang="en-US" dirty="0" smtClean="0"/>
              <a:t>A Binary tree is complete if all its levels except possibly the last level have maximum number of possible nodes, and all nodes in the last level appear as left as possible.</a:t>
            </a:r>
            <a:endParaRPr lang="en-US" dirty="0"/>
          </a:p>
        </p:txBody>
      </p:sp>
      <p:pic>
        <p:nvPicPr>
          <p:cNvPr id="5" name="Picture 4" descr="Untitled.png"/>
          <p:cNvPicPr>
            <a:picLocks noChangeAspect="1"/>
          </p:cNvPicPr>
          <p:nvPr/>
        </p:nvPicPr>
        <p:blipFill>
          <a:blip r:embed="rId2" cstate="print"/>
          <a:stretch>
            <a:fillRect/>
          </a:stretch>
        </p:blipFill>
        <p:spPr>
          <a:xfrm>
            <a:off x="914400" y="3505200"/>
            <a:ext cx="7391604" cy="2962667"/>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cstate="print"/>
          <a:srcRect/>
          <a:stretch>
            <a:fillRect/>
          </a:stretch>
        </p:blipFill>
        <p:spPr bwMode="auto">
          <a:xfrm>
            <a:off x="1295400" y="1600200"/>
            <a:ext cx="6477000" cy="46698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t>Skewed BT	</a:t>
            </a:r>
            <a:endParaRPr lang="en-US" u="sng" dirty="0"/>
          </a:p>
        </p:txBody>
      </p:sp>
      <p:sp>
        <p:nvSpPr>
          <p:cNvPr id="3" name="Content Placeholder 2"/>
          <p:cNvSpPr>
            <a:spLocks noGrp="1"/>
          </p:cNvSpPr>
          <p:nvPr>
            <p:ph idx="1"/>
          </p:nvPr>
        </p:nvSpPr>
        <p:spPr/>
        <p:txBody>
          <a:bodyPr/>
          <a:lstStyle/>
          <a:p>
            <a:r>
              <a:rPr lang="en-US" dirty="0" smtClean="0"/>
              <a:t>Every node has only one child or minimum number of nodes at </a:t>
            </a:r>
            <a:r>
              <a:rPr lang="en-US" smtClean="0"/>
              <a:t>each level</a:t>
            </a:r>
            <a:endParaRPr lang="en-US" dirty="0"/>
          </a:p>
        </p:txBody>
      </p:sp>
      <p:pic>
        <p:nvPicPr>
          <p:cNvPr id="13314" name="Picture 2"/>
          <p:cNvPicPr>
            <a:picLocks noChangeAspect="1" noChangeArrowheads="1"/>
          </p:cNvPicPr>
          <p:nvPr/>
        </p:nvPicPr>
        <p:blipFill>
          <a:blip r:embed="rId2" cstate="print"/>
          <a:srcRect/>
          <a:stretch>
            <a:fillRect/>
          </a:stretch>
        </p:blipFill>
        <p:spPr bwMode="auto">
          <a:xfrm>
            <a:off x="1295400" y="2667000"/>
            <a:ext cx="6223601" cy="3276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553200"/>
          </a:xfrm>
        </p:spPr>
        <p:txBody>
          <a:bodyPr>
            <a:normAutofit lnSpcReduction="10000"/>
          </a:bodyPr>
          <a:lstStyle/>
          <a:p>
            <a:pPr>
              <a:buNone/>
            </a:pPr>
            <a:r>
              <a:rPr lang="en-US" b="1" u="sng" dirty="0" smtClean="0"/>
              <a:t>Properties Of Binary Tree</a:t>
            </a:r>
          </a:p>
          <a:p>
            <a:r>
              <a:rPr lang="en-US" dirty="0" smtClean="0"/>
              <a:t>Maximum no: of nodes on level l is 2</a:t>
            </a:r>
            <a:r>
              <a:rPr lang="en-US" baseline="30000" dirty="0" smtClean="0"/>
              <a:t>l</a:t>
            </a:r>
            <a:r>
              <a:rPr lang="en-US" dirty="0" smtClean="0"/>
              <a:t> ,where l&gt;=0</a:t>
            </a:r>
          </a:p>
          <a:p>
            <a:endParaRPr lang="en-US" dirty="0" smtClean="0"/>
          </a:p>
          <a:p>
            <a:r>
              <a:rPr lang="en-US" dirty="0" smtClean="0"/>
              <a:t>Maximum no: of nodes possible in a binary tree of height h is 2</a:t>
            </a:r>
            <a:r>
              <a:rPr lang="en-US" baseline="30000" dirty="0" smtClean="0"/>
              <a:t>h</a:t>
            </a:r>
            <a:r>
              <a:rPr lang="en-US" dirty="0" smtClean="0"/>
              <a:t>-1</a:t>
            </a:r>
          </a:p>
          <a:p>
            <a:endParaRPr lang="en-US" dirty="0" smtClean="0"/>
          </a:p>
          <a:p>
            <a:r>
              <a:rPr lang="en-US" dirty="0" smtClean="0"/>
              <a:t>Minimum no: of nodes possible in a binary tree of height h is h(skew binary tree)</a:t>
            </a:r>
          </a:p>
          <a:p>
            <a:endParaRPr lang="en-US" dirty="0" smtClean="0"/>
          </a:p>
          <a:p>
            <a:r>
              <a:rPr lang="en-US" dirty="0" smtClean="0"/>
              <a:t>For any non empty binary tree, if n is the no: of nodes and e is the no: of edges then n=e+1</a:t>
            </a:r>
          </a:p>
          <a:p>
            <a:endParaRPr lang="en-US" dirty="0" smtClean="0"/>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Representation of a binary tree</a:t>
            </a:r>
            <a:endParaRPr lang="en-US" dirty="0"/>
          </a:p>
        </p:txBody>
      </p:sp>
      <p:sp>
        <p:nvSpPr>
          <p:cNvPr id="3" name="Content Placeholder 2"/>
          <p:cNvSpPr>
            <a:spLocks noGrp="1"/>
          </p:cNvSpPr>
          <p:nvPr>
            <p:ph idx="1"/>
          </p:nvPr>
        </p:nvSpPr>
        <p:spPr>
          <a:xfrm>
            <a:off x="457200" y="1295400"/>
            <a:ext cx="8229600" cy="4830763"/>
          </a:xfrm>
        </p:spPr>
        <p:txBody>
          <a:bodyPr/>
          <a:lstStyle/>
          <a:p>
            <a:r>
              <a:rPr lang="en-US" dirty="0" smtClean="0"/>
              <a:t>Linear(sequential) representation using array</a:t>
            </a:r>
          </a:p>
          <a:p>
            <a:r>
              <a:rPr lang="en-US" dirty="0" smtClean="0"/>
              <a:t>Linked list representation using pointers</a:t>
            </a:r>
          </a:p>
          <a:p>
            <a:endParaRPr lang="en-US" dirty="0"/>
          </a:p>
        </p:txBody>
      </p:sp>
      <p:cxnSp>
        <p:nvCxnSpPr>
          <p:cNvPr id="5" name="Straight Connector 4"/>
          <p:cNvCxnSpPr/>
          <p:nvPr/>
        </p:nvCxnSpPr>
        <p:spPr>
          <a:xfrm>
            <a:off x="0" y="1143000"/>
            <a:ext cx="91440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TextShape 1"/>
          <p:cNvSpPr txBox="1"/>
          <p:nvPr/>
        </p:nvSpPr>
        <p:spPr>
          <a:xfrm>
            <a:off x="457200" y="274680"/>
            <a:ext cx="8229240" cy="1142640"/>
          </a:xfrm>
          <a:prstGeom prst="rect">
            <a:avLst/>
          </a:prstGeom>
          <a:noFill/>
          <a:ln>
            <a:noFill/>
          </a:ln>
        </p:spPr>
        <p:txBody>
          <a:bodyPr anchor="ctr"/>
          <a:lstStyle/>
          <a:p>
            <a:endParaRPr lang="en-US" sz="1800" b="0" strike="noStrike" spc="-1">
              <a:solidFill>
                <a:srgbClr val="000000"/>
              </a:solidFill>
              <a:uFill>
                <a:solidFill>
                  <a:srgbClr val="FFFFFF"/>
                </a:solidFill>
              </a:uFill>
              <a:latin typeface="Calibri"/>
            </a:endParaRPr>
          </a:p>
        </p:txBody>
      </p:sp>
      <p:sp>
        <p:nvSpPr>
          <p:cNvPr id="130" name="TextShape 2"/>
          <p:cNvSpPr txBox="1"/>
          <p:nvPr/>
        </p:nvSpPr>
        <p:spPr>
          <a:xfrm>
            <a:off x="457200" y="1600200"/>
            <a:ext cx="8229240" cy="4525560"/>
          </a:xfrm>
          <a:prstGeom prst="rect">
            <a:avLst/>
          </a:prstGeom>
          <a:noFill/>
          <a:ln>
            <a:noFill/>
          </a:ln>
        </p:spPr>
        <p:txBody>
          <a:bodyPr/>
          <a:lstStyle/>
          <a:p>
            <a:pPr marL="432000" indent="-324000">
              <a:buClr>
                <a:srgbClr val="000000"/>
              </a:buClr>
              <a:buSzPct val="45000"/>
              <a:buFont typeface="Wingdings" charset="2"/>
              <a:buChar char=""/>
            </a:pPr>
            <a:r>
              <a:rPr lang="en-US" sz="3200" dirty="0" smtClean="0">
                <a:latin typeface="Times New Roman" pitchFamily="18" charset="0"/>
                <a:cs typeface="Times New Roman" pitchFamily="18" charset="0"/>
              </a:rPr>
              <a:t>Tree Nodes are stored in a linear data structure like array. </a:t>
            </a:r>
          </a:p>
          <a:p>
            <a:pPr marL="432000" indent="-324000">
              <a:buClr>
                <a:srgbClr val="000000"/>
              </a:buClr>
              <a:buSzPct val="45000"/>
              <a:buFont typeface="Wingdings" charset="2"/>
              <a:buChar char=""/>
            </a:pPr>
            <a:r>
              <a:rPr lang="en-US" sz="3200" b="0" strike="noStrike" spc="-1" dirty="0" smtClean="0">
                <a:solidFill>
                  <a:srgbClr val="000000"/>
                </a:solidFill>
                <a:uFill>
                  <a:solidFill>
                    <a:srgbClr val="FFFFFF"/>
                  </a:solidFill>
                </a:uFill>
                <a:latin typeface="Times New Roman" pitchFamily="18" charset="0"/>
                <a:cs typeface="Times New Roman" pitchFamily="18" charset="0"/>
              </a:rPr>
              <a:t>Static as memory has to be allocated for an array.</a:t>
            </a:r>
            <a:endParaRPr lang="en-US" sz="3200" b="0" strike="noStrike" spc="-1" dirty="0">
              <a:solidFill>
                <a:srgbClr val="000000"/>
              </a:solidFill>
              <a:uFill>
                <a:solidFill>
                  <a:srgbClr val="FFFFFF"/>
                </a:solidFill>
              </a:uFill>
              <a:latin typeface="Times New Roman" pitchFamily="18" charset="0"/>
              <a:cs typeface="Times New Roman" pitchFamily="18" charset="0"/>
            </a:endParaRPr>
          </a:p>
          <a:p>
            <a:pPr marL="432000" indent="-324000">
              <a:buClr>
                <a:srgbClr val="000000"/>
              </a:buClr>
              <a:buSzPct val="45000"/>
              <a:buFont typeface="Wingdings" charset="2"/>
              <a:buChar char=""/>
            </a:pPr>
            <a:r>
              <a:rPr lang="en-US" sz="3200" b="0" strike="noStrike" spc="-1" dirty="0" smtClean="0">
                <a:solidFill>
                  <a:srgbClr val="000000"/>
                </a:solidFill>
                <a:uFill>
                  <a:solidFill>
                    <a:srgbClr val="FFFFFF"/>
                  </a:solidFill>
                </a:uFill>
                <a:latin typeface="Times New Roman" pitchFamily="18" charset="0"/>
                <a:cs typeface="Times New Roman" pitchFamily="18" charset="0"/>
              </a:rPr>
              <a:t>Tree </a:t>
            </a:r>
            <a:r>
              <a:rPr lang="en-US" sz="3200" b="0" strike="noStrike" spc="-1" dirty="0">
                <a:solidFill>
                  <a:srgbClr val="000000"/>
                </a:solidFill>
                <a:uFill>
                  <a:solidFill>
                    <a:srgbClr val="FFFFFF"/>
                  </a:solidFill>
                </a:uFill>
                <a:latin typeface="Times New Roman" pitchFamily="18" charset="0"/>
                <a:cs typeface="Times New Roman" pitchFamily="18" charset="0"/>
              </a:rPr>
              <a:t>cannot be </a:t>
            </a:r>
            <a:r>
              <a:rPr lang="en-US" sz="3200" b="0" strike="noStrike" spc="-1" dirty="0" smtClean="0">
                <a:solidFill>
                  <a:srgbClr val="000000"/>
                </a:solidFill>
                <a:uFill>
                  <a:solidFill>
                    <a:srgbClr val="FFFFFF"/>
                  </a:solidFill>
                </a:uFill>
                <a:latin typeface="Times New Roman" pitchFamily="18" charset="0"/>
                <a:cs typeface="Times New Roman" pitchFamily="18" charset="0"/>
              </a:rPr>
              <a:t>extended.</a:t>
            </a:r>
            <a:endParaRPr lang="en-US" sz="3200" b="0" strike="noStrike" spc="-1" dirty="0">
              <a:solidFill>
                <a:srgbClr val="000000"/>
              </a:solidFill>
              <a:uFill>
                <a:solidFill>
                  <a:srgbClr val="FFFFFF"/>
                </a:solidFill>
              </a:uFill>
              <a:latin typeface="Times New Roman" pitchFamily="18" charset="0"/>
              <a:cs typeface="Times New Roman" pitchFamily="18" charset="0"/>
            </a:endParaRPr>
          </a:p>
          <a:p>
            <a:pPr marL="432000" indent="-324000">
              <a:buClr>
                <a:srgbClr val="000000"/>
              </a:buClr>
              <a:buSzPct val="45000"/>
              <a:buFont typeface="Wingdings" charset="2"/>
              <a:buChar char=""/>
            </a:pPr>
            <a:r>
              <a:rPr lang="en-US" sz="3200" b="0" strike="noStrike" spc="-1" dirty="0">
                <a:solidFill>
                  <a:srgbClr val="000000"/>
                </a:solidFill>
                <a:uFill>
                  <a:solidFill>
                    <a:srgbClr val="FFFFFF"/>
                  </a:solidFill>
                </a:uFill>
                <a:latin typeface="Times New Roman" pitchFamily="18" charset="0"/>
                <a:cs typeface="Times New Roman" pitchFamily="18" charset="0"/>
              </a:rPr>
              <a:t>Nodes are stored level by </a:t>
            </a:r>
            <a:r>
              <a:rPr lang="en-US" sz="3200" b="0" strike="noStrike" spc="-1" dirty="0" smtClean="0">
                <a:solidFill>
                  <a:srgbClr val="000000"/>
                </a:solidFill>
                <a:uFill>
                  <a:solidFill>
                    <a:srgbClr val="FFFFFF"/>
                  </a:solidFill>
                </a:uFill>
                <a:latin typeface="Times New Roman" pitchFamily="18" charset="0"/>
                <a:cs typeface="Times New Roman" pitchFamily="18" charset="0"/>
              </a:rPr>
              <a:t>level.</a:t>
            </a:r>
            <a:endParaRPr lang="en-US" sz="3200" b="0" strike="noStrike" spc="-1" dirty="0">
              <a:solidFill>
                <a:srgbClr val="000000"/>
              </a:solidFill>
              <a:uFill>
                <a:solidFill>
                  <a:srgbClr val="FFFFFF"/>
                </a:solidFill>
              </a:uFill>
              <a:latin typeface="Times New Roman" pitchFamily="18" charset="0"/>
              <a:cs typeface="Times New Roman" pitchFamily="18" charset="0"/>
            </a:endParaRPr>
          </a:p>
          <a:p>
            <a:pPr marL="432000" indent="-324000">
              <a:buClr>
                <a:srgbClr val="000000"/>
              </a:buClr>
              <a:buSzPct val="45000"/>
              <a:buFont typeface="Wingdings" charset="2"/>
              <a:buChar char=""/>
            </a:pPr>
            <a:r>
              <a:rPr lang="en-US" sz="3200" b="0" strike="noStrike" spc="-1" dirty="0">
                <a:solidFill>
                  <a:srgbClr val="000000"/>
                </a:solidFill>
                <a:uFill>
                  <a:solidFill>
                    <a:srgbClr val="FFFFFF"/>
                  </a:solidFill>
                </a:uFill>
                <a:latin typeface="Times New Roman" pitchFamily="18" charset="0"/>
                <a:cs typeface="Times New Roman" pitchFamily="18" charset="0"/>
              </a:rPr>
              <a:t>Starts from root(</a:t>
            </a:r>
            <a:r>
              <a:rPr lang="en-US" sz="3200" b="0" strike="noStrike" spc="-1" dirty="0" err="1">
                <a:solidFill>
                  <a:srgbClr val="000000"/>
                </a:solidFill>
                <a:uFill>
                  <a:solidFill>
                    <a:srgbClr val="FFFFFF"/>
                  </a:solidFill>
                </a:uFill>
                <a:latin typeface="Times New Roman" pitchFamily="18" charset="0"/>
                <a:cs typeface="Times New Roman" pitchFamily="18" charset="0"/>
              </a:rPr>
              <a:t>zeroth</a:t>
            </a:r>
            <a:r>
              <a:rPr lang="en-US" sz="3200" b="0" strike="noStrike" spc="-1" dirty="0">
                <a:solidFill>
                  <a:srgbClr val="000000"/>
                </a:solidFill>
                <a:uFill>
                  <a:solidFill>
                    <a:srgbClr val="FFFFFF"/>
                  </a:solidFill>
                </a:uFill>
                <a:latin typeface="Times New Roman" pitchFamily="18" charset="0"/>
                <a:cs typeface="Times New Roman" pitchFamily="18" charset="0"/>
              </a:rPr>
              <a:t> level)</a:t>
            </a:r>
          </a:p>
        </p:txBody>
      </p:sp>
      <p:sp>
        <p:nvSpPr>
          <p:cNvPr id="131" name="TextShape 3"/>
          <p:cNvSpPr txBox="1"/>
          <p:nvPr/>
        </p:nvSpPr>
        <p:spPr>
          <a:xfrm>
            <a:off x="152400" y="274680"/>
            <a:ext cx="8534400" cy="1142640"/>
          </a:xfrm>
          <a:prstGeom prst="rect">
            <a:avLst/>
          </a:prstGeom>
          <a:noFill/>
          <a:ln>
            <a:noFill/>
          </a:ln>
        </p:spPr>
        <p:txBody>
          <a:bodyPr anchor="ctr"/>
          <a:lstStyle/>
          <a:p>
            <a:pPr marL="216000" indent="-216000">
              <a:buClr>
                <a:srgbClr val="000000"/>
              </a:buClr>
              <a:buSzPct val="45000"/>
            </a:pPr>
            <a:r>
              <a:rPr lang="en-US" sz="4400" b="1" strike="noStrike" spc="-1" dirty="0" smtClean="0">
                <a:solidFill>
                  <a:srgbClr val="000000"/>
                </a:solidFill>
                <a:uFill>
                  <a:solidFill>
                    <a:srgbClr val="FFFFFF"/>
                  </a:solidFill>
                </a:uFill>
                <a:latin typeface="Calibri"/>
              </a:rPr>
              <a:t>1. Linear </a:t>
            </a:r>
            <a:r>
              <a:rPr lang="en-US" sz="4400" b="1" strike="noStrike" spc="-1" dirty="0">
                <a:solidFill>
                  <a:srgbClr val="000000"/>
                </a:solidFill>
                <a:uFill>
                  <a:solidFill>
                    <a:srgbClr val="FFFFFF"/>
                  </a:solidFill>
                </a:uFill>
                <a:latin typeface="Calibri"/>
              </a:rPr>
              <a:t>representation using array</a:t>
            </a:r>
            <a:endParaRPr lang="en-US" sz="1800" b="1" strike="noStrike" spc="-1" dirty="0">
              <a:solidFill>
                <a:srgbClr val="000000"/>
              </a:solidFill>
              <a:uFill>
                <a:solidFill>
                  <a:srgbClr val="FFFFFF"/>
                </a:solidFill>
              </a:uFill>
              <a:latin typeface="Calibri"/>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TextShape 1"/>
          <p:cNvSpPr txBox="1"/>
          <p:nvPr/>
        </p:nvSpPr>
        <p:spPr>
          <a:xfrm>
            <a:off x="457200" y="274680"/>
            <a:ext cx="8229240" cy="1142640"/>
          </a:xfrm>
          <a:prstGeom prst="rect">
            <a:avLst/>
          </a:prstGeom>
          <a:noFill/>
          <a:ln>
            <a:noFill/>
          </a:ln>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133" name="TextShape 2"/>
          <p:cNvSpPr txBox="1"/>
          <p:nvPr/>
        </p:nvSpPr>
        <p:spPr>
          <a:xfrm>
            <a:off x="228600" y="304800"/>
            <a:ext cx="8457840" cy="6553200"/>
          </a:xfrm>
          <a:prstGeom prst="rect">
            <a:avLst/>
          </a:prstGeom>
          <a:noFill/>
          <a:ln>
            <a:noFill/>
          </a:ln>
        </p:spPr>
        <p:txBody>
          <a:bodyPr lIns="0" tIns="0" rIns="0" bIns="0"/>
          <a:lstStyle/>
          <a:p>
            <a:r>
              <a:rPr lang="en-IN" sz="3200" b="0" u="sng" strike="noStrike" spc="-1" dirty="0" smtClean="0">
                <a:solidFill>
                  <a:srgbClr val="FF0000"/>
                </a:solidFill>
                <a:uFill>
                  <a:solidFill>
                    <a:srgbClr val="FFFFFF"/>
                  </a:solidFill>
                </a:uFill>
                <a:latin typeface="Times New Roman" pitchFamily="18" charset="0"/>
                <a:cs typeface="Times New Roman" pitchFamily="18" charset="0"/>
              </a:rPr>
              <a:t>Rules to find location of a node in a tree:</a:t>
            </a:r>
          </a:p>
          <a:p>
            <a:endParaRPr lang="en-IN" sz="2800" b="0" strike="noStrike" spc="-1" dirty="0" smtClean="0">
              <a:solidFill>
                <a:srgbClr val="FF0000"/>
              </a:solidFill>
              <a:uFill>
                <a:solidFill>
                  <a:srgbClr val="FFFFFF"/>
                </a:solidFill>
              </a:uFill>
              <a:latin typeface="Times New Roman" pitchFamily="18" charset="0"/>
              <a:cs typeface="Times New Roman" pitchFamily="18" charset="0"/>
            </a:endParaRPr>
          </a:p>
          <a:p>
            <a:r>
              <a:rPr lang="en-IN" sz="2800" spc="-1" dirty="0" smtClean="0">
                <a:solidFill>
                  <a:srgbClr val="000000"/>
                </a:solidFill>
                <a:uFill>
                  <a:solidFill>
                    <a:srgbClr val="FFFFFF"/>
                  </a:solidFill>
                </a:uFill>
                <a:latin typeface="Times New Roman" pitchFamily="18" charset="0"/>
                <a:cs typeface="Times New Roman" pitchFamily="18" charset="0"/>
              </a:rPr>
              <a:t>1.</a:t>
            </a:r>
            <a:r>
              <a:rPr lang="en-IN" sz="2800" b="0" strike="noStrike" spc="-1" dirty="0" smtClean="0">
                <a:solidFill>
                  <a:srgbClr val="000000"/>
                </a:solidFill>
                <a:uFill>
                  <a:solidFill>
                    <a:srgbClr val="FFFFFF"/>
                  </a:solidFill>
                </a:uFill>
                <a:latin typeface="Times New Roman" pitchFamily="18" charset="0"/>
                <a:cs typeface="Times New Roman" pitchFamily="18" charset="0"/>
              </a:rPr>
              <a:t>Root </a:t>
            </a:r>
            <a:r>
              <a:rPr lang="en-IN" sz="2800" b="0" strike="noStrike" spc="-1" dirty="0">
                <a:solidFill>
                  <a:srgbClr val="000000"/>
                </a:solidFill>
                <a:uFill>
                  <a:solidFill>
                    <a:srgbClr val="FFFFFF"/>
                  </a:solidFill>
                </a:uFill>
                <a:latin typeface="Times New Roman" pitchFamily="18" charset="0"/>
                <a:cs typeface="Times New Roman" pitchFamily="18" charset="0"/>
              </a:rPr>
              <a:t>node is at location </a:t>
            </a:r>
            <a:r>
              <a:rPr lang="en-IN" sz="2800" b="0" strike="noStrike" spc="-1" dirty="0" smtClean="0">
                <a:solidFill>
                  <a:srgbClr val="000000"/>
                </a:solidFill>
                <a:uFill>
                  <a:solidFill>
                    <a:srgbClr val="FFFFFF"/>
                  </a:solidFill>
                </a:uFill>
                <a:latin typeface="Times New Roman" pitchFamily="18" charset="0"/>
                <a:cs typeface="Times New Roman" pitchFamily="18" charset="0"/>
              </a:rPr>
              <a:t>1</a:t>
            </a:r>
          </a:p>
          <a:p>
            <a:endParaRPr lang="en-IN" sz="3200" b="0" strike="noStrike" spc="-1" dirty="0">
              <a:solidFill>
                <a:srgbClr val="000000"/>
              </a:solidFill>
              <a:uFill>
                <a:solidFill>
                  <a:srgbClr val="FFFFFF"/>
                </a:solidFill>
              </a:uFill>
              <a:latin typeface="Times New Roman" pitchFamily="18" charset="0"/>
              <a:cs typeface="Times New Roman" pitchFamily="18" charset="0"/>
            </a:endParaRPr>
          </a:p>
          <a:p>
            <a:r>
              <a:rPr lang="en-IN" sz="2800" b="0" strike="noStrike" spc="-1" dirty="0">
                <a:solidFill>
                  <a:srgbClr val="000000"/>
                </a:solidFill>
                <a:uFill>
                  <a:solidFill>
                    <a:srgbClr val="FFFFFF"/>
                  </a:solidFill>
                </a:uFill>
                <a:latin typeface="Times New Roman" pitchFamily="18" charset="0"/>
                <a:cs typeface="Times New Roman" pitchFamily="18" charset="0"/>
              </a:rPr>
              <a:t>2. for any node with index </a:t>
            </a:r>
            <a:r>
              <a:rPr lang="en-IN" sz="2800" b="0" strike="noStrike" spc="-1" dirty="0" err="1">
                <a:solidFill>
                  <a:srgbClr val="000000"/>
                </a:solidFill>
                <a:uFill>
                  <a:solidFill>
                    <a:srgbClr val="FFFFFF"/>
                  </a:solidFill>
                </a:uFill>
                <a:latin typeface="Times New Roman" pitchFamily="18" charset="0"/>
                <a:cs typeface="Times New Roman" pitchFamily="18" charset="0"/>
              </a:rPr>
              <a:t>i</a:t>
            </a:r>
            <a:r>
              <a:rPr lang="en-IN" sz="2800" b="0" strike="noStrike" spc="-1" dirty="0">
                <a:solidFill>
                  <a:srgbClr val="000000"/>
                </a:solidFill>
                <a:uFill>
                  <a:solidFill>
                    <a:srgbClr val="FFFFFF"/>
                  </a:solidFill>
                </a:uFill>
                <a:latin typeface="Times New Roman" pitchFamily="18" charset="0"/>
                <a:cs typeface="Times New Roman" pitchFamily="18" charset="0"/>
              </a:rPr>
              <a:t> (1&lt;</a:t>
            </a:r>
            <a:r>
              <a:rPr lang="en-IN" sz="2800" b="0" strike="noStrike" spc="-1" dirty="0" err="1">
                <a:solidFill>
                  <a:srgbClr val="000000"/>
                </a:solidFill>
                <a:uFill>
                  <a:solidFill>
                    <a:srgbClr val="FFFFFF"/>
                  </a:solidFill>
                </a:uFill>
                <a:latin typeface="Times New Roman" pitchFamily="18" charset="0"/>
                <a:cs typeface="Times New Roman" pitchFamily="18" charset="0"/>
              </a:rPr>
              <a:t>i</a:t>
            </a:r>
            <a:r>
              <a:rPr lang="en-IN" sz="2800" b="0" strike="noStrike" spc="-1" dirty="0">
                <a:solidFill>
                  <a:srgbClr val="000000"/>
                </a:solidFill>
                <a:uFill>
                  <a:solidFill>
                    <a:srgbClr val="FFFFFF"/>
                  </a:solidFill>
                </a:uFill>
                <a:latin typeface="Times New Roman" pitchFamily="18" charset="0"/>
                <a:cs typeface="Times New Roman" pitchFamily="18" charset="0"/>
              </a:rPr>
              <a:t>&lt;=n)</a:t>
            </a:r>
            <a:endParaRPr lang="en-IN" sz="3200" b="0" strike="noStrike" spc="-1" dirty="0">
              <a:solidFill>
                <a:srgbClr val="000000"/>
              </a:solidFill>
              <a:uFill>
                <a:solidFill>
                  <a:srgbClr val="FFFFFF"/>
                </a:solidFill>
              </a:uFill>
              <a:latin typeface="Times New Roman" pitchFamily="18" charset="0"/>
              <a:cs typeface="Times New Roman" pitchFamily="18" charset="0"/>
            </a:endParaRPr>
          </a:p>
          <a:p>
            <a:r>
              <a:rPr lang="en-IN" sz="2800" b="0" strike="noStrike" spc="-1" dirty="0">
                <a:solidFill>
                  <a:srgbClr val="000000"/>
                </a:solidFill>
                <a:uFill>
                  <a:solidFill>
                    <a:srgbClr val="FFFFFF"/>
                  </a:solidFill>
                </a:uFill>
                <a:latin typeface="Times New Roman" pitchFamily="18" charset="0"/>
                <a:cs typeface="Times New Roman" pitchFamily="18" charset="0"/>
              </a:rPr>
              <a:t>     a. Parent(</a:t>
            </a:r>
            <a:r>
              <a:rPr lang="en-IN" sz="2800" b="0" strike="noStrike" spc="-1" dirty="0" err="1">
                <a:solidFill>
                  <a:srgbClr val="000000"/>
                </a:solidFill>
                <a:uFill>
                  <a:solidFill>
                    <a:srgbClr val="FFFFFF"/>
                  </a:solidFill>
                </a:uFill>
                <a:latin typeface="Times New Roman" pitchFamily="18" charset="0"/>
                <a:cs typeface="Times New Roman" pitchFamily="18" charset="0"/>
              </a:rPr>
              <a:t>i</a:t>
            </a:r>
            <a:r>
              <a:rPr lang="en-IN" sz="2800" b="0" strike="noStrike" spc="-1" dirty="0">
                <a:solidFill>
                  <a:srgbClr val="000000"/>
                </a:solidFill>
                <a:uFill>
                  <a:solidFill>
                    <a:srgbClr val="FFFFFF"/>
                  </a:solidFill>
                </a:uFill>
                <a:latin typeface="Times New Roman" pitchFamily="18" charset="0"/>
                <a:cs typeface="Times New Roman" pitchFamily="18" charset="0"/>
              </a:rPr>
              <a:t>)=Floor(</a:t>
            </a:r>
            <a:r>
              <a:rPr lang="en-IN" sz="2800" b="0" strike="noStrike" spc="-1" dirty="0" err="1">
                <a:solidFill>
                  <a:srgbClr val="000000"/>
                </a:solidFill>
                <a:uFill>
                  <a:solidFill>
                    <a:srgbClr val="FFFFFF"/>
                  </a:solidFill>
                </a:uFill>
                <a:latin typeface="Times New Roman" pitchFamily="18" charset="0"/>
                <a:cs typeface="Times New Roman" pitchFamily="18" charset="0"/>
              </a:rPr>
              <a:t>i</a:t>
            </a:r>
            <a:r>
              <a:rPr lang="en-IN" sz="2800" b="0" strike="noStrike" spc="-1" dirty="0">
                <a:solidFill>
                  <a:srgbClr val="000000"/>
                </a:solidFill>
                <a:uFill>
                  <a:solidFill>
                    <a:srgbClr val="FFFFFF"/>
                  </a:solidFill>
                </a:uFill>
                <a:latin typeface="Times New Roman" pitchFamily="18" charset="0"/>
                <a:cs typeface="Times New Roman" pitchFamily="18" charset="0"/>
              </a:rPr>
              <a:t>/2)</a:t>
            </a:r>
            <a:endParaRPr lang="en-IN" sz="3200" b="0" strike="noStrike" spc="-1" dirty="0">
              <a:solidFill>
                <a:srgbClr val="000000"/>
              </a:solidFill>
              <a:uFill>
                <a:solidFill>
                  <a:srgbClr val="FFFFFF"/>
                </a:solidFill>
              </a:uFill>
              <a:latin typeface="Times New Roman" pitchFamily="18" charset="0"/>
              <a:cs typeface="Times New Roman" pitchFamily="18" charset="0"/>
            </a:endParaRPr>
          </a:p>
          <a:p>
            <a:r>
              <a:rPr lang="en-IN" sz="2800" b="0" strike="noStrike" spc="-1" dirty="0">
                <a:solidFill>
                  <a:srgbClr val="000000"/>
                </a:solidFill>
                <a:uFill>
                  <a:solidFill>
                    <a:srgbClr val="FFFFFF"/>
                  </a:solidFill>
                </a:uFill>
                <a:latin typeface="Times New Roman" pitchFamily="18" charset="0"/>
                <a:cs typeface="Times New Roman" pitchFamily="18" charset="0"/>
              </a:rPr>
              <a:t>          For a node when </a:t>
            </a:r>
            <a:r>
              <a:rPr lang="en-IN" sz="2800" b="0" strike="noStrike" spc="-1" dirty="0" err="1">
                <a:solidFill>
                  <a:srgbClr val="000000"/>
                </a:solidFill>
                <a:uFill>
                  <a:solidFill>
                    <a:srgbClr val="FFFFFF"/>
                  </a:solidFill>
                </a:uFill>
                <a:latin typeface="Times New Roman" pitchFamily="18" charset="0"/>
                <a:cs typeface="Times New Roman" pitchFamily="18" charset="0"/>
              </a:rPr>
              <a:t>i</a:t>
            </a:r>
            <a:r>
              <a:rPr lang="en-IN" sz="2800" b="0" strike="noStrike" spc="-1" dirty="0">
                <a:solidFill>
                  <a:srgbClr val="000000"/>
                </a:solidFill>
                <a:uFill>
                  <a:solidFill>
                    <a:srgbClr val="FFFFFF"/>
                  </a:solidFill>
                </a:uFill>
                <a:latin typeface="Times New Roman" pitchFamily="18" charset="0"/>
                <a:cs typeface="Times New Roman" pitchFamily="18" charset="0"/>
              </a:rPr>
              <a:t>=1, there is no </a:t>
            </a:r>
            <a:r>
              <a:rPr lang="en-IN" sz="2800" b="0" strike="noStrike" spc="-1" dirty="0" smtClean="0">
                <a:solidFill>
                  <a:srgbClr val="000000"/>
                </a:solidFill>
                <a:uFill>
                  <a:solidFill>
                    <a:srgbClr val="FFFFFF"/>
                  </a:solidFill>
                </a:uFill>
                <a:latin typeface="Times New Roman" pitchFamily="18" charset="0"/>
                <a:cs typeface="Times New Roman" pitchFamily="18" charset="0"/>
              </a:rPr>
              <a:t>parent</a:t>
            </a:r>
          </a:p>
          <a:p>
            <a:endParaRPr lang="en-IN" sz="3200" b="0" strike="noStrike" spc="-1" dirty="0">
              <a:solidFill>
                <a:srgbClr val="000000"/>
              </a:solidFill>
              <a:uFill>
                <a:solidFill>
                  <a:srgbClr val="FFFFFF"/>
                </a:solidFill>
              </a:uFill>
              <a:latin typeface="Times New Roman" pitchFamily="18" charset="0"/>
              <a:cs typeface="Times New Roman" pitchFamily="18" charset="0"/>
            </a:endParaRPr>
          </a:p>
          <a:p>
            <a:r>
              <a:rPr lang="en-IN" sz="2800" b="0" strike="noStrike" spc="-1" dirty="0">
                <a:solidFill>
                  <a:srgbClr val="000000"/>
                </a:solidFill>
                <a:uFill>
                  <a:solidFill>
                    <a:srgbClr val="FFFFFF"/>
                  </a:solidFill>
                </a:uFill>
                <a:latin typeface="Times New Roman" pitchFamily="18" charset="0"/>
                <a:cs typeface="Times New Roman" pitchFamily="18" charset="0"/>
              </a:rPr>
              <a:t>     </a:t>
            </a:r>
            <a:r>
              <a:rPr lang="en-IN" sz="2800" b="0" strike="noStrike" spc="-1" dirty="0" err="1">
                <a:solidFill>
                  <a:srgbClr val="000000"/>
                </a:solidFill>
                <a:uFill>
                  <a:solidFill>
                    <a:srgbClr val="FFFFFF"/>
                  </a:solidFill>
                </a:uFill>
                <a:latin typeface="Times New Roman" pitchFamily="18" charset="0"/>
                <a:cs typeface="Times New Roman" pitchFamily="18" charset="0"/>
              </a:rPr>
              <a:t>b.Leftchild</a:t>
            </a:r>
            <a:r>
              <a:rPr lang="en-IN" sz="2800" b="0" strike="noStrike" spc="-1" dirty="0">
                <a:solidFill>
                  <a:srgbClr val="000000"/>
                </a:solidFill>
                <a:uFill>
                  <a:solidFill>
                    <a:srgbClr val="FFFFFF"/>
                  </a:solidFill>
                </a:uFill>
                <a:latin typeface="Times New Roman" pitchFamily="18" charset="0"/>
                <a:cs typeface="Times New Roman" pitchFamily="18" charset="0"/>
              </a:rPr>
              <a:t>(</a:t>
            </a:r>
            <a:r>
              <a:rPr lang="en-IN" sz="2800" b="0" strike="noStrike" spc="-1" dirty="0" err="1">
                <a:solidFill>
                  <a:srgbClr val="000000"/>
                </a:solidFill>
                <a:uFill>
                  <a:solidFill>
                    <a:srgbClr val="FFFFFF"/>
                  </a:solidFill>
                </a:uFill>
                <a:latin typeface="Times New Roman" pitchFamily="18" charset="0"/>
                <a:cs typeface="Times New Roman" pitchFamily="18" charset="0"/>
              </a:rPr>
              <a:t>i</a:t>
            </a:r>
            <a:r>
              <a:rPr lang="en-IN" sz="2800" b="0" strike="noStrike" spc="-1" dirty="0" smtClean="0">
                <a:solidFill>
                  <a:srgbClr val="000000"/>
                </a:solidFill>
                <a:uFill>
                  <a:solidFill>
                    <a:srgbClr val="FFFFFF"/>
                  </a:solidFill>
                </a:uFill>
                <a:latin typeface="Times New Roman" pitchFamily="18" charset="0"/>
                <a:cs typeface="Times New Roman" pitchFamily="18" charset="0"/>
              </a:rPr>
              <a:t>) = 2 * </a:t>
            </a:r>
            <a:r>
              <a:rPr lang="en-IN" sz="2800" b="0" strike="noStrike" spc="-1" dirty="0" err="1" smtClean="0">
                <a:solidFill>
                  <a:srgbClr val="000000"/>
                </a:solidFill>
                <a:uFill>
                  <a:solidFill>
                    <a:srgbClr val="FFFFFF"/>
                  </a:solidFill>
                </a:uFill>
                <a:latin typeface="Times New Roman" pitchFamily="18" charset="0"/>
                <a:cs typeface="Times New Roman" pitchFamily="18" charset="0"/>
              </a:rPr>
              <a:t>i</a:t>
            </a:r>
            <a:endParaRPr lang="en-IN" sz="2800" b="0" strike="noStrike" spc="-1" dirty="0" smtClean="0">
              <a:solidFill>
                <a:srgbClr val="000000"/>
              </a:solidFill>
              <a:uFill>
                <a:solidFill>
                  <a:srgbClr val="FFFFFF"/>
                </a:solidFill>
              </a:uFill>
              <a:latin typeface="Times New Roman" pitchFamily="18" charset="0"/>
              <a:cs typeface="Times New Roman" pitchFamily="18" charset="0"/>
            </a:endParaRPr>
          </a:p>
          <a:p>
            <a:r>
              <a:rPr lang="en-IN" sz="3200" spc="-1" dirty="0" smtClean="0">
                <a:solidFill>
                  <a:srgbClr val="000000"/>
                </a:solidFill>
                <a:uFill>
                  <a:solidFill>
                    <a:srgbClr val="FFFFFF"/>
                  </a:solidFill>
                </a:uFill>
                <a:latin typeface="Times New Roman" pitchFamily="18" charset="0"/>
                <a:cs typeface="Times New Roman" pitchFamily="18" charset="0"/>
              </a:rPr>
              <a:t>	 If 2*</a:t>
            </a:r>
            <a:r>
              <a:rPr lang="en-IN" sz="3200" spc="-1" dirty="0" err="1" smtClean="0">
                <a:solidFill>
                  <a:srgbClr val="000000"/>
                </a:solidFill>
                <a:uFill>
                  <a:solidFill>
                    <a:srgbClr val="FFFFFF"/>
                  </a:solidFill>
                </a:uFill>
                <a:latin typeface="Times New Roman" pitchFamily="18" charset="0"/>
                <a:cs typeface="Times New Roman" pitchFamily="18" charset="0"/>
              </a:rPr>
              <a:t>i</a:t>
            </a:r>
            <a:r>
              <a:rPr lang="en-IN" sz="3200" spc="-1" dirty="0" smtClean="0">
                <a:solidFill>
                  <a:srgbClr val="000000"/>
                </a:solidFill>
                <a:uFill>
                  <a:solidFill>
                    <a:srgbClr val="FFFFFF"/>
                  </a:solidFill>
                </a:uFill>
                <a:latin typeface="Times New Roman" pitchFamily="18" charset="0"/>
                <a:cs typeface="Times New Roman" pitchFamily="18" charset="0"/>
              </a:rPr>
              <a:t>&gt;n, there is no left child.</a:t>
            </a:r>
          </a:p>
          <a:p>
            <a:endParaRPr lang="en-IN" sz="3200" b="0" strike="noStrike" spc="-1" dirty="0">
              <a:solidFill>
                <a:srgbClr val="000000"/>
              </a:solidFill>
              <a:uFill>
                <a:solidFill>
                  <a:srgbClr val="FFFFFF"/>
                </a:solidFill>
              </a:uFill>
              <a:latin typeface="Times New Roman" pitchFamily="18" charset="0"/>
              <a:cs typeface="Times New Roman" pitchFamily="18" charset="0"/>
            </a:endParaRPr>
          </a:p>
          <a:p>
            <a:r>
              <a:rPr lang="en-IN" sz="2800" b="0" strike="noStrike" spc="-1" dirty="0">
                <a:solidFill>
                  <a:srgbClr val="000000"/>
                </a:solidFill>
                <a:uFill>
                  <a:solidFill>
                    <a:srgbClr val="FFFFFF"/>
                  </a:solidFill>
                </a:uFill>
                <a:latin typeface="Times New Roman" pitchFamily="18" charset="0"/>
                <a:cs typeface="Times New Roman" pitchFamily="18" charset="0"/>
              </a:rPr>
              <a:t>     c. Right Child of (</a:t>
            </a:r>
            <a:r>
              <a:rPr lang="en-IN" sz="2800" b="0" strike="noStrike" spc="-1" dirty="0" err="1">
                <a:solidFill>
                  <a:srgbClr val="000000"/>
                </a:solidFill>
                <a:uFill>
                  <a:solidFill>
                    <a:srgbClr val="FFFFFF"/>
                  </a:solidFill>
                </a:uFill>
                <a:latin typeface="Times New Roman" pitchFamily="18" charset="0"/>
                <a:cs typeface="Times New Roman" pitchFamily="18" charset="0"/>
              </a:rPr>
              <a:t>i</a:t>
            </a:r>
            <a:r>
              <a:rPr lang="en-IN" sz="2800" b="0" strike="noStrike" spc="-1" dirty="0">
                <a:solidFill>
                  <a:srgbClr val="000000"/>
                </a:solidFill>
                <a:uFill>
                  <a:solidFill>
                    <a:srgbClr val="FFFFFF"/>
                  </a:solidFill>
                </a:uFill>
                <a:latin typeface="Times New Roman" pitchFamily="18" charset="0"/>
                <a:cs typeface="Times New Roman" pitchFamily="18" charset="0"/>
              </a:rPr>
              <a:t>)= 2*i+1</a:t>
            </a:r>
            <a:endParaRPr lang="en-IN" sz="3200" b="0" strike="noStrike" spc="-1" dirty="0">
              <a:solidFill>
                <a:srgbClr val="000000"/>
              </a:solidFill>
              <a:uFill>
                <a:solidFill>
                  <a:srgbClr val="FFFFFF"/>
                </a:solidFill>
              </a:uFill>
              <a:latin typeface="Times New Roman" pitchFamily="18" charset="0"/>
              <a:cs typeface="Times New Roman" pitchFamily="18" charset="0"/>
            </a:endParaRPr>
          </a:p>
          <a:p>
            <a:r>
              <a:rPr lang="en-IN" sz="2800" b="0" strike="noStrike" spc="-1" dirty="0">
                <a:solidFill>
                  <a:srgbClr val="000000"/>
                </a:solidFill>
                <a:uFill>
                  <a:solidFill>
                    <a:srgbClr val="FFFFFF"/>
                  </a:solidFill>
                </a:uFill>
                <a:latin typeface="Times New Roman" pitchFamily="18" charset="0"/>
                <a:cs typeface="Times New Roman" pitchFamily="18" charset="0"/>
              </a:rPr>
              <a:t>         If 2*i+1&gt;n, there is no right </a:t>
            </a:r>
            <a:r>
              <a:rPr lang="en-IN" sz="2800" b="0" strike="noStrike" spc="-1" dirty="0" smtClean="0">
                <a:solidFill>
                  <a:srgbClr val="000000"/>
                </a:solidFill>
                <a:uFill>
                  <a:solidFill>
                    <a:srgbClr val="FFFFFF"/>
                  </a:solidFill>
                </a:uFill>
                <a:latin typeface="Times New Roman" pitchFamily="18" charset="0"/>
                <a:cs typeface="Times New Roman" pitchFamily="18" charset="0"/>
              </a:rPr>
              <a:t>child.</a:t>
            </a:r>
            <a:endParaRPr lang="en-IN" sz="3200" b="0" strike="noStrike" spc="-1" dirty="0">
              <a:solidFill>
                <a:srgbClr val="000000"/>
              </a:solidFill>
              <a:uFill>
                <a:solidFill>
                  <a:srgbClr val="FFFFFF"/>
                </a:solidFill>
              </a:u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382000" cy="5821363"/>
          </a:xfrm>
        </p:spPr>
        <p:txBody>
          <a:bodyPr/>
          <a:lstStyle/>
          <a:p>
            <a:r>
              <a:rPr lang="en-US" dirty="0" err="1" smtClean="0"/>
              <a:t>Eg</a:t>
            </a:r>
            <a:r>
              <a:rPr lang="en-US" dirty="0" smtClean="0"/>
              <a:t>:	Consider array representation of expression </a:t>
            </a:r>
          </a:p>
          <a:p>
            <a:pPr>
              <a:buNone/>
            </a:pPr>
            <a:r>
              <a:rPr lang="en-US" dirty="0" smtClean="0"/>
              <a:t>(A-B)+C*(D/E) in the form of a tree.</a:t>
            </a:r>
          </a:p>
          <a:p>
            <a:pPr>
              <a:buNone/>
            </a:pPr>
            <a:endParaRPr lang="en-US" dirty="0"/>
          </a:p>
        </p:txBody>
      </p:sp>
      <p:pic>
        <p:nvPicPr>
          <p:cNvPr id="4" name="Picture 3" descr="Untitled.png"/>
          <p:cNvPicPr>
            <a:picLocks noChangeAspect="1"/>
          </p:cNvPicPr>
          <p:nvPr/>
        </p:nvPicPr>
        <p:blipFill>
          <a:blip r:embed="rId2" cstate="print"/>
          <a:stretch>
            <a:fillRect/>
          </a:stretch>
        </p:blipFill>
        <p:spPr>
          <a:xfrm>
            <a:off x="1981200" y="1600200"/>
            <a:ext cx="4728117" cy="4267200"/>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TextShape 1"/>
          <p:cNvSpPr txBox="1"/>
          <p:nvPr/>
        </p:nvSpPr>
        <p:spPr>
          <a:xfrm>
            <a:off x="457200" y="274680"/>
            <a:ext cx="8229240" cy="1142640"/>
          </a:xfrm>
          <a:prstGeom prst="rect">
            <a:avLst/>
          </a:prstGeom>
          <a:noFill/>
          <a:ln>
            <a:noFill/>
          </a:ln>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138" name="TextShape 2"/>
          <p:cNvSpPr txBox="1"/>
          <p:nvPr/>
        </p:nvSpPr>
        <p:spPr>
          <a:xfrm>
            <a:off x="457200" y="1600200"/>
            <a:ext cx="8229240" cy="4525560"/>
          </a:xfrm>
          <a:prstGeom prst="rect">
            <a:avLst/>
          </a:prstGeom>
          <a:noFill/>
          <a:ln>
            <a:noFill/>
          </a:ln>
        </p:spPr>
        <p:txBody>
          <a:bodyPr lIns="0" tIns="0" rIns="0" bIns="0"/>
          <a:lstStyle/>
          <a:p>
            <a:endParaRPr lang="en-US" sz="3200" b="0" strike="noStrike" spc="-1">
              <a:solidFill>
                <a:srgbClr val="000000"/>
              </a:solidFill>
              <a:uFill>
                <a:solidFill>
                  <a:srgbClr val="FFFFFF"/>
                </a:solidFill>
              </a:uFill>
              <a:latin typeface="Calibri"/>
            </a:endParaRPr>
          </a:p>
        </p:txBody>
      </p:sp>
      <p:pic>
        <p:nvPicPr>
          <p:cNvPr id="139" name="Picture 138"/>
          <p:cNvPicPr/>
          <p:nvPr/>
        </p:nvPicPr>
        <p:blipFill>
          <a:blip r:embed="rId2" cstate="print"/>
          <a:stretch/>
        </p:blipFill>
        <p:spPr>
          <a:xfrm>
            <a:off x="187200" y="576000"/>
            <a:ext cx="8525160" cy="5328000"/>
          </a:xfrm>
          <a:prstGeom prst="rect">
            <a:avLst/>
          </a:prstGeom>
          <a:ln>
            <a:noFill/>
          </a:ln>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TextShape 1"/>
          <p:cNvSpPr txBox="1"/>
          <p:nvPr/>
        </p:nvSpPr>
        <p:spPr>
          <a:xfrm>
            <a:off x="457200" y="274680"/>
            <a:ext cx="8229240" cy="1142640"/>
          </a:xfrm>
          <a:prstGeom prst="rect">
            <a:avLst/>
          </a:prstGeom>
          <a:noFill/>
          <a:ln>
            <a:noFill/>
          </a:ln>
        </p:spPr>
        <p:txBody>
          <a:bodyPr lIns="0" tIns="0" rIns="0" bIns="0" anchor="ctr"/>
          <a:lstStyle/>
          <a:p>
            <a:r>
              <a:rPr lang="en-US" sz="3200" b="1" u="sng" strike="noStrike" spc="-1" dirty="0">
                <a:uFill>
                  <a:solidFill>
                    <a:srgbClr val="FFFFFF"/>
                  </a:solidFill>
                </a:uFill>
                <a:latin typeface="Times New Roman" pitchFamily="18" charset="0"/>
                <a:cs typeface="Times New Roman" pitchFamily="18" charset="0"/>
              </a:rPr>
              <a:t>Advantages</a:t>
            </a:r>
          </a:p>
        </p:txBody>
      </p:sp>
      <p:sp>
        <p:nvSpPr>
          <p:cNvPr id="141" name="TextShape 2"/>
          <p:cNvSpPr txBox="1"/>
          <p:nvPr/>
        </p:nvSpPr>
        <p:spPr>
          <a:xfrm>
            <a:off x="304800" y="1600200"/>
            <a:ext cx="8534400" cy="4525560"/>
          </a:xfrm>
          <a:prstGeom prst="rect">
            <a:avLst/>
          </a:prstGeom>
          <a:noFill/>
          <a:ln>
            <a:noFill/>
          </a:ln>
        </p:spPr>
        <p:txBody>
          <a:bodyPr lIns="0" tIns="0" rIns="0" bIns="0"/>
          <a:lstStyle/>
          <a:p>
            <a:pPr marL="432000" indent="-324000">
              <a:buClr>
                <a:srgbClr val="000000"/>
              </a:buClr>
              <a:buSzPct val="45000"/>
              <a:buFont typeface="Wingdings" charset="2"/>
              <a:buChar char=""/>
            </a:pPr>
            <a:r>
              <a:rPr lang="en-US" sz="2800" b="0" strike="noStrike" spc="-1" dirty="0">
                <a:solidFill>
                  <a:srgbClr val="000000"/>
                </a:solidFill>
                <a:uFill>
                  <a:solidFill>
                    <a:srgbClr val="FFFFFF"/>
                  </a:solidFill>
                </a:uFill>
                <a:latin typeface="Times New Roman" pitchFamily="18" charset="0"/>
                <a:cs typeface="Times New Roman" pitchFamily="18" charset="0"/>
              </a:rPr>
              <a:t>Any node can be </a:t>
            </a:r>
            <a:r>
              <a:rPr lang="en-US" sz="2800" b="0" strike="noStrike" spc="-1" dirty="0" smtClean="0">
                <a:solidFill>
                  <a:srgbClr val="000000"/>
                </a:solidFill>
                <a:uFill>
                  <a:solidFill>
                    <a:srgbClr val="FFFFFF"/>
                  </a:solidFill>
                </a:uFill>
                <a:latin typeface="Times New Roman" pitchFamily="18" charset="0"/>
                <a:cs typeface="Times New Roman" pitchFamily="18" charset="0"/>
              </a:rPr>
              <a:t>accessed </a:t>
            </a:r>
            <a:r>
              <a:rPr lang="en-US" sz="2800" b="0" strike="noStrike" spc="-1" dirty="0">
                <a:solidFill>
                  <a:srgbClr val="000000"/>
                </a:solidFill>
                <a:uFill>
                  <a:solidFill>
                    <a:srgbClr val="FFFFFF"/>
                  </a:solidFill>
                </a:uFill>
                <a:latin typeface="Times New Roman" pitchFamily="18" charset="0"/>
                <a:cs typeface="Times New Roman" pitchFamily="18" charset="0"/>
              </a:rPr>
              <a:t>from anywhere by calculating </a:t>
            </a:r>
            <a:r>
              <a:rPr lang="en-US" sz="2800" b="0" strike="noStrike" spc="-1" dirty="0" smtClean="0">
                <a:solidFill>
                  <a:srgbClr val="000000"/>
                </a:solidFill>
                <a:uFill>
                  <a:solidFill>
                    <a:srgbClr val="FFFFFF"/>
                  </a:solidFill>
                </a:uFill>
                <a:latin typeface="Times New Roman" pitchFamily="18" charset="0"/>
                <a:cs typeface="Times New Roman" pitchFamily="18" charset="0"/>
              </a:rPr>
              <a:t>index.</a:t>
            </a:r>
          </a:p>
          <a:p>
            <a:pPr marL="432000" indent="-324000">
              <a:buClr>
                <a:srgbClr val="000000"/>
              </a:buClr>
              <a:buSzPct val="45000"/>
              <a:buFont typeface="Wingdings" charset="2"/>
              <a:buChar char=""/>
            </a:pPr>
            <a:endParaRPr lang="en-US" sz="2800" b="0" strike="noStrike" spc="-1" dirty="0">
              <a:solidFill>
                <a:srgbClr val="000000"/>
              </a:solidFill>
              <a:uFill>
                <a:solidFill>
                  <a:srgbClr val="FFFFFF"/>
                </a:solidFill>
              </a:uFill>
              <a:latin typeface="Times New Roman" pitchFamily="18" charset="0"/>
              <a:cs typeface="Times New Roman" pitchFamily="18" charset="0"/>
            </a:endParaRPr>
          </a:p>
          <a:p>
            <a:pPr marL="432000" indent="-324000">
              <a:buClr>
                <a:srgbClr val="000000"/>
              </a:buClr>
              <a:buSzPct val="45000"/>
              <a:buFont typeface="Wingdings" charset="2"/>
              <a:buChar char=""/>
            </a:pPr>
            <a:r>
              <a:rPr lang="en-US" sz="2800" b="0" strike="noStrike" spc="-1" dirty="0">
                <a:solidFill>
                  <a:srgbClr val="000000"/>
                </a:solidFill>
                <a:uFill>
                  <a:solidFill>
                    <a:srgbClr val="FFFFFF"/>
                  </a:solidFill>
                </a:uFill>
                <a:latin typeface="Times New Roman" pitchFamily="18" charset="0"/>
                <a:cs typeface="Times New Roman" pitchFamily="18" charset="0"/>
              </a:rPr>
              <a:t>No pointers, only data, </a:t>
            </a:r>
            <a:r>
              <a:rPr lang="en-US" sz="2800" b="0" strike="noStrike" spc="-1" dirty="0" smtClean="0">
                <a:solidFill>
                  <a:srgbClr val="000000"/>
                </a:solidFill>
                <a:uFill>
                  <a:solidFill>
                    <a:srgbClr val="FFFFFF"/>
                  </a:solidFill>
                </a:uFill>
                <a:latin typeface="Times New Roman" pitchFamily="18" charset="0"/>
                <a:cs typeface="Times New Roman" pitchFamily="18" charset="0"/>
              </a:rPr>
              <a:t>hence saves memory.</a:t>
            </a:r>
          </a:p>
          <a:p>
            <a:pPr marL="432000" indent="-324000">
              <a:buClr>
                <a:srgbClr val="000000"/>
              </a:buClr>
              <a:buSzPct val="45000"/>
            </a:pPr>
            <a:endParaRPr lang="en-US" sz="2800" b="0" strike="noStrike" spc="-1" dirty="0">
              <a:solidFill>
                <a:srgbClr val="000000"/>
              </a:solidFill>
              <a:uFill>
                <a:solidFill>
                  <a:srgbClr val="FFFFFF"/>
                </a:solidFill>
              </a:uFill>
              <a:latin typeface="Times New Roman" pitchFamily="18" charset="0"/>
              <a:cs typeface="Times New Roman" pitchFamily="18" charset="0"/>
            </a:endParaRPr>
          </a:p>
          <a:p>
            <a:pPr marL="432000" indent="-324000">
              <a:buClr>
                <a:srgbClr val="000000"/>
              </a:buClr>
              <a:buSzPct val="45000"/>
              <a:buFont typeface="Wingdings" charset="2"/>
              <a:buChar char=""/>
            </a:pPr>
            <a:r>
              <a:rPr lang="en-US" sz="2800" spc="-1" dirty="0" smtClean="0">
                <a:solidFill>
                  <a:srgbClr val="000000"/>
                </a:solidFill>
                <a:uFill>
                  <a:solidFill>
                    <a:srgbClr val="FFFFFF"/>
                  </a:solidFill>
                </a:uFill>
                <a:latin typeface="Times New Roman" pitchFamily="18" charset="0"/>
                <a:cs typeface="Times New Roman" pitchFamily="18" charset="0"/>
              </a:rPr>
              <a:t>Programming languages where dynamic memory allocation is not possible(such as BASIC, FORTRAN), array representation is the only way to store a tree.</a:t>
            </a:r>
            <a:endParaRPr lang="en-US" sz="2800" b="0" strike="noStrike" spc="-1" dirty="0">
              <a:solidFill>
                <a:srgbClr val="000000"/>
              </a:solidFill>
              <a:uFill>
                <a:solidFill>
                  <a:srgbClr val="FFFFFF"/>
                </a:solidFill>
              </a:uFill>
              <a:latin typeface="Times New Roman" pitchFamily="18" charset="0"/>
              <a:cs typeface="Times New Roman" pitchFamily="18"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extShape 1"/>
          <p:cNvSpPr txBox="1"/>
          <p:nvPr/>
        </p:nvSpPr>
        <p:spPr>
          <a:xfrm>
            <a:off x="457200" y="274680"/>
            <a:ext cx="8229240" cy="1142640"/>
          </a:xfrm>
          <a:prstGeom prst="rect">
            <a:avLst/>
          </a:prstGeom>
          <a:noFill/>
          <a:ln>
            <a:noFill/>
          </a:ln>
        </p:spPr>
        <p:txBody>
          <a:bodyPr lIns="0" tIns="0" rIns="0" bIns="0" anchor="ctr"/>
          <a:lstStyle/>
          <a:p>
            <a:r>
              <a:rPr lang="en-US" sz="3200" b="1" strike="noStrike" spc="-1" dirty="0">
                <a:solidFill>
                  <a:srgbClr val="000000"/>
                </a:solidFill>
                <a:uFill>
                  <a:solidFill>
                    <a:srgbClr val="FFFFFF"/>
                  </a:solidFill>
                </a:uFill>
                <a:latin typeface="Times New Roman" pitchFamily="18" charset="0"/>
                <a:cs typeface="Times New Roman" pitchFamily="18" charset="0"/>
              </a:rPr>
              <a:t>Disadvantages</a:t>
            </a:r>
          </a:p>
        </p:txBody>
      </p:sp>
      <p:sp>
        <p:nvSpPr>
          <p:cNvPr id="143" name="TextShape 2"/>
          <p:cNvSpPr txBox="1"/>
          <p:nvPr/>
        </p:nvSpPr>
        <p:spPr>
          <a:xfrm>
            <a:off x="457200" y="1600200"/>
            <a:ext cx="8229240" cy="4525560"/>
          </a:xfrm>
          <a:prstGeom prst="rect">
            <a:avLst/>
          </a:prstGeom>
          <a:noFill/>
          <a:ln>
            <a:noFill/>
          </a:ln>
        </p:spPr>
        <p:txBody>
          <a:bodyPr lIns="0" tIns="0" rIns="0" bIns="0"/>
          <a:lstStyle/>
          <a:p>
            <a:pPr marL="432000" indent="-324000">
              <a:buClr>
                <a:srgbClr val="000000"/>
              </a:buClr>
              <a:buSzPct val="45000"/>
              <a:buFont typeface="Wingdings" charset="2"/>
              <a:buChar char=""/>
            </a:pPr>
            <a:r>
              <a:rPr lang="en-US" sz="2800" b="0" strike="noStrike" spc="-1" dirty="0">
                <a:solidFill>
                  <a:srgbClr val="000000"/>
                </a:solidFill>
                <a:uFill>
                  <a:solidFill>
                    <a:srgbClr val="FFFFFF"/>
                  </a:solidFill>
                </a:uFill>
                <a:latin typeface="Times New Roman" pitchFamily="18" charset="0"/>
                <a:cs typeface="Times New Roman" pitchFamily="18" charset="0"/>
              </a:rPr>
              <a:t>Other than full binary tree, most of the array entries are </a:t>
            </a:r>
            <a:r>
              <a:rPr lang="en-US" sz="2800" b="0" strike="noStrike" spc="-1" dirty="0" smtClean="0">
                <a:solidFill>
                  <a:srgbClr val="000000"/>
                </a:solidFill>
                <a:uFill>
                  <a:solidFill>
                    <a:srgbClr val="FFFFFF"/>
                  </a:solidFill>
                </a:uFill>
                <a:latin typeface="Times New Roman" pitchFamily="18" charset="0"/>
                <a:cs typeface="Times New Roman" pitchFamily="18" charset="0"/>
              </a:rPr>
              <a:t>empty.</a:t>
            </a:r>
          </a:p>
          <a:p>
            <a:pPr marL="432000" indent="-324000">
              <a:buClr>
                <a:srgbClr val="000000"/>
              </a:buClr>
              <a:buSzPct val="45000"/>
            </a:pPr>
            <a:endParaRPr lang="en-US" sz="2800" b="0" strike="noStrike" spc="-1" dirty="0">
              <a:solidFill>
                <a:srgbClr val="000000"/>
              </a:solidFill>
              <a:uFill>
                <a:solidFill>
                  <a:srgbClr val="FFFFFF"/>
                </a:solidFill>
              </a:uFill>
              <a:latin typeface="Times New Roman" pitchFamily="18" charset="0"/>
              <a:cs typeface="Times New Roman" pitchFamily="18" charset="0"/>
            </a:endParaRPr>
          </a:p>
          <a:p>
            <a:pPr marL="432000" indent="-324000">
              <a:buClr>
                <a:srgbClr val="000000"/>
              </a:buClr>
              <a:buSzPct val="45000"/>
              <a:buFont typeface="Wingdings" charset="2"/>
              <a:buChar char=""/>
            </a:pPr>
            <a:r>
              <a:rPr lang="en-US" sz="2800" b="0" strike="noStrike" spc="-1" dirty="0">
                <a:solidFill>
                  <a:srgbClr val="000000"/>
                </a:solidFill>
                <a:uFill>
                  <a:solidFill>
                    <a:srgbClr val="FFFFFF"/>
                  </a:solidFill>
                </a:uFill>
                <a:latin typeface="Times New Roman" pitchFamily="18" charset="0"/>
                <a:cs typeface="Times New Roman" pitchFamily="18" charset="0"/>
              </a:rPr>
              <a:t>Tree cannot be </a:t>
            </a:r>
            <a:r>
              <a:rPr lang="en-US" sz="2800" b="0" strike="noStrike" spc="-1" dirty="0" smtClean="0">
                <a:solidFill>
                  <a:srgbClr val="000000"/>
                </a:solidFill>
                <a:uFill>
                  <a:solidFill>
                    <a:srgbClr val="FFFFFF"/>
                  </a:solidFill>
                </a:uFill>
                <a:latin typeface="Times New Roman" pitchFamily="18" charset="0"/>
                <a:cs typeface="Times New Roman" pitchFamily="18" charset="0"/>
              </a:rPr>
              <a:t>extended as it allows only static representation.</a:t>
            </a:r>
          </a:p>
          <a:p>
            <a:pPr marL="432000" indent="-324000">
              <a:buClr>
                <a:srgbClr val="000000"/>
              </a:buClr>
              <a:buSzPct val="45000"/>
            </a:pPr>
            <a:endParaRPr lang="en-US" sz="2800" b="0" strike="noStrike" spc="-1" dirty="0">
              <a:solidFill>
                <a:srgbClr val="000000"/>
              </a:solidFill>
              <a:uFill>
                <a:solidFill>
                  <a:srgbClr val="FFFFFF"/>
                </a:solidFill>
              </a:uFill>
              <a:latin typeface="Times New Roman" pitchFamily="18" charset="0"/>
              <a:cs typeface="Times New Roman" pitchFamily="18" charset="0"/>
            </a:endParaRPr>
          </a:p>
          <a:p>
            <a:pPr marL="432000" indent="-324000">
              <a:buClr>
                <a:srgbClr val="000000"/>
              </a:buClr>
              <a:buSzPct val="45000"/>
              <a:buFont typeface="Wingdings" charset="2"/>
              <a:buChar char=""/>
            </a:pPr>
            <a:r>
              <a:rPr lang="en-US" sz="2800" b="0" strike="noStrike" spc="-1" dirty="0">
                <a:solidFill>
                  <a:srgbClr val="000000"/>
                </a:solidFill>
                <a:uFill>
                  <a:solidFill>
                    <a:srgbClr val="FFFFFF"/>
                  </a:solidFill>
                </a:uFill>
                <a:latin typeface="Times New Roman" pitchFamily="18" charset="0"/>
                <a:cs typeface="Times New Roman" pitchFamily="18" charset="0"/>
              </a:rPr>
              <a:t>Inserting / Deleting an element requires considerable amount of data movement in the </a:t>
            </a:r>
            <a:r>
              <a:rPr lang="en-US" sz="2800" b="0" strike="noStrike" spc="-1" dirty="0" smtClean="0">
                <a:solidFill>
                  <a:srgbClr val="000000"/>
                </a:solidFill>
                <a:uFill>
                  <a:solidFill>
                    <a:srgbClr val="FFFFFF"/>
                  </a:solidFill>
                </a:uFill>
                <a:latin typeface="Times New Roman" pitchFamily="18" charset="0"/>
                <a:cs typeface="Times New Roman" pitchFamily="18" charset="0"/>
              </a:rPr>
              <a:t>array. Thereby processing time is increased.</a:t>
            </a:r>
            <a:endParaRPr lang="en-US" sz="2800" b="0" strike="noStrike" spc="-1" dirty="0">
              <a:solidFill>
                <a:srgbClr val="000000"/>
              </a:solidFill>
              <a:uFill>
                <a:solidFill>
                  <a:srgbClr val="FFFFFF"/>
                </a:solidFill>
              </a:uFill>
              <a:latin typeface="Times New Roman" pitchFamily="18" charset="0"/>
              <a:cs typeface="Times New Roman" pitchFamily="18"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fontScale="90000"/>
          </a:bodyPr>
          <a:lstStyle/>
          <a:p>
            <a:r>
              <a:rPr lang="en-US" dirty="0" smtClean="0"/>
              <a:t>TUTORIAL 7</a:t>
            </a:r>
            <a:endParaRPr lang="en-US" dirty="0"/>
          </a:p>
        </p:txBody>
      </p:sp>
      <p:sp>
        <p:nvSpPr>
          <p:cNvPr id="3" name="Content Placeholder 2"/>
          <p:cNvSpPr>
            <a:spLocks noGrp="1"/>
          </p:cNvSpPr>
          <p:nvPr>
            <p:ph idx="1"/>
          </p:nvPr>
        </p:nvSpPr>
        <p:spPr>
          <a:xfrm>
            <a:off x="228600" y="838200"/>
            <a:ext cx="8915400" cy="6019800"/>
          </a:xfrm>
        </p:spPr>
        <p:txBody>
          <a:bodyPr/>
          <a:lstStyle/>
          <a:p>
            <a:pPr>
              <a:buNone/>
            </a:pPr>
            <a:r>
              <a:rPr lang="en-US" dirty="0" smtClean="0"/>
              <a:t>1.</a:t>
            </a:r>
            <a:r>
              <a:rPr lang="en-US" spc="-1" dirty="0" smtClean="0">
                <a:solidFill>
                  <a:srgbClr val="000000"/>
                </a:solidFill>
                <a:uFill>
                  <a:solidFill>
                    <a:srgbClr val="FFFFFF"/>
                  </a:solidFill>
                </a:uFill>
              </a:rPr>
              <a:t> Draw the tree structure</a:t>
            </a:r>
          </a:p>
          <a:p>
            <a:endParaRPr lang="en-US" dirty="0" smtClean="0"/>
          </a:p>
          <a:p>
            <a:pPr>
              <a:buNone/>
            </a:pPr>
            <a:endParaRPr lang="en-US" dirty="0" smtClean="0"/>
          </a:p>
          <a:p>
            <a:pPr>
              <a:buNone/>
            </a:pPr>
            <a:r>
              <a:rPr lang="en-US" spc="-1" dirty="0" smtClean="0">
                <a:solidFill>
                  <a:srgbClr val="000000"/>
                </a:solidFill>
                <a:uFill>
                  <a:solidFill>
                    <a:srgbClr val="FFFFFF"/>
                  </a:solidFill>
                </a:uFill>
              </a:rPr>
              <a:t>2.Represent the following tree as array representation.</a:t>
            </a:r>
          </a:p>
          <a:p>
            <a:endParaRPr lang="en-US" spc="-1" dirty="0" smtClean="0">
              <a:solidFill>
                <a:srgbClr val="000000"/>
              </a:solidFill>
              <a:uFill>
                <a:solidFill>
                  <a:srgbClr val="FFFFFF"/>
                </a:solidFill>
              </a:uFill>
            </a:endParaRPr>
          </a:p>
          <a:p>
            <a:endParaRPr lang="en-US" dirty="0"/>
          </a:p>
        </p:txBody>
      </p:sp>
      <p:pic>
        <p:nvPicPr>
          <p:cNvPr id="6" name="Picture 5" descr="Untitled.png"/>
          <p:cNvPicPr>
            <a:picLocks noChangeAspect="1"/>
          </p:cNvPicPr>
          <p:nvPr/>
        </p:nvPicPr>
        <p:blipFill>
          <a:blip r:embed="rId2" cstate="print"/>
          <a:stretch>
            <a:fillRect/>
          </a:stretch>
        </p:blipFill>
        <p:spPr>
          <a:xfrm>
            <a:off x="2209800" y="3657600"/>
            <a:ext cx="4191000" cy="2971800"/>
          </a:xfrm>
          <a:prstGeom prst="rect">
            <a:avLst/>
          </a:prstGeom>
        </p:spPr>
      </p:pic>
      <p:pic>
        <p:nvPicPr>
          <p:cNvPr id="7" name="Picture 6"/>
          <p:cNvPicPr/>
          <p:nvPr/>
        </p:nvPicPr>
        <p:blipFill>
          <a:blip r:embed="rId3" cstate="print"/>
          <a:stretch/>
        </p:blipFill>
        <p:spPr>
          <a:xfrm>
            <a:off x="990600" y="1371600"/>
            <a:ext cx="6895800" cy="1219200"/>
          </a:xfrm>
          <a:prstGeom prst="rect">
            <a:avLst/>
          </a:prstGeom>
          <a:ln>
            <a:noFill/>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spc="-1" dirty="0" smtClean="0">
                <a:solidFill>
                  <a:srgbClr val="000000"/>
                </a:solidFill>
                <a:uFill>
                  <a:solidFill>
                    <a:srgbClr val="FFFFFF"/>
                  </a:solidFill>
                </a:uFill>
                <a:latin typeface="Times New Roman" pitchFamily="18" charset="0"/>
                <a:cs typeface="Times New Roman" pitchFamily="18" charset="0"/>
              </a:rPr>
              <a:t>Implementation of BT using Array</a:t>
            </a:r>
            <a:br>
              <a:rPr lang="en-US" b="1" spc="-1" dirty="0" smtClean="0">
                <a:solidFill>
                  <a:srgbClr val="000000"/>
                </a:solidFill>
                <a:uFill>
                  <a:solidFill>
                    <a:srgbClr val="FFFFFF"/>
                  </a:solidFill>
                </a:uFill>
                <a:latin typeface="Times New Roman" pitchFamily="18" charset="0"/>
                <a:cs typeface="Times New Roman" pitchFamily="18" charset="0"/>
              </a:rPr>
            </a:br>
            <a:endParaRPr lang="en-US" dirty="0"/>
          </a:p>
        </p:txBody>
      </p:sp>
      <p:sp>
        <p:nvSpPr>
          <p:cNvPr id="3" name="Content Placeholder 2"/>
          <p:cNvSpPr>
            <a:spLocks noGrp="1"/>
          </p:cNvSpPr>
          <p:nvPr>
            <p:ph idx="1"/>
          </p:nvPr>
        </p:nvSpPr>
        <p:spPr>
          <a:xfrm>
            <a:off x="0" y="762000"/>
            <a:ext cx="8686800" cy="6096000"/>
          </a:xfrm>
        </p:spPr>
        <p:txBody>
          <a:bodyPr>
            <a:normAutofit/>
          </a:bodyPr>
          <a:lstStyle/>
          <a:p>
            <a:pPr>
              <a:buNone/>
            </a:pPr>
            <a:r>
              <a:rPr lang="en-US" sz="2200" dirty="0" smtClean="0">
                <a:solidFill>
                  <a:srgbClr val="C00000"/>
                </a:solidFill>
                <a:latin typeface="Times New Roman" panose="02020603050405020304" pitchFamily="18" charset="0"/>
                <a:cs typeface="Times New Roman" panose="02020603050405020304" pitchFamily="18" charset="0"/>
              </a:rPr>
              <a:t>Input: Index of </a:t>
            </a:r>
            <a:r>
              <a:rPr lang="en-US" sz="2200" dirty="0" err="1" smtClean="0">
                <a:solidFill>
                  <a:srgbClr val="C00000"/>
                </a:solidFill>
                <a:latin typeface="Times New Roman" panose="02020603050405020304" pitchFamily="18" charset="0"/>
                <a:cs typeface="Times New Roman" panose="02020603050405020304" pitchFamily="18" charset="0"/>
              </a:rPr>
              <a:t>array,i</a:t>
            </a:r>
            <a:r>
              <a:rPr lang="en-US" sz="2200" dirty="0" smtClean="0">
                <a:solidFill>
                  <a:srgbClr val="C00000"/>
                </a:solidFill>
                <a:latin typeface="Times New Roman" panose="02020603050405020304" pitchFamily="18" charset="0"/>
                <a:cs typeface="Times New Roman" panose="02020603050405020304" pitchFamily="18" charset="0"/>
              </a:rPr>
              <a:t>  and item where item is the data content of at </a:t>
            </a:r>
            <a:r>
              <a:rPr lang="en-US" sz="2200" dirty="0">
                <a:solidFill>
                  <a:srgbClr val="C00000"/>
                </a:solidFill>
                <a:latin typeface="Times New Roman" panose="02020603050405020304" pitchFamily="18" charset="0"/>
                <a:cs typeface="Times New Roman" panose="02020603050405020304" pitchFamily="18" charset="0"/>
              </a:rPr>
              <a:t>i</a:t>
            </a:r>
            <a:r>
              <a:rPr lang="en-US" sz="2200" dirty="0" smtClean="0">
                <a:solidFill>
                  <a:srgbClr val="C00000"/>
                </a:solidFill>
                <a:latin typeface="Times New Roman" panose="02020603050405020304" pitchFamily="18" charset="0"/>
                <a:cs typeface="Times New Roman" panose="02020603050405020304" pitchFamily="18" charset="0"/>
              </a:rPr>
              <a:t>.</a:t>
            </a:r>
          </a:p>
          <a:p>
            <a:pPr>
              <a:buNone/>
            </a:pPr>
            <a:r>
              <a:rPr lang="en-US" sz="2200" dirty="0" smtClean="0">
                <a:solidFill>
                  <a:srgbClr val="C00000"/>
                </a:solidFill>
                <a:latin typeface="Times New Roman" panose="02020603050405020304" pitchFamily="18" charset="0"/>
                <a:cs typeface="Times New Roman" panose="02020603050405020304" pitchFamily="18" charset="0"/>
              </a:rPr>
              <a:t>Output: A binary tree.</a:t>
            </a:r>
          </a:p>
          <a:p>
            <a:pPr>
              <a:buNone/>
            </a:pPr>
            <a:r>
              <a:rPr lang="en-US" sz="2200" dirty="0" smtClean="0">
                <a:solidFill>
                  <a:srgbClr val="C00000"/>
                </a:solidFill>
                <a:latin typeface="Times New Roman" panose="02020603050405020304" pitchFamily="18" charset="0"/>
                <a:cs typeface="Times New Roman" panose="02020603050405020304" pitchFamily="18" charset="0"/>
              </a:rPr>
              <a:t>Data Structure: Array Representation of tree.</a:t>
            </a:r>
          </a:p>
          <a:p>
            <a:pPr>
              <a:buNone/>
            </a:pPr>
            <a:r>
              <a:rPr lang="en-US" sz="2400" dirty="0" err="1" smtClean="0">
                <a:latin typeface="Times New Roman" panose="02020603050405020304" pitchFamily="18" charset="0"/>
                <a:cs typeface="Times New Roman" panose="02020603050405020304" pitchFamily="18" charset="0"/>
              </a:rPr>
              <a:t>BuikdTree</a:t>
            </a:r>
            <a:r>
              <a:rPr lang="en-US" sz="2400" dirty="0" smtClean="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err="1" smtClean="0">
                <a:latin typeface="Times New Roman" panose="02020603050405020304" pitchFamily="18" charset="0"/>
                <a:cs typeface="Times New Roman" panose="02020603050405020304" pitchFamily="18" charset="0"/>
              </a:rPr>
              <a:t>,item</a:t>
            </a:r>
            <a:r>
              <a:rPr lang="en-US" sz="2400" dirty="0" smtClean="0">
                <a:latin typeface="Times New Roman" panose="02020603050405020304" pitchFamily="18" charset="0"/>
                <a:cs typeface="Times New Roman" panose="02020603050405020304" pitchFamily="18" charset="0"/>
              </a:rPr>
              <a:t>)</a:t>
            </a:r>
          </a:p>
          <a:p>
            <a:pPr marL="457200" indent="-457200">
              <a:buAutoNum type="arabicPeriod"/>
            </a:pPr>
            <a:r>
              <a:rPr lang="en-US" sz="2400" dirty="0" smtClean="0">
                <a:latin typeface="Times New Roman" panose="02020603050405020304" pitchFamily="18" charset="0"/>
                <a:cs typeface="Times New Roman" panose="02020603050405020304" pitchFamily="18" charset="0"/>
              </a:rPr>
              <a:t>A[</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]=item</a:t>
            </a:r>
          </a:p>
          <a:p>
            <a:pPr marL="457200" indent="-457200">
              <a:buAutoNum type="arabicPeriod"/>
            </a:pPr>
            <a:r>
              <a:rPr lang="en-US" sz="2400" dirty="0" smtClean="0">
                <a:latin typeface="Times New Roman" panose="02020603050405020304" pitchFamily="18" charset="0"/>
                <a:cs typeface="Times New Roman" panose="02020603050405020304" pitchFamily="18" charset="0"/>
              </a:rPr>
              <a:t>Read the option whether item at </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has left child or not[Y/N].</a:t>
            </a:r>
          </a:p>
          <a:p>
            <a:pPr marL="457200" indent="-457200">
              <a:buAutoNum type="arabicPeriod"/>
            </a:pPr>
            <a:r>
              <a:rPr lang="en-US" sz="2400" dirty="0" smtClean="0">
                <a:latin typeface="Times New Roman" panose="02020603050405020304" pitchFamily="18" charset="0"/>
                <a:cs typeface="Times New Roman" panose="02020603050405020304" pitchFamily="18" charset="0"/>
              </a:rPr>
              <a:t>If option = Y then</a:t>
            </a:r>
          </a:p>
          <a:p>
            <a:pPr marL="857250" lvl="1" indent="-457200">
              <a:buAutoNum type="arabicPeriod"/>
            </a:pPr>
            <a:r>
              <a:rPr lang="en-US" sz="2400" dirty="0" smtClean="0">
                <a:latin typeface="Times New Roman" panose="02020603050405020304" pitchFamily="18" charset="0"/>
                <a:cs typeface="Times New Roman" panose="02020603050405020304" pitchFamily="18" charset="0"/>
              </a:rPr>
              <a:t>Read item to be inserted</a:t>
            </a:r>
          </a:p>
          <a:p>
            <a:pPr marL="857250" lvl="1" indent="-457200">
              <a:buAutoNum type="arabicPeriod"/>
            </a:pPr>
            <a:r>
              <a:rPr lang="en-US" sz="2400" dirty="0" smtClean="0">
                <a:latin typeface="Times New Roman" panose="02020603050405020304" pitchFamily="18" charset="0"/>
                <a:cs typeface="Times New Roman" panose="02020603050405020304" pitchFamily="18" charset="0"/>
              </a:rPr>
              <a:t>Call </a:t>
            </a:r>
            <a:r>
              <a:rPr lang="en-US" sz="2400" dirty="0" err="1" smtClean="0">
                <a:latin typeface="Times New Roman" panose="02020603050405020304" pitchFamily="18" charset="0"/>
                <a:cs typeface="Times New Roman" panose="02020603050405020304" pitchFamily="18" charset="0"/>
              </a:rPr>
              <a:t>BuildTree</a:t>
            </a:r>
            <a:r>
              <a:rPr lang="en-US" sz="2400" dirty="0" smtClean="0">
                <a:latin typeface="Times New Roman" panose="02020603050405020304" pitchFamily="18" charset="0"/>
                <a:cs typeface="Times New Roman" panose="02020603050405020304" pitchFamily="18" charset="0"/>
              </a:rPr>
              <a:t>(2*</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item)</a:t>
            </a:r>
          </a:p>
          <a:p>
            <a:pPr marL="457200" indent="-457200">
              <a:buAutoNum type="arabicPeriod"/>
            </a:pPr>
            <a:r>
              <a:rPr lang="en-US" sz="2400" dirty="0">
                <a:latin typeface="Times New Roman" panose="02020603050405020304" pitchFamily="18" charset="0"/>
                <a:cs typeface="Times New Roman" panose="02020603050405020304" pitchFamily="18" charset="0"/>
              </a:rPr>
              <a:t>Read the option whether item at </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has </a:t>
            </a:r>
            <a:r>
              <a:rPr lang="en-US" sz="2400" dirty="0" smtClean="0">
                <a:latin typeface="Times New Roman" panose="02020603050405020304" pitchFamily="18" charset="0"/>
                <a:cs typeface="Times New Roman" panose="02020603050405020304" pitchFamily="18" charset="0"/>
              </a:rPr>
              <a:t>right </a:t>
            </a:r>
            <a:r>
              <a:rPr lang="en-US" sz="2400" dirty="0">
                <a:latin typeface="Times New Roman" panose="02020603050405020304" pitchFamily="18" charset="0"/>
                <a:cs typeface="Times New Roman" panose="02020603050405020304" pitchFamily="18" charset="0"/>
              </a:rPr>
              <a:t>child or not[Y/N].</a:t>
            </a:r>
          </a:p>
          <a:p>
            <a:pPr marL="457200" indent="-457200">
              <a:buAutoNum type="arabicPeriod"/>
            </a:pPr>
            <a:r>
              <a:rPr lang="en-US" sz="2400" dirty="0">
                <a:latin typeface="Times New Roman" panose="02020603050405020304" pitchFamily="18" charset="0"/>
                <a:cs typeface="Times New Roman" panose="02020603050405020304" pitchFamily="18" charset="0"/>
              </a:rPr>
              <a:t>If option = Y </a:t>
            </a:r>
            <a:r>
              <a:rPr lang="en-US" sz="2400" dirty="0" smtClean="0">
                <a:latin typeface="Times New Roman" panose="02020603050405020304" pitchFamily="18" charset="0"/>
                <a:cs typeface="Times New Roman" panose="02020603050405020304" pitchFamily="18" charset="0"/>
              </a:rPr>
              <a:t>then</a:t>
            </a:r>
          </a:p>
          <a:p>
            <a:pPr marL="857250" lvl="1" indent="-457200">
              <a:buAutoNum type="arabicPeriod"/>
            </a:pPr>
            <a:r>
              <a:rPr lang="en-US" sz="2400" dirty="0">
                <a:latin typeface="Times New Roman" panose="02020603050405020304" pitchFamily="18" charset="0"/>
                <a:cs typeface="Times New Roman" panose="02020603050405020304" pitchFamily="18" charset="0"/>
              </a:rPr>
              <a:t>Read item to be inserted</a:t>
            </a:r>
          </a:p>
          <a:p>
            <a:pPr marL="857250" lvl="1" indent="-457200">
              <a:buAutoNum type="arabicPeriod"/>
            </a:pPr>
            <a:r>
              <a:rPr lang="en-US" sz="2400" dirty="0">
                <a:latin typeface="Times New Roman" panose="02020603050405020304" pitchFamily="18" charset="0"/>
                <a:cs typeface="Times New Roman" panose="02020603050405020304" pitchFamily="18" charset="0"/>
              </a:rPr>
              <a:t>Call </a:t>
            </a:r>
            <a:r>
              <a:rPr lang="en-US" sz="2400" dirty="0" err="1" smtClean="0">
                <a:latin typeface="Times New Roman" panose="02020603050405020304" pitchFamily="18" charset="0"/>
                <a:cs typeface="Times New Roman" panose="02020603050405020304" pitchFamily="18" charset="0"/>
              </a:rPr>
              <a:t>BuildTree</a:t>
            </a:r>
            <a:r>
              <a:rPr lang="en-US" sz="2400" dirty="0" smtClean="0">
                <a:latin typeface="Times New Roman" panose="02020603050405020304" pitchFamily="18" charset="0"/>
                <a:cs typeface="Times New Roman" panose="02020603050405020304" pitchFamily="18" charset="0"/>
              </a:rPr>
              <a:t>(2*i+1, </a:t>
            </a:r>
            <a:r>
              <a:rPr lang="en-US" sz="2400" dirty="0">
                <a:latin typeface="Times New Roman" panose="02020603050405020304" pitchFamily="18" charset="0"/>
                <a:cs typeface="Times New Roman" panose="02020603050405020304" pitchFamily="18" charset="0"/>
              </a:rPr>
              <a:t>item)</a:t>
            </a:r>
          </a:p>
          <a:p>
            <a:pPr marL="457200" indent="-457200">
              <a:buAutoNum type="arabicPeriod"/>
            </a:pPr>
            <a:endParaRPr lang="en-US" sz="2000" dirty="0">
              <a:solidFill>
                <a:srgbClr val="C00000"/>
              </a:solidFill>
            </a:endParaRPr>
          </a:p>
          <a:p>
            <a:pPr marL="457200" indent="-457200">
              <a:buAutoNum type="arabicPeriod"/>
            </a:pPr>
            <a:endParaRPr lang="en-US" sz="2000" dirty="0" smtClean="0">
              <a:solidFill>
                <a:srgbClr val="C00000"/>
              </a:solidFill>
            </a:endParaRPr>
          </a:p>
          <a:p>
            <a:pPr marL="457200" indent="-457200">
              <a:buAutoNum type="arabicPeriod"/>
            </a:pPr>
            <a:endParaRPr lang="en-US" sz="2000" dirty="0" smtClean="0">
              <a:solidFill>
                <a:srgbClr val="C00000"/>
              </a:solidFill>
            </a:endParaRPr>
          </a:p>
          <a:p>
            <a:pPr>
              <a:buNone/>
            </a:pPr>
            <a:endParaRPr lang="en-US" sz="2000" dirty="0" smtClean="0">
              <a:solidFill>
                <a:srgbClr val="C00000"/>
              </a:solidFill>
            </a:endParaRPr>
          </a:p>
          <a:p>
            <a:endParaRPr lang="en-US" sz="2000" dirty="0" smtClean="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Binary Tree Operations using Array Representation</a:t>
            </a:r>
            <a:endParaRPr lang="en-US" dirty="0"/>
          </a:p>
        </p:txBody>
      </p:sp>
      <p:sp>
        <p:nvSpPr>
          <p:cNvPr id="3" name="Content Placeholder 2"/>
          <p:cNvSpPr>
            <a:spLocks noGrp="1"/>
          </p:cNvSpPr>
          <p:nvPr>
            <p:ph idx="1"/>
          </p:nvPr>
        </p:nvSpPr>
        <p:spPr/>
        <p:txBody>
          <a:bodyPr/>
          <a:lstStyle/>
          <a:p>
            <a:r>
              <a:rPr lang="en-US" dirty="0" smtClean="0"/>
              <a:t>Insertion </a:t>
            </a:r>
          </a:p>
          <a:p>
            <a:r>
              <a:rPr lang="en-US" dirty="0" smtClean="0"/>
              <a:t>Deletion</a:t>
            </a:r>
          </a:p>
          <a:p>
            <a:r>
              <a:rPr lang="en-US" dirty="0" smtClean="0"/>
              <a:t>Searching</a:t>
            </a:r>
          </a:p>
          <a:p>
            <a:pPr marL="0" indent="0">
              <a:buNone/>
            </a:pPr>
            <a:endParaRPr lang="en-US" dirty="0"/>
          </a:p>
        </p:txBody>
      </p:sp>
    </p:spTree>
    <p:extLst>
      <p:ext uri="{BB962C8B-B14F-4D97-AF65-F5344CB8AC3E}">
        <p14:creationId xmlns:p14="http://schemas.microsoft.com/office/powerpoint/2010/main" val="173498584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762000"/>
          </a:xfrm>
        </p:spPr>
        <p:txBody>
          <a:bodyPr>
            <a:noAutofit/>
          </a:bodyPr>
          <a:lstStyle/>
          <a:p>
            <a:r>
              <a:rPr lang="en-GB" sz="3200" dirty="0" smtClean="0"/>
              <a:t>Insertion To BT using Array (or Insertion to sequential representation of BT)</a:t>
            </a:r>
            <a:endParaRPr lang="en-GB" sz="3200" dirty="0"/>
          </a:p>
        </p:txBody>
      </p:sp>
      <p:sp>
        <p:nvSpPr>
          <p:cNvPr id="3" name="Content Placeholder 2"/>
          <p:cNvSpPr>
            <a:spLocks noGrp="1"/>
          </p:cNvSpPr>
          <p:nvPr>
            <p:ph idx="1"/>
          </p:nvPr>
        </p:nvSpPr>
        <p:spPr>
          <a:xfrm>
            <a:off x="31845" y="402609"/>
            <a:ext cx="8686800" cy="5943600"/>
          </a:xfrm>
        </p:spPr>
        <p:txBody>
          <a:bodyPr>
            <a:noAutofit/>
          </a:bodyPr>
          <a:lstStyle/>
          <a:p>
            <a:pPr>
              <a:buNone/>
            </a:pPr>
            <a:r>
              <a:rPr lang="en-GB" sz="1600" b="1" u="sng" dirty="0" err="1" smtClean="0"/>
              <a:t>Insert_seq</a:t>
            </a:r>
            <a:r>
              <a:rPr lang="en-GB" sz="1600" b="1" u="sng" dirty="0" smtClean="0"/>
              <a:t>(</a:t>
            </a:r>
            <a:r>
              <a:rPr lang="en-GB" sz="1600" b="1" u="sng" dirty="0" err="1" smtClean="0"/>
              <a:t>key,item</a:t>
            </a:r>
            <a:r>
              <a:rPr lang="en-GB" sz="1600" b="1" u="sng" dirty="0" smtClean="0"/>
              <a:t>)</a:t>
            </a:r>
          </a:p>
          <a:p>
            <a:pPr>
              <a:buNone/>
            </a:pPr>
            <a:r>
              <a:rPr lang="en-GB" sz="1600" dirty="0" smtClean="0"/>
              <a:t>1.  </a:t>
            </a:r>
            <a:r>
              <a:rPr lang="en-GB" sz="1600" dirty="0" err="1" smtClean="0"/>
              <a:t>search_seq</a:t>
            </a:r>
            <a:r>
              <a:rPr lang="en-GB" sz="1600" dirty="0" smtClean="0"/>
              <a:t>(1,key)</a:t>
            </a:r>
          </a:p>
          <a:p>
            <a:pPr>
              <a:buNone/>
            </a:pPr>
            <a:r>
              <a:rPr lang="en-GB" sz="1600" dirty="0" smtClean="0"/>
              <a:t>2.  </a:t>
            </a:r>
            <a:r>
              <a:rPr lang="en-GB" sz="1600" dirty="0" err="1" smtClean="0"/>
              <a:t>i</a:t>
            </a:r>
            <a:r>
              <a:rPr lang="en-GB" sz="1600" dirty="0" smtClean="0"/>
              <a:t>=</a:t>
            </a:r>
            <a:r>
              <a:rPr lang="en-GB" sz="1600" dirty="0" err="1" smtClean="0"/>
              <a:t>ret_ser</a:t>
            </a:r>
            <a:r>
              <a:rPr lang="en-GB" sz="1600" dirty="0" smtClean="0"/>
              <a:t>  </a:t>
            </a:r>
          </a:p>
          <a:p>
            <a:pPr>
              <a:buNone/>
            </a:pPr>
            <a:r>
              <a:rPr lang="en-GB" sz="1600" dirty="0" smtClean="0"/>
              <a:t>3.  if(i==0) then</a:t>
            </a:r>
          </a:p>
          <a:p>
            <a:pPr>
              <a:buNone/>
            </a:pPr>
            <a:r>
              <a:rPr lang="en-GB" sz="1600" dirty="0" smtClean="0"/>
              <a:t>            3.1  </a:t>
            </a:r>
            <a:r>
              <a:rPr lang="en-GB" sz="1600" dirty="0"/>
              <a:t>D</a:t>
            </a:r>
            <a:r>
              <a:rPr lang="en-GB" sz="1600" dirty="0" smtClean="0"/>
              <a:t>isplay Search Unsuccessful</a:t>
            </a:r>
          </a:p>
          <a:p>
            <a:pPr>
              <a:buNone/>
            </a:pPr>
            <a:r>
              <a:rPr lang="en-GB" sz="1600" dirty="0" smtClean="0"/>
              <a:t>4. else</a:t>
            </a:r>
          </a:p>
          <a:p>
            <a:pPr>
              <a:buNone/>
            </a:pPr>
            <a:r>
              <a:rPr lang="en-GB" sz="1600" dirty="0" smtClean="0"/>
              <a:t>        4.1. if((a[2*</a:t>
            </a:r>
            <a:r>
              <a:rPr lang="en-GB" sz="1600" dirty="0" err="1" smtClean="0"/>
              <a:t>i</a:t>
            </a:r>
            <a:r>
              <a:rPr lang="en-GB" sz="1600" dirty="0" smtClean="0"/>
              <a:t>]==0)||(a[2*i+1]==0)) then</a:t>
            </a:r>
          </a:p>
          <a:p>
            <a:pPr>
              <a:buNone/>
            </a:pPr>
            <a:r>
              <a:rPr lang="en-GB" sz="1600" dirty="0" smtClean="0"/>
              <a:t>                4.1.1. </a:t>
            </a:r>
            <a:r>
              <a:rPr lang="en-US" sz="1600" dirty="0" smtClean="0"/>
              <a:t>read option to insert as </a:t>
            </a:r>
            <a:r>
              <a:rPr lang="en-US" sz="1600" dirty="0" err="1" smtClean="0"/>
              <a:t>lChild</a:t>
            </a:r>
            <a:r>
              <a:rPr lang="en-US" sz="1600" dirty="0" smtClean="0"/>
              <a:t> or </a:t>
            </a:r>
            <a:r>
              <a:rPr lang="en-US" sz="1600" dirty="0" err="1" smtClean="0"/>
              <a:t>RChild</a:t>
            </a:r>
            <a:r>
              <a:rPr lang="en-US" sz="1600" dirty="0" smtClean="0"/>
              <a:t>?</a:t>
            </a:r>
            <a:endParaRPr lang="en-GB" sz="1600" dirty="0" smtClean="0"/>
          </a:p>
          <a:p>
            <a:pPr>
              <a:buNone/>
            </a:pPr>
            <a:r>
              <a:rPr lang="en-GB" sz="1600" dirty="0" smtClean="0"/>
              <a:t>                4.1.2. if(opt==1) then</a:t>
            </a:r>
          </a:p>
          <a:p>
            <a:pPr>
              <a:buNone/>
            </a:pPr>
            <a:r>
              <a:rPr lang="en-GB" sz="1600" dirty="0" smtClean="0"/>
              <a:t>                      a.  if(a[2*</a:t>
            </a:r>
            <a:r>
              <a:rPr lang="en-GB" sz="1600" dirty="0" err="1" smtClean="0"/>
              <a:t>i</a:t>
            </a:r>
            <a:r>
              <a:rPr lang="en-GB" sz="1600" dirty="0" smtClean="0"/>
              <a:t>]==0) then</a:t>
            </a:r>
          </a:p>
          <a:p>
            <a:pPr>
              <a:buNone/>
            </a:pPr>
            <a:r>
              <a:rPr lang="en-GB" sz="1600" dirty="0" smtClean="0"/>
              <a:t>                                 1. a[2*</a:t>
            </a:r>
            <a:r>
              <a:rPr lang="en-GB" sz="1600" dirty="0" err="1" smtClean="0"/>
              <a:t>i</a:t>
            </a:r>
            <a:r>
              <a:rPr lang="en-GB" sz="1600" dirty="0" smtClean="0"/>
              <a:t>]=item</a:t>
            </a:r>
          </a:p>
          <a:p>
            <a:pPr>
              <a:buNone/>
            </a:pPr>
            <a:r>
              <a:rPr lang="en-GB" sz="1600" dirty="0" smtClean="0"/>
              <a:t>                      b. else</a:t>
            </a:r>
          </a:p>
          <a:p>
            <a:pPr>
              <a:buNone/>
            </a:pPr>
            <a:r>
              <a:rPr lang="en-GB" sz="1600" dirty="0" smtClean="0"/>
              <a:t>                                 1. Display insertion not possible as left child</a:t>
            </a:r>
          </a:p>
          <a:p>
            <a:pPr>
              <a:buNone/>
            </a:pPr>
            <a:r>
              <a:rPr lang="en-GB" sz="1600" dirty="0" smtClean="0"/>
              <a:t>                 4.1.3. else</a:t>
            </a:r>
          </a:p>
          <a:p>
            <a:pPr>
              <a:buNone/>
            </a:pPr>
            <a:r>
              <a:rPr lang="en-GB" sz="1600" dirty="0" smtClean="0"/>
              <a:t>                         a.  if(a[2*i+1]==0) then</a:t>
            </a:r>
          </a:p>
          <a:p>
            <a:pPr>
              <a:buNone/>
            </a:pPr>
            <a:r>
              <a:rPr lang="en-GB" sz="1600" dirty="0" smtClean="0"/>
              <a:t>                                 1. a[2*i+1]=item</a:t>
            </a:r>
          </a:p>
          <a:p>
            <a:pPr>
              <a:buNone/>
            </a:pPr>
            <a:r>
              <a:rPr lang="en-GB" sz="1600" dirty="0" smtClean="0"/>
              <a:t>                         b. else</a:t>
            </a:r>
          </a:p>
          <a:p>
            <a:pPr>
              <a:buNone/>
            </a:pPr>
            <a:r>
              <a:rPr lang="en-GB" sz="1600" dirty="0" smtClean="0"/>
              <a:t>                                 1. Display insertion not possible as right child </a:t>
            </a:r>
          </a:p>
          <a:p>
            <a:pPr>
              <a:buNone/>
            </a:pPr>
            <a:r>
              <a:rPr lang="en-GB" sz="1600" dirty="0" smtClean="0"/>
              <a:t>        4.2 else</a:t>
            </a:r>
          </a:p>
          <a:p>
            <a:pPr>
              <a:buNone/>
            </a:pPr>
            <a:r>
              <a:rPr lang="en-GB" sz="1600" dirty="0" smtClean="0"/>
              <a:t>		   Display insertion not possible as leaf node.</a:t>
            </a:r>
            <a:endParaRPr lang="en-GB" sz="1600" dirty="0"/>
          </a:p>
        </p:txBody>
      </p:sp>
    </p:spTree>
    <p:extLst>
      <p:ext uri="{BB962C8B-B14F-4D97-AF65-F5344CB8AC3E}">
        <p14:creationId xmlns:p14="http://schemas.microsoft.com/office/powerpoint/2010/main" val="74557164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smtClean="0"/>
              <a:t>Search Operation in array </a:t>
            </a:r>
            <a:r>
              <a:rPr lang="en-US" dirty="0" err="1" smtClean="0"/>
              <a:t>repr</a:t>
            </a:r>
            <a:endParaRPr lang="en-US" dirty="0" smtClean="0"/>
          </a:p>
        </p:txBody>
      </p:sp>
      <p:sp>
        <p:nvSpPr>
          <p:cNvPr id="16387" name="Rectangle 3"/>
          <p:cNvSpPr>
            <a:spLocks noChangeArrowheads="1"/>
          </p:cNvSpPr>
          <p:nvPr/>
        </p:nvSpPr>
        <p:spPr bwMode="auto">
          <a:xfrm>
            <a:off x="533400" y="2286000"/>
            <a:ext cx="6629400" cy="4524315"/>
          </a:xfrm>
          <a:prstGeom prst="rect">
            <a:avLst/>
          </a:prstGeom>
          <a:noFill/>
          <a:ln w="9525">
            <a:noFill/>
            <a:miter lim="800000"/>
            <a:headEnd/>
            <a:tailEnd/>
          </a:ln>
        </p:spPr>
        <p:txBody>
          <a:bodyPr>
            <a:spAutoFit/>
          </a:bodyPr>
          <a:lstStyle/>
          <a:p>
            <a:r>
              <a:rPr lang="en-US" b="1" u="sng" dirty="0"/>
              <a:t>Algorithm </a:t>
            </a:r>
            <a:r>
              <a:rPr lang="en-US" b="1" u="sng" dirty="0" err="1" smtClean="0"/>
              <a:t>search_seq</a:t>
            </a:r>
            <a:r>
              <a:rPr lang="en-US" b="1" u="sng" dirty="0" smtClean="0"/>
              <a:t>(</a:t>
            </a:r>
            <a:r>
              <a:rPr lang="en-US" b="1" u="sng" dirty="0" err="1" smtClean="0"/>
              <a:t>i,key</a:t>
            </a:r>
            <a:r>
              <a:rPr lang="en-US" b="1" u="sng" dirty="0" smtClean="0"/>
              <a:t>)</a:t>
            </a:r>
            <a:endParaRPr lang="en-US" b="1" u="sng" dirty="0"/>
          </a:p>
          <a:p>
            <a:endParaRPr lang="en-US" dirty="0"/>
          </a:p>
          <a:p>
            <a:r>
              <a:rPr lang="en-US" dirty="0"/>
              <a:t>1. </a:t>
            </a:r>
            <a:r>
              <a:rPr lang="en-US" dirty="0" smtClean="0"/>
              <a:t>if(flag</a:t>
            </a:r>
            <a:r>
              <a:rPr lang="en-US" dirty="0"/>
              <a:t>==</a:t>
            </a:r>
            <a:r>
              <a:rPr lang="en-US" dirty="0" smtClean="0"/>
              <a:t>0)</a:t>
            </a:r>
            <a:endParaRPr lang="en-US" dirty="0"/>
          </a:p>
          <a:p>
            <a:r>
              <a:rPr lang="en-US" dirty="0"/>
              <a:t> </a:t>
            </a:r>
            <a:r>
              <a:rPr lang="en-US" dirty="0" smtClean="0"/>
              <a:t>       1.1  if(a[i]==key)</a:t>
            </a:r>
            <a:endParaRPr lang="en-US" dirty="0"/>
          </a:p>
          <a:p>
            <a:r>
              <a:rPr lang="en-US" dirty="0"/>
              <a:t>                     </a:t>
            </a:r>
            <a:r>
              <a:rPr lang="en-US" dirty="0" smtClean="0"/>
              <a:t>1.1.1  flag=1</a:t>
            </a:r>
            <a:r>
              <a:rPr lang="en-US" dirty="0"/>
              <a:t>;</a:t>
            </a:r>
          </a:p>
          <a:p>
            <a:r>
              <a:rPr lang="en-US" dirty="0"/>
              <a:t>                     </a:t>
            </a:r>
            <a:r>
              <a:rPr lang="en-US" dirty="0" smtClean="0"/>
              <a:t>1.1.2  </a:t>
            </a:r>
            <a:r>
              <a:rPr lang="en-US" dirty="0" err="1" smtClean="0"/>
              <a:t>ret_ser</a:t>
            </a:r>
            <a:r>
              <a:rPr lang="en-US" dirty="0" smtClean="0"/>
              <a:t>=i;</a:t>
            </a:r>
            <a:endParaRPr lang="en-US" dirty="0"/>
          </a:p>
          <a:p>
            <a:r>
              <a:rPr lang="en-US" dirty="0"/>
              <a:t>       </a:t>
            </a:r>
            <a:r>
              <a:rPr lang="en-US" dirty="0" smtClean="0"/>
              <a:t> 1.2 else</a:t>
            </a:r>
          </a:p>
          <a:p>
            <a:r>
              <a:rPr lang="en-US" dirty="0" smtClean="0"/>
              <a:t>              1.2.1  if(2*i&lt;=size) then</a:t>
            </a:r>
            <a:endParaRPr lang="en-US" dirty="0"/>
          </a:p>
          <a:p>
            <a:r>
              <a:rPr lang="en-US" dirty="0"/>
              <a:t>              </a:t>
            </a:r>
            <a:r>
              <a:rPr lang="en-US" dirty="0" smtClean="0"/>
              <a:t>      	 </a:t>
            </a:r>
            <a:r>
              <a:rPr lang="en-US" dirty="0" err="1" smtClean="0"/>
              <a:t>search_seq</a:t>
            </a:r>
            <a:r>
              <a:rPr lang="en-US" dirty="0" smtClean="0"/>
              <a:t>(2*</a:t>
            </a:r>
            <a:r>
              <a:rPr lang="en-US" dirty="0" err="1" smtClean="0"/>
              <a:t>i,key</a:t>
            </a:r>
            <a:r>
              <a:rPr lang="en-US" dirty="0" smtClean="0"/>
              <a:t>);</a:t>
            </a:r>
          </a:p>
          <a:p>
            <a:r>
              <a:rPr lang="en-US" dirty="0" smtClean="0"/>
              <a:t>              1.2.2  if(2*i+1&lt;=size) then</a:t>
            </a:r>
            <a:endParaRPr lang="en-US" dirty="0"/>
          </a:p>
          <a:p>
            <a:r>
              <a:rPr lang="en-US" dirty="0"/>
              <a:t>                    	</a:t>
            </a:r>
            <a:r>
              <a:rPr lang="en-US" dirty="0" err="1" smtClean="0"/>
              <a:t>search_seq</a:t>
            </a:r>
            <a:r>
              <a:rPr lang="en-US" dirty="0" smtClean="0"/>
              <a:t>(2*i+1,key);</a:t>
            </a:r>
            <a:endParaRPr lang="en-US" dirty="0"/>
          </a:p>
          <a:p>
            <a:r>
              <a:rPr lang="en-US" dirty="0"/>
              <a:t>       </a:t>
            </a:r>
            <a:r>
              <a:rPr lang="en-US" dirty="0" smtClean="0"/>
              <a:t>1.3 </a:t>
            </a:r>
            <a:r>
              <a:rPr lang="en-US" dirty="0"/>
              <a:t>End if</a:t>
            </a:r>
          </a:p>
          <a:p>
            <a:r>
              <a:rPr lang="en-US" dirty="0"/>
              <a:t>2</a:t>
            </a:r>
            <a:r>
              <a:rPr lang="en-US" dirty="0" smtClean="0"/>
              <a:t>.End </a:t>
            </a:r>
            <a:r>
              <a:rPr lang="en-US" dirty="0"/>
              <a:t>if </a:t>
            </a:r>
          </a:p>
          <a:p>
            <a:r>
              <a:rPr lang="en-US" dirty="0" smtClean="0"/>
              <a:t>3.Stop</a:t>
            </a:r>
            <a:endParaRPr lang="en-US" dirty="0"/>
          </a:p>
          <a:p>
            <a:r>
              <a:rPr lang="en-US" dirty="0"/>
              <a:t> </a:t>
            </a:r>
          </a:p>
          <a:p>
            <a:endParaRPr lang="en-US" dirty="0"/>
          </a:p>
        </p:txBody>
      </p:sp>
      <p:sp>
        <p:nvSpPr>
          <p:cNvPr id="16388" name="TextBox 4"/>
          <p:cNvSpPr txBox="1">
            <a:spLocks noChangeArrowheads="1"/>
          </p:cNvSpPr>
          <p:nvPr/>
        </p:nvSpPr>
        <p:spPr bwMode="auto">
          <a:xfrm>
            <a:off x="152400" y="1371600"/>
            <a:ext cx="8991600" cy="830997"/>
          </a:xfrm>
          <a:prstGeom prst="rect">
            <a:avLst/>
          </a:prstGeom>
          <a:noFill/>
          <a:ln w="9525">
            <a:noFill/>
            <a:miter lim="800000"/>
            <a:headEnd/>
            <a:tailEnd/>
          </a:ln>
        </p:spPr>
        <p:txBody>
          <a:bodyPr>
            <a:spAutoFit/>
          </a:bodyPr>
          <a:lstStyle/>
          <a:p>
            <a:r>
              <a:rPr lang="en-US" sz="1600" b="1" dirty="0"/>
              <a:t>Assume global variable </a:t>
            </a:r>
            <a:r>
              <a:rPr lang="en-US" sz="1600" b="1" dirty="0" err="1"/>
              <a:t>int</a:t>
            </a:r>
            <a:r>
              <a:rPr lang="en-US" sz="1600" b="1" dirty="0"/>
              <a:t>  flag=0 and </a:t>
            </a:r>
            <a:r>
              <a:rPr lang="en-US" sz="1600" b="1" dirty="0" err="1" smtClean="0"/>
              <a:t>int</a:t>
            </a:r>
            <a:r>
              <a:rPr lang="en-US" sz="1600" b="1" dirty="0" smtClean="0"/>
              <a:t> </a:t>
            </a:r>
            <a:r>
              <a:rPr lang="en-US" sz="1600" b="1" dirty="0" err="1" smtClean="0"/>
              <a:t>ret_ser</a:t>
            </a:r>
            <a:r>
              <a:rPr lang="en-US" sz="1600" b="1" dirty="0" smtClean="0"/>
              <a:t>=0 </a:t>
            </a:r>
            <a:endParaRPr lang="en-US" sz="1600" b="1" dirty="0"/>
          </a:p>
          <a:p>
            <a:r>
              <a:rPr lang="en-US" sz="1600" b="1" dirty="0" err="1" smtClean="0"/>
              <a:t>ret_ser</a:t>
            </a:r>
            <a:r>
              <a:rPr lang="en-US" sz="1600" b="1" dirty="0" smtClean="0"/>
              <a:t>=index where element is located in array, size= max size of array, key is the data of node to be searched for.</a:t>
            </a:r>
            <a:endParaRPr lang="en-US" sz="1600" b="1" dirty="0"/>
          </a:p>
        </p:txBody>
      </p:sp>
      <p:cxnSp>
        <p:nvCxnSpPr>
          <p:cNvPr id="6" name="Straight Connector 5"/>
          <p:cNvCxnSpPr/>
          <p:nvPr/>
        </p:nvCxnSpPr>
        <p:spPr>
          <a:xfrm>
            <a:off x="0" y="1143000"/>
            <a:ext cx="9144000" cy="762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189392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458200" cy="868362"/>
          </a:xfrm>
        </p:spPr>
        <p:txBody>
          <a:bodyPr>
            <a:normAutofit/>
          </a:bodyPr>
          <a:lstStyle/>
          <a:p>
            <a:r>
              <a:rPr lang="en-GB" sz="3200" dirty="0" smtClean="0"/>
              <a:t>Deletion in array/sequential representation of BT</a:t>
            </a:r>
            <a:endParaRPr lang="en-GB" sz="3200" dirty="0"/>
          </a:p>
        </p:txBody>
      </p:sp>
      <p:sp>
        <p:nvSpPr>
          <p:cNvPr id="3" name="Content Placeholder 2"/>
          <p:cNvSpPr>
            <a:spLocks noGrp="1"/>
          </p:cNvSpPr>
          <p:nvPr>
            <p:ph idx="1"/>
          </p:nvPr>
        </p:nvSpPr>
        <p:spPr>
          <a:xfrm>
            <a:off x="152400" y="1600200"/>
            <a:ext cx="8534400" cy="4953000"/>
          </a:xfrm>
        </p:spPr>
        <p:txBody>
          <a:bodyPr>
            <a:normAutofit fontScale="70000" lnSpcReduction="20000"/>
          </a:bodyPr>
          <a:lstStyle/>
          <a:p>
            <a:pPr>
              <a:buNone/>
            </a:pPr>
            <a:r>
              <a:rPr lang="en-GB" b="1" u="sng" dirty="0" err="1" smtClean="0"/>
              <a:t>delete_seq</a:t>
            </a:r>
            <a:r>
              <a:rPr lang="en-GB" b="1" u="sng" dirty="0" smtClean="0"/>
              <a:t>(item)</a:t>
            </a:r>
          </a:p>
          <a:p>
            <a:pPr>
              <a:buNone/>
            </a:pPr>
            <a:r>
              <a:rPr lang="en-GB" dirty="0" smtClean="0"/>
              <a:t>1. </a:t>
            </a:r>
            <a:r>
              <a:rPr lang="en-GB" dirty="0" err="1" smtClean="0"/>
              <a:t>search_seq</a:t>
            </a:r>
            <a:r>
              <a:rPr lang="en-GB" dirty="0" smtClean="0"/>
              <a:t>(1,item);</a:t>
            </a:r>
          </a:p>
          <a:p>
            <a:pPr marL="514350" indent="-514350">
              <a:buNone/>
            </a:pPr>
            <a:r>
              <a:rPr lang="en-GB" dirty="0" smtClean="0"/>
              <a:t>2. </a:t>
            </a:r>
            <a:r>
              <a:rPr lang="en-GB" dirty="0" err="1" smtClean="0"/>
              <a:t>i</a:t>
            </a:r>
            <a:r>
              <a:rPr lang="en-GB" dirty="0" smtClean="0"/>
              <a:t>=</a:t>
            </a:r>
            <a:r>
              <a:rPr lang="en-GB" dirty="0" err="1" smtClean="0"/>
              <a:t>ret_ser</a:t>
            </a:r>
            <a:r>
              <a:rPr lang="en-GB" dirty="0" smtClean="0"/>
              <a:t>;</a:t>
            </a:r>
          </a:p>
          <a:p>
            <a:pPr marL="514350" indent="-514350">
              <a:buNone/>
            </a:pPr>
            <a:r>
              <a:rPr lang="en-GB" dirty="0" smtClean="0"/>
              <a:t>3. if(</a:t>
            </a:r>
            <a:r>
              <a:rPr lang="en-GB" dirty="0" err="1" smtClean="0"/>
              <a:t>i</a:t>
            </a:r>
            <a:r>
              <a:rPr lang="en-GB" dirty="0" smtClean="0"/>
              <a:t>==0) then</a:t>
            </a:r>
          </a:p>
          <a:p>
            <a:pPr>
              <a:buNone/>
            </a:pPr>
            <a:r>
              <a:rPr lang="en-GB" dirty="0" smtClean="0"/>
              <a:t>         3.1 </a:t>
            </a:r>
            <a:r>
              <a:rPr lang="en-GB" dirty="0"/>
              <a:t>D</a:t>
            </a:r>
            <a:r>
              <a:rPr lang="en-GB" dirty="0" smtClean="0"/>
              <a:t>isplay no such data in tree</a:t>
            </a:r>
          </a:p>
          <a:p>
            <a:pPr>
              <a:buNone/>
            </a:pPr>
            <a:r>
              <a:rPr lang="en-GB" dirty="0" smtClean="0"/>
              <a:t>4. else</a:t>
            </a:r>
          </a:p>
          <a:p>
            <a:pPr>
              <a:buNone/>
            </a:pPr>
            <a:r>
              <a:rPr lang="en-GB" dirty="0" smtClean="0"/>
              <a:t>      4.1  if(a[2*i]==0&amp;&amp;a[2*i+1]==0) then </a:t>
            </a:r>
          </a:p>
          <a:p>
            <a:pPr>
              <a:buNone/>
            </a:pPr>
            <a:r>
              <a:rPr lang="en-GB" dirty="0" smtClean="0"/>
              <a:t>                       a[i]=0;</a:t>
            </a:r>
          </a:p>
          <a:p>
            <a:pPr>
              <a:buNone/>
            </a:pPr>
            <a:r>
              <a:rPr lang="en-GB" dirty="0" smtClean="0"/>
              <a:t>      4.2  else</a:t>
            </a:r>
          </a:p>
          <a:p>
            <a:pPr>
              <a:buNone/>
            </a:pPr>
            <a:r>
              <a:rPr lang="en-GB" dirty="0" smtClean="0"/>
              <a:t>             	    Display deletion not possible as leaf node</a:t>
            </a:r>
          </a:p>
          <a:p>
            <a:pPr>
              <a:buNone/>
            </a:pPr>
            <a:r>
              <a:rPr lang="en-GB" dirty="0" smtClean="0"/>
              <a:t>      4.3 end if</a:t>
            </a:r>
          </a:p>
          <a:p>
            <a:pPr>
              <a:buNone/>
            </a:pPr>
            <a:r>
              <a:rPr lang="en-GB" dirty="0" smtClean="0"/>
              <a:t>5. End if</a:t>
            </a:r>
          </a:p>
          <a:p>
            <a:pPr>
              <a:buNone/>
            </a:pPr>
            <a:r>
              <a:rPr lang="en-GB" dirty="0" smtClean="0"/>
              <a:t>6. Stop</a:t>
            </a:r>
            <a:endParaRPr lang="en-GB" dirty="0"/>
          </a:p>
        </p:txBody>
      </p:sp>
    </p:spTree>
    <p:extLst>
      <p:ext uri="{BB962C8B-B14F-4D97-AF65-F5344CB8AC3E}">
        <p14:creationId xmlns:p14="http://schemas.microsoft.com/office/powerpoint/2010/main" val="135506085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0" y="361950"/>
            <a:ext cx="9163050" cy="1143000"/>
          </a:xfrm>
          <a:prstGeom prst="rect">
            <a:avLst/>
          </a:prstGeom>
          <a:noFill/>
          <a:ln w="9525">
            <a:noFill/>
            <a:miter lim="800000"/>
            <a:headEnd/>
            <a:tailEnd/>
          </a:ln>
          <a:effectLst/>
        </p:spPr>
        <p:txBody>
          <a:bodyPr lIns="92075" tIns="46038" rIns="92075" bIns="46038" anchor="ctr"/>
          <a:lstStyle/>
          <a:p>
            <a:pPr algn="ctr"/>
            <a:r>
              <a:rPr lang="en-US" altLang="zh-TW" sz="4400" b="1" dirty="0" smtClean="0"/>
              <a:t>2. Linked Representation of a tree</a:t>
            </a:r>
            <a:endParaRPr lang="en-US" altLang="zh-TW" sz="4400" b="1" dirty="0"/>
          </a:p>
        </p:txBody>
      </p:sp>
      <p:sp>
        <p:nvSpPr>
          <p:cNvPr id="49156" name="Rectangle 4"/>
          <p:cNvSpPr>
            <a:spLocks noChangeArrowheads="1"/>
          </p:cNvSpPr>
          <p:nvPr/>
        </p:nvSpPr>
        <p:spPr bwMode="auto">
          <a:xfrm>
            <a:off x="2524125" y="2057400"/>
            <a:ext cx="4105275" cy="819150"/>
          </a:xfrm>
          <a:prstGeom prst="rect">
            <a:avLst/>
          </a:prstGeom>
          <a:noFill/>
          <a:ln w="12700">
            <a:solidFill>
              <a:schemeClr val="tx1"/>
            </a:solidFill>
            <a:miter lim="800000"/>
            <a:headEnd/>
            <a:tailEnd/>
          </a:ln>
          <a:effectLst/>
        </p:spPr>
        <p:txBody>
          <a:bodyPr wrap="none" anchor="ctr"/>
          <a:lstStyle/>
          <a:p>
            <a:endParaRPr lang="en-US"/>
          </a:p>
        </p:txBody>
      </p:sp>
      <p:sp>
        <p:nvSpPr>
          <p:cNvPr id="49157" name="Line 5"/>
          <p:cNvSpPr>
            <a:spLocks noChangeShapeType="1"/>
          </p:cNvSpPr>
          <p:nvPr/>
        </p:nvSpPr>
        <p:spPr bwMode="auto">
          <a:xfrm>
            <a:off x="3998913" y="2068512"/>
            <a:ext cx="0" cy="815975"/>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49158" name="Line 6"/>
          <p:cNvSpPr>
            <a:spLocks noChangeShapeType="1"/>
          </p:cNvSpPr>
          <p:nvPr/>
        </p:nvSpPr>
        <p:spPr bwMode="auto">
          <a:xfrm>
            <a:off x="4967288" y="2068512"/>
            <a:ext cx="0" cy="798513"/>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49159" name="Rectangle 7"/>
          <p:cNvSpPr>
            <a:spLocks noChangeArrowheads="1"/>
          </p:cNvSpPr>
          <p:nvPr/>
        </p:nvSpPr>
        <p:spPr bwMode="auto">
          <a:xfrm>
            <a:off x="4127500" y="2327275"/>
            <a:ext cx="690563" cy="457200"/>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solidFill>
                  <a:schemeClr val="tx1"/>
                </a:solidFill>
              </a:rPr>
              <a:t>data</a:t>
            </a:r>
          </a:p>
        </p:txBody>
      </p:sp>
      <p:sp>
        <p:nvSpPr>
          <p:cNvPr id="49160" name="Rectangle 8"/>
          <p:cNvSpPr>
            <a:spLocks noChangeArrowheads="1"/>
          </p:cNvSpPr>
          <p:nvPr/>
        </p:nvSpPr>
        <p:spPr bwMode="auto">
          <a:xfrm>
            <a:off x="2562225" y="2327275"/>
            <a:ext cx="1349375" cy="457200"/>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solidFill>
                  <a:schemeClr val="tx1"/>
                </a:solidFill>
              </a:rPr>
              <a:t>left_child</a:t>
            </a:r>
          </a:p>
        </p:txBody>
      </p:sp>
      <p:sp>
        <p:nvSpPr>
          <p:cNvPr id="49161" name="Rectangle 9"/>
          <p:cNvSpPr>
            <a:spLocks noChangeArrowheads="1"/>
          </p:cNvSpPr>
          <p:nvPr/>
        </p:nvSpPr>
        <p:spPr bwMode="auto">
          <a:xfrm>
            <a:off x="5062538" y="2311400"/>
            <a:ext cx="1519237" cy="457200"/>
          </a:xfrm>
          <a:prstGeom prst="rect">
            <a:avLst/>
          </a:prstGeom>
          <a:noFill/>
          <a:ln w="9525">
            <a:noFill/>
            <a:miter lim="800000"/>
            <a:headEnd/>
            <a:tailEnd/>
          </a:ln>
          <a:effectLst/>
        </p:spPr>
        <p:txBody>
          <a:bodyPr wrap="none" lIns="92075" tIns="46038" rIns="92075" bIns="46038">
            <a:spAutoFit/>
          </a:bodyPr>
          <a:lstStyle/>
          <a:p>
            <a:pPr eaLnBrk="0" hangingPunct="0"/>
            <a:r>
              <a:rPr lang="en-US" altLang="zh-TW" sz="2400">
                <a:solidFill>
                  <a:schemeClr val="tx1"/>
                </a:solidFill>
              </a:rPr>
              <a:t>right_child</a:t>
            </a:r>
          </a:p>
        </p:txBody>
      </p:sp>
      <p:sp>
        <p:nvSpPr>
          <p:cNvPr id="49162" name="Oval 10"/>
          <p:cNvSpPr>
            <a:spLocks noChangeArrowheads="1"/>
          </p:cNvSpPr>
          <p:nvPr/>
        </p:nvSpPr>
        <p:spPr bwMode="auto">
          <a:xfrm>
            <a:off x="3973513" y="3940175"/>
            <a:ext cx="939800" cy="871538"/>
          </a:xfrm>
          <a:prstGeom prst="ellipse">
            <a:avLst/>
          </a:prstGeom>
          <a:noFill/>
          <a:ln w="12700">
            <a:solidFill>
              <a:schemeClr val="tx1"/>
            </a:solidFill>
            <a:round/>
            <a:headEnd/>
            <a:tailEnd/>
          </a:ln>
          <a:effectLst/>
        </p:spPr>
        <p:txBody>
          <a:bodyPr wrap="none" anchor="ctr"/>
          <a:lstStyle/>
          <a:p>
            <a:pPr algn="ctr"/>
            <a:endParaRPr lang="en-US"/>
          </a:p>
        </p:txBody>
      </p:sp>
      <p:sp>
        <p:nvSpPr>
          <p:cNvPr id="49163" name="Rectangle 11"/>
          <p:cNvSpPr>
            <a:spLocks noChangeArrowheads="1"/>
          </p:cNvSpPr>
          <p:nvPr/>
        </p:nvSpPr>
        <p:spPr bwMode="auto">
          <a:xfrm>
            <a:off x="4095750" y="4176713"/>
            <a:ext cx="738728" cy="462307"/>
          </a:xfrm>
          <a:prstGeom prst="rect">
            <a:avLst/>
          </a:prstGeom>
          <a:noFill/>
          <a:ln w="9525">
            <a:noFill/>
            <a:miter lim="800000"/>
            <a:headEnd/>
            <a:tailEnd/>
          </a:ln>
          <a:effectLst/>
        </p:spPr>
        <p:txBody>
          <a:bodyPr wrap="none" lIns="92075" tIns="46038" rIns="92075" bIns="46038">
            <a:spAutoFit/>
          </a:bodyPr>
          <a:lstStyle/>
          <a:p>
            <a:pPr algn="ctr" eaLnBrk="0" hangingPunct="0"/>
            <a:r>
              <a:rPr lang="en-US" altLang="zh-TW" sz="2400" dirty="0">
                <a:solidFill>
                  <a:schemeClr val="tx1"/>
                </a:solidFill>
              </a:rPr>
              <a:t>data</a:t>
            </a:r>
          </a:p>
        </p:txBody>
      </p:sp>
      <p:sp>
        <p:nvSpPr>
          <p:cNvPr id="49164" name="Line 12"/>
          <p:cNvSpPr>
            <a:spLocks noChangeShapeType="1"/>
          </p:cNvSpPr>
          <p:nvPr/>
        </p:nvSpPr>
        <p:spPr bwMode="auto">
          <a:xfrm flipH="1">
            <a:off x="3355975" y="4646613"/>
            <a:ext cx="679450" cy="681037"/>
          </a:xfrm>
          <a:prstGeom prst="line">
            <a:avLst/>
          </a:prstGeom>
          <a:noFill/>
          <a:ln w="12700">
            <a:solidFill>
              <a:schemeClr val="tx1"/>
            </a:solidFill>
            <a:round/>
            <a:headEnd type="none" w="sm" len="sm"/>
            <a:tailEnd type="stealth" w="med" len="lg"/>
          </a:ln>
          <a:effectLst/>
        </p:spPr>
        <p:txBody>
          <a:bodyPr wrap="none" anchor="ctr"/>
          <a:lstStyle/>
          <a:p>
            <a:pPr algn="ctr"/>
            <a:endParaRPr lang="en-US"/>
          </a:p>
        </p:txBody>
      </p:sp>
      <p:sp>
        <p:nvSpPr>
          <p:cNvPr id="49165" name="Line 13"/>
          <p:cNvSpPr>
            <a:spLocks noChangeShapeType="1"/>
          </p:cNvSpPr>
          <p:nvPr/>
        </p:nvSpPr>
        <p:spPr bwMode="auto">
          <a:xfrm>
            <a:off x="4819650" y="4664075"/>
            <a:ext cx="661988" cy="663575"/>
          </a:xfrm>
          <a:prstGeom prst="line">
            <a:avLst/>
          </a:prstGeom>
          <a:noFill/>
          <a:ln w="12700">
            <a:solidFill>
              <a:schemeClr val="tx1"/>
            </a:solidFill>
            <a:round/>
            <a:headEnd type="none" w="sm" len="sm"/>
            <a:tailEnd type="stealth" w="med" len="lg"/>
          </a:ln>
          <a:effectLst/>
        </p:spPr>
        <p:txBody>
          <a:bodyPr wrap="none" anchor="ctr"/>
          <a:lstStyle/>
          <a:p>
            <a:pPr algn="ctr"/>
            <a:endParaRPr lang="en-US"/>
          </a:p>
        </p:txBody>
      </p:sp>
      <p:sp>
        <p:nvSpPr>
          <p:cNvPr id="49166" name="Rectangle 14"/>
          <p:cNvSpPr>
            <a:spLocks noChangeArrowheads="1"/>
          </p:cNvSpPr>
          <p:nvPr/>
        </p:nvSpPr>
        <p:spPr bwMode="auto">
          <a:xfrm>
            <a:off x="2667000" y="5383213"/>
            <a:ext cx="1353447" cy="462307"/>
          </a:xfrm>
          <a:prstGeom prst="rect">
            <a:avLst/>
          </a:prstGeom>
          <a:noFill/>
          <a:ln w="9525">
            <a:noFill/>
            <a:miter lim="800000"/>
            <a:headEnd/>
            <a:tailEnd/>
          </a:ln>
          <a:effectLst/>
        </p:spPr>
        <p:txBody>
          <a:bodyPr wrap="none" lIns="92075" tIns="46038" rIns="92075" bIns="46038">
            <a:spAutoFit/>
          </a:bodyPr>
          <a:lstStyle/>
          <a:p>
            <a:pPr algn="ctr" eaLnBrk="0" hangingPunct="0"/>
            <a:r>
              <a:rPr lang="en-US" altLang="zh-TW" sz="2400">
                <a:solidFill>
                  <a:schemeClr val="tx1"/>
                </a:solidFill>
              </a:rPr>
              <a:t>left_child</a:t>
            </a:r>
          </a:p>
        </p:txBody>
      </p:sp>
      <p:sp>
        <p:nvSpPr>
          <p:cNvPr id="49167" name="Rectangle 15"/>
          <p:cNvSpPr>
            <a:spLocks noChangeArrowheads="1"/>
          </p:cNvSpPr>
          <p:nvPr/>
        </p:nvSpPr>
        <p:spPr bwMode="auto">
          <a:xfrm>
            <a:off x="4589463" y="5346700"/>
            <a:ext cx="1518364" cy="462307"/>
          </a:xfrm>
          <a:prstGeom prst="rect">
            <a:avLst/>
          </a:prstGeom>
          <a:noFill/>
          <a:ln w="9525">
            <a:noFill/>
            <a:miter lim="800000"/>
            <a:headEnd/>
            <a:tailEnd/>
          </a:ln>
          <a:effectLst/>
        </p:spPr>
        <p:txBody>
          <a:bodyPr wrap="none" lIns="92075" tIns="46038" rIns="92075" bIns="46038">
            <a:spAutoFit/>
          </a:bodyPr>
          <a:lstStyle/>
          <a:p>
            <a:pPr algn="ctr" eaLnBrk="0" hangingPunct="0"/>
            <a:r>
              <a:rPr lang="en-US" altLang="zh-TW" sz="2400">
                <a:solidFill>
                  <a:schemeClr val="tx1"/>
                </a:solidFill>
              </a:rPr>
              <a:t>right_child</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Grp="1"/>
          </p:cNvSpPr>
          <p:nvPr>
            <p:ph idx="1"/>
          </p:nvPr>
        </p:nvSpPr>
        <p:spPr>
          <a:xfrm>
            <a:off x="457200" y="457200"/>
            <a:ext cx="8229600" cy="56689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ormAutofit fontScale="85000" lnSpcReduction="10000"/>
          </a:bodyPr>
          <a:lstStyle/>
          <a:p>
            <a:pPr>
              <a:buNone/>
            </a:pPr>
            <a:r>
              <a:rPr lang="en-US" dirty="0" smtClean="0">
                <a:solidFill>
                  <a:schemeClr val="tx1"/>
                </a:solidFill>
                <a:latin typeface="Times New Roman" pitchFamily="18" charset="0"/>
                <a:cs typeface="Times New Roman" pitchFamily="18" charset="0"/>
              </a:rPr>
              <a:t>/* </a:t>
            </a:r>
            <a:r>
              <a:rPr lang="en-US" dirty="0">
                <a:solidFill>
                  <a:schemeClr val="tx1"/>
                </a:solidFill>
                <a:latin typeface="Times New Roman" pitchFamily="18" charset="0"/>
                <a:cs typeface="Times New Roman" pitchFamily="18" charset="0"/>
              </a:rPr>
              <a:t>a node in the tree structure */</a:t>
            </a:r>
          </a:p>
          <a:p>
            <a:pPr>
              <a:buNone/>
            </a:pPr>
            <a:r>
              <a:rPr lang="en-US" dirty="0" err="1">
                <a:solidFill>
                  <a:schemeClr val="tx1"/>
                </a:solidFill>
                <a:latin typeface="Times New Roman" pitchFamily="18" charset="0"/>
                <a:cs typeface="Times New Roman" pitchFamily="18" charset="0"/>
              </a:rPr>
              <a:t>struct</a:t>
            </a:r>
            <a:r>
              <a:rPr lang="en-US" dirty="0">
                <a:solidFill>
                  <a:schemeClr val="tx1"/>
                </a:solidFill>
                <a:latin typeface="Times New Roman" pitchFamily="18" charset="0"/>
                <a:cs typeface="Times New Roman" pitchFamily="18" charset="0"/>
              </a:rPr>
              <a:t> node {</a:t>
            </a:r>
          </a:p>
          <a:p>
            <a:pPr>
              <a:buNone/>
            </a:pP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struct</a:t>
            </a:r>
            <a:r>
              <a:rPr lang="en-US" dirty="0">
                <a:solidFill>
                  <a:schemeClr val="tx1"/>
                </a:solidFill>
                <a:latin typeface="Times New Roman" pitchFamily="18" charset="0"/>
                <a:cs typeface="Times New Roman" pitchFamily="18" charset="0"/>
              </a:rPr>
              <a:t> node *</a:t>
            </a:r>
            <a:r>
              <a:rPr lang="en-US" dirty="0" err="1">
                <a:solidFill>
                  <a:schemeClr val="tx1"/>
                </a:solidFill>
                <a:latin typeface="Times New Roman" pitchFamily="18" charset="0"/>
                <a:cs typeface="Times New Roman" pitchFamily="18" charset="0"/>
              </a:rPr>
              <a:t>lchild</a:t>
            </a:r>
            <a:r>
              <a:rPr lang="en-US" dirty="0">
                <a:solidFill>
                  <a:schemeClr val="tx1"/>
                </a:solidFill>
                <a:latin typeface="Times New Roman" pitchFamily="18" charset="0"/>
                <a:cs typeface="Times New Roman" pitchFamily="18" charset="0"/>
              </a:rPr>
              <a:t>;</a:t>
            </a:r>
          </a:p>
          <a:p>
            <a:pPr>
              <a:buNone/>
            </a:pP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int</a:t>
            </a:r>
            <a:r>
              <a:rPr lang="en-US" dirty="0">
                <a:solidFill>
                  <a:schemeClr val="tx1"/>
                </a:solidFill>
                <a:latin typeface="Times New Roman" pitchFamily="18" charset="0"/>
                <a:cs typeface="Times New Roman" pitchFamily="18" charset="0"/>
              </a:rPr>
              <a:t> data ;</a:t>
            </a:r>
          </a:p>
          <a:p>
            <a:pPr>
              <a:buNone/>
            </a:pP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struct</a:t>
            </a:r>
            <a:r>
              <a:rPr lang="en-US" dirty="0">
                <a:solidFill>
                  <a:schemeClr val="tx1"/>
                </a:solidFill>
                <a:latin typeface="Times New Roman" pitchFamily="18" charset="0"/>
                <a:cs typeface="Times New Roman" pitchFamily="18" charset="0"/>
              </a:rPr>
              <a:t> node *</a:t>
            </a:r>
            <a:r>
              <a:rPr lang="en-US" dirty="0" err="1">
                <a:solidFill>
                  <a:schemeClr val="tx1"/>
                </a:solidFill>
                <a:latin typeface="Times New Roman" pitchFamily="18" charset="0"/>
                <a:cs typeface="Times New Roman" pitchFamily="18" charset="0"/>
              </a:rPr>
              <a:t>rchild</a:t>
            </a:r>
            <a:r>
              <a:rPr lang="en-US" dirty="0">
                <a:solidFill>
                  <a:schemeClr val="tx1"/>
                </a:solidFill>
                <a:latin typeface="Times New Roman" pitchFamily="18" charset="0"/>
                <a:cs typeface="Times New Roman" pitchFamily="18" charset="0"/>
              </a:rPr>
              <a:t>;</a:t>
            </a:r>
          </a:p>
          <a:p>
            <a:pPr>
              <a:buNone/>
            </a:pPr>
            <a:r>
              <a:rPr lang="en-US" dirty="0">
                <a:solidFill>
                  <a:schemeClr val="tx1"/>
                </a:solidFill>
                <a:latin typeface="Times New Roman" pitchFamily="18" charset="0"/>
                <a:cs typeface="Times New Roman" pitchFamily="18" charset="0"/>
              </a:rPr>
              <a:t>};</a:t>
            </a:r>
          </a:p>
          <a:p>
            <a:pPr>
              <a:buNone/>
            </a:pPr>
            <a:r>
              <a:rPr lang="en-US" dirty="0">
                <a:solidFill>
                  <a:schemeClr val="tx1"/>
                </a:solidFill>
                <a:latin typeface="Times New Roman" pitchFamily="18" charset="0"/>
                <a:cs typeface="Times New Roman" pitchFamily="18" charset="0"/>
              </a:rPr>
              <a:t>-- The pointer </a:t>
            </a:r>
            <a:r>
              <a:rPr lang="en-US" dirty="0" err="1">
                <a:solidFill>
                  <a:schemeClr val="tx1"/>
                </a:solidFill>
                <a:latin typeface="Times New Roman" pitchFamily="18" charset="0"/>
                <a:cs typeface="Times New Roman" pitchFamily="18" charset="0"/>
              </a:rPr>
              <a:t>lchild</a:t>
            </a:r>
            <a:r>
              <a:rPr lang="en-US" dirty="0">
                <a:solidFill>
                  <a:schemeClr val="tx1"/>
                </a:solidFill>
                <a:latin typeface="Times New Roman" pitchFamily="18" charset="0"/>
                <a:cs typeface="Times New Roman" pitchFamily="18" charset="0"/>
              </a:rPr>
              <a:t> stores the address of </a:t>
            </a:r>
            <a:r>
              <a:rPr lang="en-US" dirty="0" smtClean="0">
                <a:solidFill>
                  <a:schemeClr val="tx1"/>
                </a:solidFill>
                <a:latin typeface="Times New Roman" pitchFamily="18" charset="0"/>
                <a:cs typeface="Times New Roman" pitchFamily="18" charset="0"/>
              </a:rPr>
              <a:t>left child </a:t>
            </a:r>
            <a:r>
              <a:rPr lang="en-US" dirty="0">
                <a:solidFill>
                  <a:schemeClr val="tx1"/>
                </a:solidFill>
                <a:latin typeface="Times New Roman" pitchFamily="18" charset="0"/>
                <a:cs typeface="Times New Roman" pitchFamily="18" charset="0"/>
              </a:rPr>
              <a:t>node</a:t>
            </a:r>
            <a:r>
              <a:rPr lang="en-US" dirty="0" smtClean="0">
                <a:solidFill>
                  <a:schemeClr val="tx1"/>
                </a:solidFill>
                <a:latin typeface="Times New Roman" pitchFamily="18" charset="0"/>
                <a:cs typeface="Times New Roman" pitchFamily="18" charset="0"/>
              </a:rPr>
              <a:t>.</a:t>
            </a:r>
            <a:endParaRPr lang="en-US" dirty="0">
              <a:solidFill>
                <a:schemeClr val="tx1"/>
              </a:solidFill>
              <a:latin typeface="Times New Roman" pitchFamily="18" charset="0"/>
              <a:cs typeface="Times New Roman" pitchFamily="18" charset="0"/>
            </a:endParaRPr>
          </a:p>
          <a:p>
            <a:pPr>
              <a:buNone/>
            </a:pPr>
            <a:r>
              <a:rPr lang="en-US" dirty="0">
                <a:solidFill>
                  <a:schemeClr val="tx1"/>
                </a:solidFill>
                <a:latin typeface="Times New Roman" pitchFamily="18" charset="0"/>
                <a:cs typeface="Times New Roman" pitchFamily="18" charset="0"/>
              </a:rPr>
              <a:t>-- The pointer </a:t>
            </a:r>
            <a:r>
              <a:rPr lang="en-US" dirty="0" err="1">
                <a:solidFill>
                  <a:schemeClr val="tx1"/>
                </a:solidFill>
                <a:latin typeface="Times New Roman" pitchFamily="18" charset="0"/>
                <a:cs typeface="Times New Roman" pitchFamily="18" charset="0"/>
              </a:rPr>
              <a:t>rchild</a:t>
            </a:r>
            <a:r>
              <a:rPr lang="en-US" dirty="0">
                <a:solidFill>
                  <a:schemeClr val="tx1"/>
                </a:solidFill>
                <a:latin typeface="Times New Roman" pitchFamily="18" charset="0"/>
                <a:cs typeface="Times New Roman" pitchFamily="18" charset="0"/>
              </a:rPr>
              <a:t> stores the address of right child node.</a:t>
            </a:r>
          </a:p>
          <a:p>
            <a:pPr>
              <a:buNone/>
            </a:pPr>
            <a:r>
              <a:rPr lang="en-US" dirty="0">
                <a:solidFill>
                  <a:schemeClr val="tx1"/>
                </a:solidFill>
                <a:latin typeface="Times New Roman" pitchFamily="18" charset="0"/>
                <a:cs typeface="Times New Roman" pitchFamily="18" charset="0"/>
              </a:rPr>
              <a:t>-- if child is not available NULL is </a:t>
            </a:r>
            <a:r>
              <a:rPr lang="en-US" dirty="0" smtClean="0">
                <a:solidFill>
                  <a:schemeClr val="tx1"/>
                </a:solidFill>
                <a:latin typeface="Times New Roman" pitchFamily="18" charset="0"/>
                <a:cs typeface="Times New Roman" pitchFamily="18" charset="0"/>
              </a:rPr>
              <a:t>stored.</a:t>
            </a:r>
            <a:endParaRPr lang="en-US" dirty="0">
              <a:solidFill>
                <a:schemeClr val="tx1"/>
              </a:solidFill>
              <a:latin typeface="Times New Roman" pitchFamily="18" charset="0"/>
              <a:cs typeface="Times New Roman" pitchFamily="18" charset="0"/>
            </a:endParaRPr>
          </a:p>
          <a:p>
            <a:pPr>
              <a:buNone/>
            </a:pPr>
            <a:r>
              <a:rPr lang="en-US" dirty="0">
                <a:solidFill>
                  <a:schemeClr val="tx1"/>
                </a:solidFill>
                <a:latin typeface="Times New Roman" pitchFamily="18" charset="0"/>
                <a:cs typeface="Times New Roman" pitchFamily="18" charset="0"/>
              </a:rPr>
              <a:t>-- a pointer variable root represents the root of the tree.</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457200" y="-30162"/>
            <a:ext cx="8229600" cy="792162"/>
          </a:xfrm>
        </p:spPr>
        <p:txBody>
          <a:bodyPr>
            <a:normAutofit/>
          </a:bodyPr>
          <a:lstStyle/>
          <a:p>
            <a:r>
              <a:rPr lang="en-US" sz="4000" b="1" dirty="0" smtClean="0"/>
              <a:t>Creation of Linked BT</a:t>
            </a:r>
          </a:p>
        </p:txBody>
      </p:sp>
      <p:sp>
        <p:nvSpPr>
          <p:cNvPr id="4099" name="Content Placeholder 2"/>
          <p:cNvSpPr>
            <a:spLocks noGrp="1"/>
          </p:cNvSpPr>
          <p:nvPr>
            <p:ph idx="1"/>
          </p:nvPr>
        </p:nvSpPr>
        <p:spPr>
          <a:xfrm>
            <a:off x="228600" y="762000"/>
            <a:ext cx="8839200" cy="6096000"/>
          </a:xfrm>
        </p:spPr>
        <p:txBody>
          <a:bodyPr>
            <a:normAutofit lnSpcReduction="10000"/>
          </a:bodyPr>
          <a:lstStyle/>
          <a:p>
            <a:pPr>
              <a:buNone/>
            </a:pPr>
            <a:r>
              <a:rPr lang="en-US" sz="2400" b="1" dirty="0" err="1" smtClean="0">
                <a:latin typeface="Times New Roman" pitchFamily="18" charset="0"/>
                <a:cs typeface="Times New Roman" pitchFamily="18" charset="0"/>
              </a:rPr>
              <a:t>Build_Tree</a:t>
            </a:r>
            <a:r>
              <a:rPr lang="en-US" sz="2400" b="1" dirty="0" smtClean="0">
                <a:latin typeface="Times New Roman" pitchFamily="18" charset="0"/>
                <a:cs typeface="Times New Roman" pitchFamily="18" charset="0"/>
              </a:rPr>
              <a:t>(</a:t>
            </a:r>
            <a:r>
              <a:rPr lang="en-US" sz="2400" b="1" dirty="0" err="1" smtClean="0">
                <a:latin typeface="Times New Roman" pitchFamily="18" charset="0"/>
                <a:cs typeface="Times New Roman" pitchFamily="18" charset="0"/>
              </a:rPr>
              <a:t>ptr</a:t>
            </a:r>
            <a:r>
              <a:rPr lang="en-US" sz="2400" b="1" dirty="0" smtClean="0">
                <a:latin typeface="Times New Roman" pitchFamily="18" charset="0"/>
                <a:cs typeface="Times New Roman" pitchFamily="18" charset="0"/>
              </a:rPr>
              <a:t>)</a:t>
            </a:r>
          </a:p>
          <a:p>
            <a:pPr>
              <a:buNone/>
            </a:pPr>
            <a:r>
              <a:rPr lang="en-US" sz="1900" dirty="0" smtClean="0">
                <a:solidFill>
                  <a:srgbClr val="FF0000"/>
                </a:solidFill>
                <a:latin typeface="Times New Roman" pitchFamily="18" charset="0"/>
                <a:cs typeface="Times New Roman" pitchFamily="18" charset="0"/>
              </a:rPr>
              <a:t>Input: </a:t>
            </a:r>
            <a:r>
              <a:rPr lang="en-US" sz="1900" dirty="0" err="1" smtClean="0">
                <a:solidFill>
                  <a:srgbClr val="FF0000"/>
                </a:solidFill>
                <a:latin typeface="Times New Roman" pitchFamily="18" charset="0"/>
                <a:cs typeface="Times New Roman" pitchFamily="18" charset="0"/>
              </a:rPr>
              <a:t>ptr</a:t>
            </a:r>
            <a:r>
              <a:rPr lang="en-US" sz="1900" dirty="0" smtClean="0">
                <a:solidFill>
                  <a:srgbClr val="FF0000"/>
                </a:solidFill>
                <a:latin typeface="Times New Roman" pitchFamily="18" charset="0"/>
                <a:cs typeface="Times New Roman" pitchFamily="18" charset="0"/>
              </a:rPr>
              <a:t> is the node passed. Initial case it is the root of tree.</a:t>
            </a:r>
          </a:p>
          <a:p>
            <a:pPr>
              <a:buNone/>
            </a:pPr>
            <a:r>
              <a:rPr lang="en-US" sz="1900" dirty="0" smtClean="0">
                <a:solidFill>
                  <a:srgbClr val="FF0000"/>
                </a:solidFill>
                <a:latin typeface="Times New Roman" pitchFamily="18" charset="0"/>
                <a:cs typeface="Times New Roman" pitchFamily="18" charset="0"/>
              </a:rPr>
              <a:t>Output: A binary tree with two sub trees of node PTR</a:t>
            </a:r>
          </a:p>
          <a:p>
            <a:pPr>
              <a:buNone/>
            </a:pPr>
            <a:r>
              <a:rPr lang="en-US" sz="1900" dirty="0" smtClean="0">
                <a:solidFill>
                  <a:srgbClr val="FF0000"/>
                </a:solidFill>
                <a:latin typeface="Times New Roman" pitchFamily="18" charset="0"/>
                <a:cs typeface="Times New Roman" pitchFamily="18" charset="0"/>
              </a:rPr>
              <a:t>Data structure: Linked List Structure of Binary tree</a:t>
            </a:r>
          </a:p>
          <a:p>
            <a:pPr marL="514350" indent="-514350">
              <a:buFontTx/>
              <a:buAutoNum type="arabicPeriod"/>
            </a:pPr>
            <a:r>
              <a:rPr lang="en-US" sz="2200" dirty="0" smtClean="0">
                <a:latin typeface="Times New Roman" pitchFamily="18" charset="0"/>
                <a:cs typeface="Times New Roman" pitchFamily="18" charset="0"/>
              </a:rPr>
              <a:t>Read data in item</a:t>
            </a:r>
          </a:p>
          <a:p>
            <a:pPr marL="514350" indent="-514350">
              <a:buFontTx/>
              <a:buAutoNum type="arabicPeriod"/>
            </a:pPr>
            <a:r>
              <a:rPr lang="en-US" sz="2200" dirty="0" err="1" smtClean="0">
                <a:latin typeface="Times New Roman" pitchFamily="18" charset="0"/>
                <a:cs typeface="Times New Roman" pitchFamily="18" charset="0"/>
              </a:rPr>
              <a:t>ptr</a:t>
            </a:r>
            <a:r>
              <a:rPr lang="en-US" sz="2200" dirty="0" smtClean="0">
                <a:latin typeface="Times New Roman" pitchFamily="18" charset="0"/>
                <a:cs typeface="Times New Roman" pitchFamily="18" charset="0"/>
              </a:rPr>
              <a:t>-&gt;data=item</a:t>
            </a:r>
          </a:p>
          <a:p>
            <a:pPr marL="514350" indent="-514350">
              <a:buFontTx/>
              <a:buAutoNum type="arabicPeriod"/>
            </a:pPr>
            <a:r>
              <a:rPr lang="en-US" sz="2200" dirty="0" err="1" smtClean="0">
                <a:latin typeface="Times New Roman" pitchFamily="18" charset="0"/>
                <a:cs typeface="Times New Roman" pitchFamily="18" charset="0"/>
              </a:rPr>
              <a:t>ptr</a:t>
            </a:r>
            <a:r>
              <a:rPr lang="en-US" sz="2200" dirty="0" smtClean="0">
                <a:latin typeface="Times New Roman" pitchFamily="18" charset="0"/>
                <a:cs typeface="Times New Roman" pitchFamily="18" charset="0"/>
              </a:rPr>
              <a:t>-&gt;</a:t>
            </a:r>
            <a:r>
              <a:rPr lang="en-US" sz="2200" dirty="0" err="1" smtClean="0">
                <a:latin typeface="Times New Roman" pitchFamily="18" charset="0"/>
                <a:cs typeface="Times New Roman" pitchFamily="18" charset="0"/>
              </a:rPr>
              <a:t>lc</a:t>
            </a:r>
            <a:r>
              <a:rPr lang="en-US" sz="2200" dirty="0" smtClean="0">
                <a:latin typeface="Times New Roman" pitchFamily="18" charset="0"/>
                <a:cs typeface="Times New Roman" pitchFamily="18" charset="0"/>
              </a:rPr>
              <a:t>=NULL, </a:t>
            </a:r>
            <a:r>
              <a:rPr lang="en-US" sz="2200" dirty="0" err="1" smtClean="0">
                <a:latin typeface="Times New Roman" pitchFamily="18" charset="0"/>
                <a:cs typeface="Times New Roman" pitchFamily="18" charset="0"/>
              </a:rPr>
              <a:t>ptr</a:t>
            </a:r>
            <a:r>
              <a:rPr lang="en-US" sz="2200" dirty="0" smtClean="0">
                <a:latin typeface="Times New Roman" pitchFamily="18" charset="0"/>
                <a:cs typeface="Times New Roman" pitchFamily="18" charset="0"/>
              </a:rPr>
              <a:t>-&gt;</a:t>
            </a:r>
            <a:r>
              <a:rPr lang="en-US" sz="2200" dirty="0" err="1" smtClean="0">
                <a:latin typeface="Times New Roman" pitchFamily="18" charset="0"/>
                <a:cs typeface="Times New Roman" pitchFamily="18" charset="0"/>
              </a:rPr>
              <a:t>rc</a:t>
            </a:r>
            <a:r>
              <a:rPr lang="en-US" sz="2200" dirty="0" smtClean="0">
                <a:latin typeface="Times New Roman" pitchFamily="18" charset="0"/>
                <a:cs typeface="Times New Roman" pitchFamily="18" charset="0"/>
              </a:rPr>
              <a:t>=NULL</a:t>
            </a:r>
            <a:endParaRPr lang="en-US" sz="2200" dirty="0">
              <a:latin typeface="Times New Roman" pitchFamily="18" charset="0"/>
              <a:cs typeface="Times New Roman" pitchFamily="18" charset="0"/>
            </a:endParaRPr>
          </a:p>
          <a:p>
            <a:pPr marL="514350" indent="-514350">
              <a:buFontTx/>
              <a:buAutoNum type="arabicPeriod"/>
            </a:pPr>
            <a:r>
              <a:rPr lang="en-US" sz="2200" dirty="0" smtClean="0">
                <a:latin typeface="Times New Roman" pitchFamily="18" charset="0"/>
                <a:cs typeface="Times New Roman" pitchFamily="18" charset="0"/>
              </a:rPr>
              <a:t> Node </a:t>
            </a:r>
            <a:r>
              <a:rPr lang="en-US" sz="2200" dirty="0" err="1" smtClean="0">
                <a:latin typeface="Times New Roman" pitchFamily="18" charset="0"/>
                <a:cs typeface="Times New Roman" pitchFamily="18" charset="0"/>
              </a:rPr>
              <a:t>ptr</a:t>
            </a:r>
            <a:r>
              <a:rPr lang="en-US" sz="2200" dirty="0" smtClean="0">
                <a:latin typeface="Times New Roman" pitchFamily="18" charset="0"/>
                <a:cs typeface="Times New Roman" pitchFamily="18" charset="0"/>
              </a:rPr>
              <a:t> has Left Sub tree (Option Y/N?)</a:t>
            </a:r>
          </a:p>
          <a:p>
            <a:pPr marL="514350" indent="-514350">
              <a:buFontTx/>
              <a:buAutoNum type="arabicPeriod"/>
            </a:pPr>
            <a:r>
              <a:rPr lang="en-US" sz="2200" dirty="0" smtClean="0">
                <a:latin typeface="Times New Roman" pitchFamily="18" charset="0"/>
                <a:cs typeface="Times New Roman" pitchFamily="18" charset="0"/>
              </a:rPr>
              <a:t>If option=Y then</a:t>
            </a:r>
          </a:p>
          <a:p>
            <a:pPr>
              <a:buNone/>
            </a:pPr>
            <a:r>
              <a:rPr lang="en-US" sz="2200" dirty="0" smtClean="0">
                <a:latin typeface="Times New Roman" pitchFamily="18" charset="0"/>
                <a:cs typeface="Times New Roman" pitchFamily="18" charset="0"/>
              </a:rPr>
              <a:t> 	     </a:t>
            </a:r>
            <a:r>
              <a:rPr lang="en-US" sz="1900" dirty="0" smtClean="0">
                <a:latin typeface="Times New Roman" pitchFamily="18" charset="0"/>
                <a:cs typeface="Times New Roman" pitchFamily="18" charset="0"/>
              </a:rPr>
              <a:t>5.1 create </a:t>
            </a:r>
            <a:r>
              <a:rPr lang="en-US" sz="1900" dirty="0" err="1" smtClean="0">
                <a:latin typeface="Times New Roman" pitchFamily="18" charset="0"/>
                <a:cs typeface="Times New Roman" pitchFamily="18" charset="0"/>
              </a:rPr>
              <a:t>newnode</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lcptr</a:t>
            </a:r>
            <a:r>
              <a:rPr lang="en-US" sz="1900" dirty="0" smtClean="0">
                <a:latin typeface="Times New Roman" pitchFamily="18" charset="0"/>
                <a:cs typeface="Times New Roman" pitchFamily="18" charset="0"/>
              </a:rPr>
              <a:t> and allocate memory. </a:t>
            </a:r>
          </a:p>
          <a:p>
            <a:pPr>
              <a:buNone/>
            </a:pPr>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5.2 </a:t>
            </a:r>
            <a:r>
              <a:rPr lang="en-US" sz="1900" dirty="0" err="1" smtClean="0">
                <a:latin typeface="Times New Roman" pitchFamily="18" charset="0"/>
                <a:cs typeface="Times New Roman" pitchFamily="18" charset="0"/>
              </a:rPr>
              <a:t>ptr</a:t>
            </a:r>
            <a:r>
              <a:rPr lang="en-US" sz="1900" dirty="0" smtClean="0">
                <a:latin typeface="Times New Roman" pitchFamily="18" charset="0"/>
                <a:cs typeface="Times New Roman" pitchFamily="18" charset="0"/>
              </a:rPr>
              <a:t>-&gt;</a:t>
            </a:r>
            <a:r>
              <a:rPr lang="en-US" sz="1900" dirty="0" err="1" smtClean="0">
                <a:latin typeface="Times New Roman" pitchFamily="18" charset="0"/>
                <a:cs typeface="Times New Roman" pitchFamily="18" charset="0"/>
              </a:rPr>
              <a:t>lc</a:t>
            </a:r>
            <a:r>
              <a:rPr lang="en-US" sz="1900" dirty="0" smtClean="0">
                <a:latin typeface="Times New Roman" pitchFamily="18" charset="0"/>
                <a:cs typeface="Times New Roman" pitchFamily="18" charset="0"/>
              </a:rPr>
              <a:t>=</a:t>
            </a:r>
            <a:r>
              <a:rPr lang="en-US" sz="1900" dirty="0" err="1" smtClean="0">
                <a:latin typeface="Times New Roman" pitchFamily="18" charset="0"/>
                <a:cs typeface="Times New Roman" pitchFamily="18" charset="0"/>
              </a:rPr>
              <a:t>lcptr</a:t>
            </a:r>
            <a:endParaRPr lang="en-US" sz="1900" dirty="0" smtClean="0">
              <a:latin typeface="Times New Roman" pitchFamily="18" charset="0"/>
              <a:cs typeface="Times New Roman" pitchFamily="18" charset="0"/>
            </a:endParaRPr>
          </a:p>
          <a:p>
            <a:pPr>
              <a:buNone/>
            </a:pPr>
            <a:r>
              <a:rPr lang="en-US" sz="1900" dirty="0" smtClean="0">
                <a:latin typeface="Times New Roman" pitchFamily="18" charset="0"/>
                <a:cs typeface="Times New Roman" pitchFamily="18" charset="0"/>
              </a:rPr>
              <a:t>           5.3 call </a:t>
            </a:r>
            <a:r>
              <a:rPr lang="en-US" sz="1900" dirty="0" err="1" smtClean="0">
                <a:latin typeface="Times New Roman" pitchFamily="18" charset="0"/>
                <a:cs typeface="Times New Roman" pitchFamily="18" charset="0"/>
              </a:rPr>
              <a:t>Build_Tree</a:t>
            </a:r>
            <a:r>
              <a:rPr lang="en-US" sz="1900" dirty="0" smtClean="0">
                <a:latin typeface="Times New Roman" pitchFamily="18" charset="0"/>
                <a:cs typeface="Times New Roman" pitchFamily="18" charset="0"/>
              </a:rPr>
              <a:t>(</a:t>
            </a:r>
            <a:r>
              <a:rPr lang="en-US" sz="1900" dirty="0" err="1" smtClean="0">
                <a:latin typeface="Times New Roman" pitchFamily="18" charset="0"/>
                <a:cs typeface="Times New Roman" pitchFamily="18" charset="0"/>
              </a:rPr>
              <a:t>lcptr</a:t>
            </a:r>
            <a:r>
              <a:rPr lang="en-US" sz="1900" dirty="0" smtClean="0">
                <a:latin typeface="Times New Roman" pitchFamily="18" charset="0"/>
                <a:cs typeface="Times New Roman" pitchFamily="18" charset="0"/>
              </a:rPr>
              <a:t>)</a:t>
            </a:r>
          </a:p>
          <a:p>
            <a:pPr>
              <a:buNone/>
            </a:pPr>
            <a:r>
              <a:rPr lang="en-US" sz="2200" dirty="0" smtClean="0">
                <a:latin typeface="Times New Roman" pitchFamily="18" charset="0"/>
                <a:cs typeface="Times New Roman" pitchFamily="18" charset="0"/>
              </a:rPr>
              <a:t>6</a:t>
            </a: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  Node </a:t>
            </a:r>
            <a:r>
              <a:rPr lang="en-US" sz="2200" dirty="0" err="1">
                <a:latin typeface="Times New Roman" pitchFamily="18" charset="0"/>
                <a:cs typeface="Times New Roman" pitchFamily="18" charset="0"/>
              </a:rPr>
              <a:t>ptr</a:t>
            </a:r>
            <a:r>
              <a:rPr lang="en-US" sz="2200" dirty="0">
                <a:latin typeface="Times New Roman" pitchFamily="18" charset="0"/>
                <a:cs typeface="Times New Roman" pitchFamily="18" charset="0"/>
              </a:rPr>
              <a:t> has right Sub tree (Option Y/N?)</a:t>
            </a:r>
          </a:p>
          <a:p>
            <a:pPr>
              <a:buNone/>
            </a:pPr>
            <a:r>
              <a:rPr lang="en-US" sz="2200" dirty="0" smtClean="0">
                <a:latin typeface="Times New Roman" pitchFamily="18" charset="0"/>
                <a:cs typeface="Times New Roman" pitchFamily="18" charset="0"/>
              </a:rPr>
              <a:t>7.    </a:t>
            </a:r>
            <a:r>
              <a:rPr lang="en-US" sz="2200" dirty="0">
                <a:latin typeface="Times New Roman" pitchFamily="18" charset="0"/>
                <a:cs typeface="Times New Roman" pitchFamily="18" charset="0"/>
              </a:rPr>
              <a:t>If option=Y then</a:t>
            </a:r>
          </a:p>
          <a:p>
            <a:pPr algn="just">
              <a:buNone/>
            </a:pPr>
            <a:r>
              <a:rPr lang="en-US" sz="1800" dirty="0">
                <a:latin typeface="Times New Roman" pitchFamily="18" charset="0"/>
                <a:cs typeface="Times New Roman" pitchFamily="18" charset="0"/>
              </a:rPr>
              <a:t>         </a:t>
            </a:r>
            <a:r>
              <a:rPr lang="en-US" sz="1800" dirty="0" smtClean="0">
                <a:latin typeface="Times New Roman" pitchFamily="18" charset="0"/>
                <a:cs typeface="Times New Roman" pitchFamily="18" charset="0"/>
              </a:rPr>
              <a:t>  7.1 </a:t>
            </a:r>
            <a:r>
              <a:rPr lang="en-US" sz="1800" dirty="0">
                <a:latin typeface="Times New Roman" pitchFamily="18" charset="0"/>
                <a:cs typeface="Times New Roman" pitchFamily="18" charset="0"/>
              </a:rPr>
              <a:t>Create </a:t>
            </a:r>
            <a:r>
              <a:rPr lang="en-US" sz="1800" dirty="0" err="1">
                <a:latin typeface="Times New Roman" pitchFamily="18" charset="0"/>
                <a:cs typeface="Times New Roman" pitchFamily="18" charset="0"/>
              </a:rPr>
              <a:t>newnode</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rcptr</a:t>
            </a:r>
            <a:r>
              <a:rPr lang="en-US" sz="1800" dirty="0">
                <a:latin typeface="Times New Roman" pitchFamily="18" charset="0"/>
                <a:cs typeface="Times New Roman" pitchFamily="18" charset="0"/>
              </a:rPr>
              <a:t> and allocate memory.</a:t>
            </a:r>
          </a:p>
          <a:p>
            <a:pPr algn="just">
              <a:buNone/>
            </a:pPr>
            <a:r>
              <a:rPr lang="en-US" sz="1800" dirty="0">
                <a:latin typeface="Times New Roman" pitchFamily="18" charset="0"/>
                <a:cs typeface="Times New Roman" pitchFamily="18" charset="0"/>
              </a:rPr>
              <a:t>        </a:t>
            </a:r>
            <a:r>
              <a:rPr lang="en-US" sz="1800" dirty="0" smtClean="0">
                <a:latin typeface="Times New Roman" pitchFamily="18" charset="0"/>
                <a:cs typeface="Times New Roman" pitchFamily="18" charset="0"/>
              </a:rPr>
              <a:t>   </a:t>
            </a:r>
            <a:r>
              <a:rPr lang="en-US" sz="1800" dirty="0">
                <a:latin typeface="Times New Roman" pitchFamily="18" charset="0"/>
                <a:cs typeface="Times New Roman" pitchFamily="18" charset="0"/>
              </a:rPr>
              <a:t>7.2 </a:t>
            </a:r>
            <a:r>
              <a:rPr lang="en-US" sz="1800" dirty="0" err="1">
                <a:latin typeface="Times New Roman" pitchFamily="18" charset="0"/>
                <a:cs typeface="Times New Roman" pitchFamily="18" charset="0"/>
              </a:rPr>
              <a:t>ptr</a:t>
            </a:r>
            <a:r>
              <a:rPr lang="en-US" sz="1800" dirty="0">
                <a:latin typeface="Times New Roman" pitchFamily="18" charset="0"/>
                <a:cs typeface="Times New Roman" pitchFamily="18" charset="0"/>
              </a:rPr>
              <a:t>-&gt;</a:t>
            </a:r>
            <a:r>
              <a:rPr lang="en-US" sz="1800" dirty="0" err="1">
                <a:latin typeface="Times New Roman" pitchFamily="18" charset="0"/>
                <a:cs typeface="Times New Roman" pitchFamily="18" charset="0"/>
              </a:rPr>
              <a:t>rc</a:t>
            </a:r>
            <a:r>
              <a:rPr lang="en-US" sz="1800" dirty="0">
                <a:latin typeface="Times New Roman" pitchFamily="18" charset="0"/>
                <a:cs typeface="Times New Roman" pitchFamily="18" charset="0"/>
              </a:rPr>
              <a:t>=</a:t>
            </a:r>
            <a:r>
              <a:rPr lang="en-US" sz="1800" dirty="0" err="1">
                <a:latin typeface="Times New Roman" pitchFamily="18" charset="0"/>
                <a:cs typeface="Times New Roman" pitchFamily="18" charset="0"/>
              </a:rPr>
              <a:t>rcptr</a:t>
            </a:r>
            <a:endParaRPr lang="en-US" sz="1800" dirty="0">
              <a:latin typeface="Times New Roman" pitchFamily="18" charset="0"/>
              <a:cs typeface="Times New Roman" pitchFamily="18" charset="0"/>
            </a:endParaRPr>
          </a:p>
          <a:p>
            <a:pPr algn="just">
              <a:buNone/>
            </a:pPr>
            <a:r>
              <a:rPr lang="en-US" sz="1800" dirty="0">
                <a:latin typeface="Times New Roman" pitchFamily="18" charset="0"/>
                <a:cs typeface="Times New Roman" pitchFamily="18" charset="0"/>
              </a:rPr>
              <a:t>         </a:t>
            </a:r>
            <a:r>
              <a:rPr lang="en-US" sz="1800" dirty="0" smtClean="0">
                <a:latin typeface="Times New Roman" pitchFamily="18" charset="0"/>
                <a:cs typeface="Times New Roman" pitchFamily="18" charset="0"/>
              </a:rPr>
              <a:t>  7.3 </a:t>
            </a:r>
            <a:r>
              <a:rPr lang="en-US" sz="1800" dirty="0">
                <a:latin typeface="Times New Roman" pitchFamily="18" charset="0"/>
                <a:cs typeface="Times New Roman" pitchFamily="18" charset="0"/>
              </a:rPr>
              <a:t>call </a:t>
            </a:r>
            <a:r>
              <a:rPr lang="en-US" sz="1800" dirty="0" err="1">
                <a:latin typeface="Times New Roman" pitchFamily="18" charset="0"/>
                <a:cs typeface="Times New Roman" pitchFamily="18" charset="0"/>
              </a:rPr>
              <a:t>Build_Tree</a:t>
            </a:r>
            <a:r>
              <a:rPr lang="en-US" sz="1800" dirty="0">
                <a:latin typeface="Times New Roman" pitchFamily="18" charset="0"/>
                <a:cs typeface="Times New Roman" pitchFamily="18" charset="0"/>
              </a:rPr>
              <a:t>(</a:t>
            </a:r>
            <a:r>
              <a:rPr lang="en-US" sz="1800" dirty="0" err="1">
                <a:latin typeface="Times New Roman" pitchFamily="18" charset="0"/>
                <a:cs typeface="Times New Roman" pitchFamily="18" charset="0"/>
              </a:rPr>
              <a:t>rcptr</a:t>
            </a:r>
            <a:r>
              <a:rPr lang="en-US" sz="1800" dirty="0">
                <a:latin typeface="Times New Roman" pitchFamily="18" charset="0"/>
                <a:cs typeface="Times New Roman" pitchFamily="18" charset="0"/>
              </a:rPr>
              <a:t>)</a:t>
            </a:r>
            <a:endParaRPr lang="en-US" sz="1800" dirty="0" smtClean="0">
              <a:latin typeface="Times New Roman" pitchFamily="18" charset="0"/>
              <a:cs typeface="Times New Roman" pitchFamily="18" charset="0"/>
            </a:endParaRPr>
          </a:p>
          <a:p>
            <a:pPr>
              <a:buNone/>
            </a:pPr>
            <a:endParaRPr lang="en-US" sz="2400" dirty="0" smtClean="0"/>
          </a:p>
          <a:p>
            <a:endParaRPr lang="en-US" sz="1800" dirty="0" smtClean="0"/>
          </a:p>
        </p:txBody>
      </p:sp>
      <p:cxnSp>
        <p:nvCxnSpPr>
          <p:cNvPr id="5" name="Straight Connector 4"/>
          <p:cNvCxnSpPr/>
          <p:nvPr/>
        </p:nvCxnSpPr>
        <p:spPr>
          <a:xfrm>
            <a:off x="0" y="762000"/>
            <a:ext cx="91440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Operations on a BT</a:t>
            </a:r>
            <a:endParaRPr lang="en-US" b="1" dirty="0"/>
          </a:p>
        </p:txBody>
      </p:sp>
      <p:sp>
        <p:nvSpPr>
          <p:cNvPr id="3" name="Content Placeholder 2"/>
          <p:cNvSpPr>
            <a:spLocks noGrp="1"/>
          </p:cNvSpPr>
          <p:nvPr>
            <p:ph idx="1"/>
          </p:nvPr>
        </p:nvSpPr>
        <p:spPr>
          <a:xfrm>
            <a:off x="457200" y="1600200"/>
            <a:ext cx="8382000" cy="4525963"/>
          </a:xfrm>
        </p:spPr>
        <p:txBody>
          <a:bodyPr/>
          <a:lstStyle/>
          <a:p>
            <a:r>
              <a:rPr lang="en-US" dirty="0" smtClean="0"/>
              <a:t>Traversal : To visit all nodes in a binary tree.</a:t>
            </a:r>
          </a:p>
          <a:p>
            <a:r>
              <a:rPr lang="en-US" dirty="0" smtClean="0"/>
              <a:t>Insertion : To add a node into a binary tree.</a:t>
            </a:r>
          </a:p>
          <a:p>
            <a:r>
              <a:rPr lang="en-US" dirty="0" smtClean="0"/>
              <a:t>Deletion : To delete a node from a non empty binary tree.</a:t>
            </a:r>
          </a:p>
          <a:p>
            <a:r>
              <a:rPr lang="en-US" dirty="0" smtClean="0"/>
              <a:t>Merge : To merge two binary trees into a larger one. </a:t>
            </a:r>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457200" y="228600"/>
            <a:ext cx="8229600" cy="868362"/>
          </a:xfrm>
        </p:spPr>
        <p:txBody>
          <a:bodyPr/>
          <a:lstStyle/>
          <a:p>
            <a:pPr eaLnBrk="1" hangingPunct="1"/>
            <a:r>
              <a:rPr lang="en-US" dirty="0" smtClean="0">
                <a:latin typeface="Times New Roman" pitchFamily="18" charset="0"/>
                <a:cs typeface="Times New Roman" pitchFamily="18" charset="0"/>
              </a:rPr>
              <a:t>Tree traversals</a:t>
            </a:r>
          </a:p>
        </p:txBody>
      </p:sp>
      <p:sp>
        <p:nvSpPr>
          <p:cNvPr id="6148" name="Rectangle 3"/>
          <p:cNvSpPr>
            <a:spLocks noGrp="1" noChangeArrowheads="1"/>
          </p:cNvSpPr>
          <p:nvPr>
            <p:ph type="body" sz="half" idx="1"/>
          </p:nvPr>
        </p:nvSpPr>
        <p:spPr>
          <a:xfrm>
            <a:off x="228600" y="1219200"/>
            <a:ext cx="8686800" cy="5334000"/>
          </a:xfrm>
        </p:spPr>
        <p:txBody>
          <a:bodyPr>
            <a:normAutofit fontScale="92500" lnSpcReduction="20000"/>
          </a:bodyPr>
          <a:lstStyle/>
          <a:p>
            <a:pPr eaLnBrk="1" hangingPunct="1"/>
            <a:r>
              <a:rPr lang="en-US" dirty="0" smtClean="0">
                <a:latin typeface="Times New Roman" pitchFamily="18" charset="0"/>
                <a:cs typeface="Times New Roman" pitchFamily="18" charset="0"/>
              </a:rPr>
              <a:t>A binary tree is defined recursively: it consists of a </a:t>
            </a:r>
            <a:r>
              <a:rPr lang="en-US" dirty="0" smtClean="0">
                <a:solidFill>
                  <a:schemeClr val="tx2"/>
                </a:solidFill>
                <a:latin typeface="Times New Roman" pitchFamily="18" charset="0"/>
                <a:cs typeface="Times New Roman" pitchFamily="18" charset="0"/>
              </a:rPr>
              <a:t>root</a:t>
            </a:r>
            <a:r>
              <a:rPr lang="en-US" dirty="0" smtClean="0">
                <a:latin typeface="Times New Roman" pitchFamily="18" charset="0"/>
                <a:cs typeface="Times New Roman" pitchFamily="18" charset="0"/>
              </a:rPr>
              <a:t>, a </a:t>
            </a:r>
            <a:r>
              <a:rPr lang="en-US" dirty="0" smtClean="0">
                <a:solidFill>
                  <a:schemeClr val="tx2"/>
                </a:solidFill>
                <a:latin typeface="Times New Roman" pitchFamily="18" charset="0"/>
                <a:cs typeface="Times New Roman" pitchFamily="18" charset="0"/>
              </a:rPr>
              <a:t>left </a:t>
            </a:r>
            <a:r>
              <a:rPr lang="en-US" dirty="0" err="1" smtClean="0">
                <a:solidFill>
                  <a:schemeClr val="tx2"/>
                </a:solidFill>
                <a:latin typeface="Times New Roman" pitchFamily="18" charset="0"/>
                <a:cs typeface="Times New Roman" pitchFamily="18" charset="0"/>
              </a:rPr>
              <a:t>subtree</a:t>
            </a:r>
            <a:r>
              <a:rPr lang="en-US" dirty="0" smtClean="0">
                <a:latin typeface="Times New Roman" pitchFamily="18" charset="0"/>
                <a:cs typeface="Times New Roman" pitchFamily="18" charset="0"/>
              </a:rPr>
              <a:t>, and a </a:t>
            </a:r>
            <a:r>
              <a:rPr lang="en-US" dirty="0" smtClean="0">
                <a:solidFill>
                  <a:schemeClr val="tx2"/>
                </a:solidFill>
                <a:latin typeface="Times New Roman" pitchFamily="18" charset="0"/>
                <a:cs typeface="Times New Roman" pitchFamily="18" charset="0"/>
              </a:rPr>
              <a:t>right </a:t>
            </a:r>
            <a:r>
              <a:rPr lang="en-US" dirty="0" err="1" smtClean="0">
                <a:solidFill>
                  <a:schemeClr val="tx2"/>
                </a:solidFill>
                <a:latin typeface="Times New Roman" pitchFamily="18" charset="0"/>
                <a:cs typeface="Times New Roman" pitchFamily="18" charset="0"/>
              </a:rPr>
              <a:t>subtree</a:t>
            </a:r>
            <a:r>
              <a:rPr lang="en-US" dirty="0" smtClean="0">
                <a:solidFill>
                  <a:schemeClr val="tx2"/>
                </a:solidFill>
                <a:latin typeface="Times New Roman" pitchFamily="18" charset="0"/>
                <a:cs typeface="Times New Roman" pitchFamily="18" charset="0"/>
              </a:rPr>
              <a:t>.</a:t>
            </a:r>
          </a:p>
          <a:p>
            <a:pPr eaLnBrk="1" hangingPunct="1"/>
            <a:endParaRPr lang="en-US" dirty="0" smtClean="0">
              <a:solidFill>
                <a:schemeClr val="tx2"/>
              </a:solidFill>
              <a:latin typeface="Times New Roman" pitchFamily="18" charset="0"/>
              <a:cs typeface="Times New Roman" pitchFamily="18" charset="0"/>
            </a:endParaRPr>
          </a:p>
          <a:p>
            <a:pPr eaLnBrk="1" hangingPunct="1"/>
            <a:r>
              <a:rPr lang="en-US" dirty="0" smtClean="0">
                <a:latin typeface="Times New Roman" pitchFamily="18" charset="0"/>
                <a:cs typeface="Times New Roman" pitchFamily="18" charset="0"/>
              </a:rPr>
              <a:t>To </a:t>
            </a:r>
            <a:r>
              <a:rPr lang="en-US" dirty="0" smtClean="0">
                <a:solidFill>
                  <a:schemeClr val="tx2"/>
                </a:solidFill>
                <a:latin typeface="Times New Roman" pitchFamily="18" charset="0"/>
                <a:cs typeface="Times New Roman" pitchFamily="18" charset="0"/>
              </a:rPr>
              <a:t>traverse</a:t>
            </a:r>
            <a:r>
              <a:rPr lang="en-US" dirty="0" smtClean="0">
                <a:latin typeface="Times New Roman" pitchFamily="18" charset="0"/>
                <a:cs typeface="Times New Roman" pitchFamily="18" charset="0"/>
              </a:rPr>
              <a:t> (or </a:t>
            </a:r>
            <a:r>
              <a:rPr lang="en-US" dirty="0" smtClean="0">
                <a:solidFill>
                  <a:schemeClr val="tx2"/>
                </a:solidFill>
                <a:latin typeface="Times New Roman" pitchFamily="18" charset="0"/>
                <a:cs typeface="Times New Roman" pitchFamily="18" charset="0"/>
              </a:rPr>
              <a:t>walk</a:t>
            </a:r>
            <a:r>
              <a:rPr lang="en-US" dirty="0" smtClean="0">
                <a:latin typeface="Times New Roman" pitchFamily="18" charset="0"/>
                <a:cs typeface="Times New Roman" pitchFamily="18" charset="0"/>
              </a:rPr>
              <a:t>) the binary tree is to visit each node in the binary tree exactly once.</a:t>
            </a:r>
          </a:p>
          <a:p>
            <a:pPr eaLnBrk="1" hangingPunct="1">
              <a:buNone/>
            </a:pPr>
            <a:endParaRPr lang="en-US" dirty="0" smtClean="0">
              <a:latin typeface="Times New Roman" pitchFamily="18" charset="0"/>
              <a:cs typeface="Times New Roman" pitchFamily="18" charset="0"/>
            </a:endParaRPr>
          </a:p>
          <a:p>
            <a:pPr eaLnBrk="1" hangingPunct="1"/>
            <a:r>
              <a:rPr lang="en-US" dirty="0" smtClean="0">
                <a:latin typeface="Times New Roman" pitchFamily="18" charset="0"/>
                <a:cs typeface="Times New Roman" pitchFamily="18" charset="0"/>
              </a:rPr>
              <a:t>Tree traversals are naturally recursive.</a:t>
            </a:r>
          </a:p>
          <a:p>
            <a:pPr eaLnBrk="1" hangingPunct="1">
              <a:buNone/>
            </a:pPr>
            <a:endParaRPr lang="en-US" dirty="0" smtClean="0">
              <a:latin typeface="Times New Roman" pitchFamily="18" charset="0"/>
              <a:cs typeface="Times New Roman" pitchFamily="18" charset="0"/>
            </a:endParaRPr>
          </a:p>
          <a:p>
            <a:pPr eaLnBrk="1" hangingPunct="1"/>
            <a:r>
              <a:rPr lang="en-US" dirty="0" smtClean="0">
                <a:latin typeface="Times New Roman" pitchFamily="18" charset="0"/>
                <a:cs typeface="Times New Roman" pitchFamily="18" charset="0"/>
              </a:rPr>
              <a:t>Since a binary tree has three “parts,” there are six possible ways to traverse the binary tree:</a:t>
            </a:r>
          </a:p>
          <a:p>
            <a:pPr lvl="1" eaLnBrk="1" hangingPunct="1">
              <a:buNone/>
            </a:pPr>
            <a:r>
              <a:rPr lang="en-US" sz="2800" dirty="0" smtClean="0">
                <a:latin typeface="Times New Roman" pitchFamily="18" charset="0"/>
                <a:cs typeface="Times New Roman" pitchFamily="18" charset="0"/>
              </a:rPr>
              <a:t>1.root, left, right		4.root,right,left</a:t>
            </a:r>
          </a:p>
          <a:p>
            <a:pPr lvl="1" eaLnBrk="1" hangingPunct="1">
              <a:buNone/>
            </a:pPr>
            <a:r>
              <a:rPr lang="en-US" sz="2800" dirty="0" smtClean="0">
                <a:latin typeface="Times New Roman" pitchFamily="18" charset="0"/>
                <a:cs typeface="Times New Roman" pitchFamily="18" charset="0"/>
              </a:rPr>
              <a:t>2.left, root, right		5.right,root,left</a:t>
            </a:r>
          </a:p>
          <a:p>
            <a:pPr lvl="1" eaLnBrk="1" hangingPunct="1">
              <a:buNone/>
            </a:pPr>
            <a:r>
              <a:rPr lang="en-US" sz="2800" dirty="0" smtClean="0">
                <a:latin typeface="Times New Roman" pitchFamily="18" charset="0"/>
                <a:cs typeface="Times New Roman" pitchFamily="18" charset="0"/>
              </a:rPr>
              <a:t>3.left, right, root		6.right,left,root</a:t>
            </a:r>
          </a:p>
          <a:p>
            <a:pPr eaLnBrk="1" hangingPunct="1"/>
            <a:endParaRPr lang="en-US" sz="2400" dirty="0" smtClean="0">
              <a:latin typeface="Trebuchet MS" pitchFamily="34"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body" idx="1"/>
          </p:nvPr>
        </p:nvSpPr>
        <p:spPr/>
        <p:txBody>
          <a:bodyPr/>
          <a:lstStyle/>
          <a:p>
            <a:r>
              <a:rPr lang="en-US" dirty="0" smtClean="0"/>
              <a:t>Left, Root, Right-&gt; </a:t>
            </a:r>
            <a:r>
              <a:rPr lang="en-US" dirty="0" err="1" smtClean="0"/>
              <a:t>Inorder</a:t>
            </a:r>
            <a:r>
              <a:rPr lang="en-US" dirty="0" smtClean="0"/>
              <a:t> Traversal</a:t>
            </a:r>
          </a:p>
          <a:p>
            <a:endParaRPr lang="en-US" dirty="0" smtClean="0"/>
          </a:p>
          <a:p>
            <a:r>
              <a:rPr lang="en-US" dirty="0" smtClean="0"/>
              <a:t>Root, Left, Right-&gt; Preorder Traversal</a:t>
            </a:r>
          </a:p>
          <a:p>
            <a:pPr marL="0" indent="0">
              <a:buNone/>
            </a:pPr>
            <a:endParaRPr lang="en-US" dirty="0" smtClean="0"/>
          </a:p>
          <a:p>
            <a:r>
              <a:rPr lang="en-US" dirty="0" smtClean="0"/>
              <a:t>Left, Right, Root-&gt; </a:t>
            </a:r>
            <a:r>
              <a:rPr lang="en-US" dirty="0" err="1" smtClean="0"/>
              <a:t>Postorder</a:t>
            </a:r>
            <a:r>
              <a:rPr lang="en-US" dirty="0" smtClean="0"/>
              <a:t> Traversal</a:t>
            </a:r>
          </a:p>
          <a:p>
            <a:endParaRPr lang="en-US" dirty="0" smtClean="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1371600" y="304800"/>
            <a:ext cx="5656966" cy="4586784"/>
          </a:xfrm>
          <a:prstGeom prst="rect">
            <a:avLst/>
          </a:prstGeom>
          <a:noFill/>
          <a:ln w="9525">
            <a:noFill/>
            <a:miter lim="800000"/>
            <a:headEnd/>
            <a:tailEnd/>
          </a:ln>
          <a:effectLst/>
        </p:spPr>
      </p:pic>
      <p:sp>
        <p:nvSpPr>
          <p:cNvPr id="3" name="TextBox 2"/>
          <p:cNvSpPr txBox="1"/>
          <p:nvPr/>
        </p:nvSpPr>
        <p:spPr>
          <a:xfrm>
            <a:off x="990600" y="4891584"/>
            <a:ext cx="6705600" cy="1015663"/>
          </a:xfrm>
          <a:prstGeom prst="rect">
            <a:avLst/>
          </a:prstGeom>
          <a:noFill/>
        </p:spPr>
        <p:txBody>
          <a:bodyPr wrap="square" rtlCol="0">
            <a:spAutoFit/>
          </a:bodyPr>
          <a:lstStyle/>
          <a:p>
            <a:r>
              <a:rPr lang="en-IN" sz="2000" b="1" dirty="0" err="1" smtClean="0">
                <a:latin typeface="Times New Roman" pitchFamily="18" charset="0"/>
                <a:cs typeface="Times New Roman" pitchFamily="18" charset="0"/>
              </a:rPr>
              <a:t>Preorder</a:t>
            </a:r>
            <a:r>
              <a:rPr lang="en-IN" sz="2000" b="1" dirty="0" smtClean="0">
                <a:latin typeface="Times New Roman" pitchFamily="18" charset="0"/>
                <a:cs typeface="Times New Roman" pitchFamily="18" charset="0"/>
              </a:rPr>
              <a:t>: </a:t>
            </a:r>
            <a:r>
              <a:rPr lang="en-IN" sz="2000" dirty="0" smtClean="0">
                <a:latin typeface="Times New Roman" pitchFamily="18" charset="0"/>
                <a:cs typeface="Times New Roman" pitchFamily="18" charset="0"/>
              </a:rPr>
              <a:t>65 19 15 28 25 57 74 69 88 81</a:t>
            </a:r>
          </a:p>
          <a:p>
            <a:r>
              <a:rPr lang="en-IN" sz="2000" b="1" dirty="0" err="1" smtClean="0">
                <a:latin typeface="Times New Roman" pitchFamily="18" charset="0"/>
                <a:cs typeface="Times New Roman" pitchFamily="18" charset="0"/>
              </a:rPr>
              <a:t>Inorder</a:t>
            </a:r>
            <a:r>
              <a:rPr lang="en-IN" sz="2000" b="1" dirty="0" smtClean="0">
                <a:latin typeface="Times New Roman" pitchFamily="18" charset="0"/>
                <a:cs typeface="Times New Roman" pitchFamily="18" charset="0"/>
              </a:rPr>
              <a:t>: </a:t>
            </a:r>
            <a:r>
              <a:rPr lang="en-IN" sz="2000" dirty="0" smtClean="0">
                <a:latin typeface="Times New Roman" pitchFamily="18" charset="0"/>
                <a:cs typeface="Times New Roman" pitchFamily="18" charset="0"/>
              </a:rPr>
              <a:t>15 19 25 28 57 65 69 74 81 88</a:t>
            </a:r>
          </a:p>
          <a:p>
            <a:r>
              <a:rPr lang="en-IN" sz="2000" b="1" dirty="0" err="1" smtClean="0">
                <a:latin typeface="Times New Roman" pitchFamily="18" charset="0"/>
                <a:cs typeface="Times New Roman" pitchFamily="18" charset="0"/>
              </a:rPr>
              <a:t>Postorder</a:t>
            </a:r>
            <a:r>
              <a:rPr lang="en-IN" sz="2000" b="1" dirty="0" smtClean="0">
                <a:latin typeface="Times New Roman" pitchFamily="18" charset="0"/>
                <a:cs typeface="Times New Roman" pitchFamily="18" charset="0"/>
              </a:rPr>
              <a:t>: </a:t>
            </a:r>
            <a:r>
              <a:rPr lang="en-IN" sz="2000" dirty="0" smtClean="0">
                <a:latin typeface="Times New Roman" pitchFamily="18" charset="0"/>
                <a:cs typeface="Times New Roman" pitchFamily="18" charset="0"/>
              </a:rPr>
              <a:t>15 25 57 28 19 69 81 88 74 65</a:t>
            </a:r>
            <a:endParaRPr lang="en-IN"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457200" y="0"/>
            <a:ext cx="8229600" cy="715962"/>
          </a:xfrm>
        </p:spPr>
        <p:txBody>
          <a:bodyPr>
            <a:normAutofit fontScale="90000"/>
          </a:bodyPr>
          <a:lstStyle/>
          <a:p>
            <a:pPr eaLnBrk="1" hangingPunct="1"/>
            <a:r>
              <a:rPr lang="en-US" dirty="0" smtClean="0"/>
              <a:t>Preorder traversal</a:t>
            </a:r>
          </a:p>
        </p:txBody>
      </p:sp>
      <p:sp>
        <p:nvSpPr>
          <p:cNvPr id="11268" name="Rectangle 3"/>
          <p:cNvSpPr>
            <a:spLocks noGrp="1" noChangeArrowheads="1"/>
          </p:cNvSpPr>
          <p:nvPr>
            <p:ph type="body" idx="1"/>
          </p:nvPr>
        </p:nvSpPr>
        <p:spPr>
          <a:xfrm>
            <a:off x="228600" y="914400"/>
            <a:ext cx="8686800" cy="5943600"/>
          </a:xfrm>
        </p:spPr>
        <p:txBody>
          <a:bodyPr>
            <a:normAutofit fontScale="92500" lnSpcReduction="10000"/>
          </a:bodyPr>
          <a:lstStyle/>
          <a:p>
            <a:pPr eaLnBrk="1" hangingPunct="1"/>
            <a:r>
              <a:rPr lang="en-US" sz="2800" dirty="0" smtClean="0">
                <a:latin typeface="Times New Roman" pitchFamily="18" charset="0"/>
                <a:cs typeface="Times New Roman" pitchFamily="18" charset="0"/>
              </a:rPr>
              <a:t>Visit root node R</a:t>
            </a:r>
          </a:p>
          <a:p>
            <a:pPr eaLnBrk="1" hangingPunct="1"/>
            <a:r>
              <a:rPr lang="en-US" sz="2800" dirty="0" smtClean="0">
                <a:latin typeface="Times New Roman" pitchFamily="18" charset="0"/>
                <a:cs typeface="Times New Roman" pitchFamily="18" charset="0"/>
              </a:rPr>
              <a:t>Traverse the left sub tree of root node R in preorder.</a:t>
            </a:r>
          </a:p>
          <a:p>
            <a:r>
              <a:rPr lang="en-US" sz="2800" dirty="0" smtClean="0">
                <a:latin typeface="Times New Roman" pitchFamily="18" charset="0"/>
                <a:cs typeface="Times New Roman" pitchFamily="18" charset="0"/>
              </a:rPr>
              <a:t>Traverse the right sub tree of root node R in preorder.</a:t>
            </a:r>
          </a:p>
          <a:p>
            <a:pPr eaLnBrk="1" hangingPunct="1">
              <a:buClr>
                <a:srgbClr val="FFFF99"/>
              </a:buClr>
              <a:buFontTx/>
              <a:buChar char=" "/>
            </a:pPr>
            <a:endParaRPr lang="en-US" sz="2400" dirty="0" smtClean="0">
              <a:solidFill>
                <a:schemeClr val="accent2"/>
              </a:solidFill>
              <a:latin typeface="Times New Roman" pitchFamily="18" charset="0"/>
              <a:cs typeface="Times New Roman" pitchFamily="18" charset="0"/>
            </a:endParaRPr>
          </a:p>
          <a:p>
            <a:pPr eaLnBrk="1" hangingPunct="1">
              <a:buClr>
                <a:srgbClr val="FFFF99"/>
              </a:buClr>
              <a:buFontTx/>
              <a:buChar char=" "/>
            </a:pPr>
            <a:r>
              <a:rPr lang="en-US" sz="2600" u="sng" dirty="0" smtClean="0">
                <a:latin typeface="Times New Roman" pitchFamily="18" charset="0"/>
                <a:cs typeface="Times New Roman" pitchFamily="18" charset="0"/>
              </a:rPr>
              <a:t>Algorithm preorder(</a:t>
            </a:r>
            <a:r>
              <a:rPr lang="en-US" sz="2600" u="sng" dirty="0" err="1" smtClean="0">
                <a:latin typeface="Times New Roman" pitchFamily="18" charset="0"/>
                <a:cs typeface="Times New Roman" pitchFamily="18" charset="0"/>
              </a:rPr>
              <a:t>ptr</a:t>
            </a:r>
            <a:r>
              <a:rPr lang="en-US" sz="2600" u="sng" dirty="0" smtClean="0">
                <a:latin typeface="Times New Roman" pitchFamily="18" charset="0"/>
                <a:cs typeface="Times New Roman" pitchFamily="18" charset="0"/>
              </a:rPr>
              <a:t>)</a:t>
            </a:r>
          </a:p>
          <a:p>
            <a:pPr eaLnBrk="1" hangingPunct="1">
              <a:buClr>
                <a:srgbClr val="FFFF99"/>
              </a:buClr>
              <a:buFontTx/>
              <a:buChar char=" "/>
            </a:pPr>
            <a:r>
              <a:rPr lang="en-US" sz="2600" dirty="0" smtClean="0">
                <a:latin typeface="Times New Roman" pitchFamily="18" charset="0"/>
                <a:cs typeface="Times New Roman" pitchFamily="18" charset="0"/>
              </a:rPr>
              <a:t>i/p: A node in the tree. Initially it is the root.</a:t>
            </a:r>
          </a:p>
          <a:p>
            <a:pPr eaLnBrk="1" hangingPunct="1">
              <a:buClr>
                <a:srgbClr val="FFFF99"/>
              </a:buClr>
              <a:buFontTx/>
              <a:buChar char=" "/>
            </a:pPr>
            <a:r>
              <a:rPr lang="en-US" sz="2600" dirty="0" smtClean="0">
                <a:latin typeface="Times New Roman" pitchFamily="18" charset="0"/>
                <a:cs typeface="Times New Roman" pitchFamily="18" charset="0"/>
              </a:rPr>
              <a:t>o/p: visiting all nodes in preorder fashion</a:t>
            </a:r>
          </a:p>
          <a:p>
            <a:pPr eaLnBrk="1" hangingPunct="1">
              <a:buClr>
                <a:srgbClr val="FFFF99"/>
              </a:buClr>
              <a:buFontTx/>
              <a:buChar char=" "/>
            </a:pPr>
            <a:r>
              <a:rPr lang="en-US" sz="2600" dirty="0" smtClean="0">
                <a:latin typeface="Times New Roman" pitchFamily="18" charset="0"/>
                <a:cs typeface="Times New Roman" pitchFamily="18" charset="0"/>
              </a:rPr>
              <a:t>Data structure: linked structure of binary tree.</a:t>
            </a:r>
          </a:p>
          <a:p>
            <a:pPr eaLnBrk="1" hangingPunct="1">
              <a:buClr>
                <a:srgbClr val="FFFF99"/>
              </a:buClr>
              <a:buFontTx/>
              <a:buChar char=" "/>
            </a:pPr>
            <a:r>
              <a:rPr lang="en-US" sz="2600" dirty="0" smtClean="0">
                <a:latin typeface="Times New Roman" pitchFamily="18" charset="0"/>
                <a:cs typeface="Times New Roman" pitchFamily="18" charset="0"/>
              </a:rPr>
              <a:t/>
            </a:r>
            <a:br>
              <a:rPr lang="en-US" sz="2600" dirty="0" smtClean="0">
                <a:latin typeface="Times New Roman" pitchFamily="18" charset="0"/>
                <a:cs typeface="Times New Roman" pitchFamily="18" charset="0"/>
              </a:rPr>
            </a:br>
            <a:r>
              <a:rPr lang="en-US" sz="2600" dirty="0" smtClean="0">
                <a:latin typeface="Times New Roman" pitchFamily="18" charset="0"/>
                <a:cs typeface="Times New Roman" pitchFamily="18" charset="0"/>
              </a:rPr>
              <a:t>1. if (</a:t>
            </a:r>
            <a:r>
              <a:rPr lang="en-US" sz="2600" dirty="0" err="1" smtClean="0">
                <a:latin typeface="Times New Roman" pitchFamily="18" charset="0"/>
                <a:cs typeface="Times New Roman" pitchFamily="18" charset="0"/>
              </a:rPr>
              <a:t>ptr</a:t>
            </a:r>
            <a:r>
              <a:rPr lang="en-US" sz="2600" dirty="0" smtClean="0">
                <a:latin typeface="Times New Roman" pitchFamily="18" charset="0"/>
                <a:cs typeface="Times New Roman" pitchFamily="18" charset="0"/>
              </a:rPr>
              <a:t> !=NULL) then</a:t>
            </a:r>
          </a:p>
          <a:p>
            <a:pPr eaLnBrk="1" hangingPunct="1">
              <a:buClr>
                <a:srgbClr val="FFFF99"/>
              </a:buClr>
              <a:buFontTx/>
              <a:buChar char=" "/>
            </a:pPr>
            <a:r>
              <a:rPr lang="en-US" sz="2600" dirty="0" smtClean="0">
                <a:latin typeface="Times New Roman" pitchFamily="18" charset="0"/>
                <a:cs typeface="Times New Roman" pitchFamily="18" charset="0"/>
              </a:rPr>
              <a:t>       1.1. print(</a:t>
            </a:r>
            <a:r>
              <a:rPr lang="en-US" sz="2600" dirty="0" err="1" smtClean="0">
                <a:latin typeface="Times New Roman" pitchFamily="18" charset="0"/>
                <a:cs typeface="Times New Roman" pitchFamily="18" charset="0"/>
              </a:rPr>
              <a:t>ptr</a:t>
            </a:r>
            <a:r>
              <a:rPr lang="en-US" sz="2600" dirty="0" smtClean="0">
                <a:latin typeface="Times New Roman" pitchFamily="18" charset="0"/>
                <a:cs typeface="Times New Roman" pitchFamily="18" charset="0"/>
              </a:rPr>
              <a:t>-&gt;data);</a:t>
            </a:r>
            <a:br>
              <a:rPr lang="en-US" sz="2600" dirty="0" smtClean="0">
                <a:latin typeface="Times New Roman" pitchFamily="18" charset="0"/>
                <a:cs typeface="Times New Roman" pitchFamily="18" charset="0"/>
              </a:rPr>
            </a:br>
            <a:r>
              <a:rPr lang="en-US" sz="2600" dirty="0" smtClean="0">
                <a:latin typeface="Times New Roman" pitchFamily="18" charset="0"/>
                <a:cs typeface="Times New Roman" pitchFamily="18" charset="0"/>
              </a:rPr>
              <a:t>       1.2. preorder(</a:t>
            </a:r>
            <a:r>
              <a:rPr lang="en-US" sz="2600" dirty="0" err="1" smtClean="0">
                <a:latin typeface="Times New Roman" pitchFamily="18" charset="0"/>
                <a:cs typeface="Times New Roman" pitchFamily="18" charset="0"/>
              </a:rPr>
              <a:t>ptr</a:t>
            </a:r>
            <a:r>
              <a:rPr lang="en-US" sz="2600" dirty="0" smtClean="0">
                <a:latin typeface="Times New Roman" pitchFamily="18" charset="0"/>
                <a:cs typeface="Times New Roman" pitchFamily="18" charset="0"/>
              </a:rPr>
              <a:t>-&gt;</a:t>
            </a:r>
            <a:r>
              <a:rPr lang="en-US" sz="2600" dirty="0" err="1" smtClean="0">
                <a:latin typeface="Times New Roman" pitchFamily="18" charset="0"/>
                <a:cs typeface="Times New Roman" pitchFamily="18" charset="0"/>
              </a:rPr>
              <a:t>lc</a:t>
            </a:r>
            <a:r>
              <a:rPr lang="en-US" sz="2600" dirty="0" smtClean="0">
                <a:latin typeface="Times New Roman" pitchFamily="18" charset="0"/>
                <a:cs typeface="Times New Roman" pitchFamily="18" charset="0"/>
              </a:rPr>
              <a:t>);</a:t>
            </a:r>
            <a:br>
              <a:rPr lang="en-US" sz="2600" dirty="0" smtClean="0">
                <a:latin typeface="Times New Roman" pitchFamily="18" charset="0"/>
                <a:cs typeface="Times New Roman" pitchFamily="18" charset="0"/>
              </a:rPr>
            </a:br>
            <a:r>
              <a:rPr lang="en-US" sz="2600" dirty="0" smtClean="0">
                <a:latin typeface="Times New Roman" pitchFamily="18" charset="0"/>
                <a:cs typeface="Times New Roman" pitchFamily="18" charset="0"/>
              </a:rPr>
              <a:t>       1.3. preorder(</a:t>
            </a:r>
            <a:r>
              <a:rPr lang="en-US" sz="2600" dirty="0" err="1" smtClean="0">
                <a:latin typeface="Times New Roman" pitchFamily="18" charset="0"/>
                <a:cs typeface="Times New Roman" pitchFamily="18" charset="0"/>
              </a:rPr>
              <a:t>ptr</a:t>
            </a:r>
            <a:r>
              <a:rPr lang="en-US" sz="2600" dirty="0" smtClean="0">
                <a:latin typeface="Times New Roman" pitchFamily="18" charset="0"/>
                <a:cs typeface="Times New Roman" pitchFamily="18" charset="0"/>
              </a:rPr>
              <a:t>-&gt;</a:t>
            </a:r>
            <a:r>
              <a:rPr lang="en-US" sz="2600" dirty="0" err="1" smtClean="0">
                <a:latin typeface="Times New Roman" pitchFamily="18" charset="0"/>
                <a:cs typeface="Times New Roman" pitchFamily="18" charset="0"/>
              </a:rPr>
              <a:t>rc</a:t>
            </a:r>
            <a:r>
              <a:rPr lang="en-US" sz="2600" dirty="0" smtClean="0">
                <a:latin typeface="Times New Roman" pitchFamily="18" charset="0"/>
                <a:cs typeface="Times New Roman" pitchFamily="18" charset="0"/>
              </a:rPr>
              <a:t>);</a:t>
            </a:r>
          </a:p>
          <a:p>
            <a:pPr eaLnBrk="1" hangingPunct="1">
              <a:buClr>
                <a:srgbClr val="FFFF99"/>
              </a:buClr>
              <a:buFontTx/>
              <a:buChar char=" "/>
            </a:pPr>
            <a:r>
              <a:rPr lang="en-US" sz="2600" dirty="0" smtClean="0">
                <a:latin typeface="Times New Roman" pitchFamily="18" charset="0"/>
                <a:cs typeface="Times New Roman" pitchFamily="18" charset="0"/>
              </a:rPr>
              <a:t>2. </a:t>
            </a:r>
            <a:r>
              <a:rPr lang="en-US" sz="2600" dirty="0" err="1" smtClean="0">
                <a:latin typeface="Times New Roman" pitchFamily="18" charset="0"/>
                <a:cs typeface="Times New Roman" pitchFamily="18" charset="0"/>
              </a:rPr>
              <a:t>Endif</a:t>
            </a:r>
            <a:endParaRPr lang="en-US" sz="2600" dirty="0" smtClean="0">
              <a:latin typeface="Times New Roman" pitchFamily="18" charset="0"/>
              <a:cs typeface="Times New Roman" pitchFamily="18" charset="0"/>
            </a:endParaRPr>
          </a:p>
        </p:txBody>
      </p:sp>
      <p:cxnSp>
        <p:nvCxnSpPr>
          <p:cNvPr id="6" name="Straight Connector 5"/>
          <p:cNvCxnSpPr/>
          <p:nvPr/>
        </p:nvCxnSpPr>
        <p:spPr>
          <a:xfrm>
            <a:off x="0" y="762000"/>
            <a:ext cx="91440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457200" y="0"/>
            <a:ext cx="8229600" cy="715962"/>
          </a:xfrm>
        </p:spPr>
        <p:txBody>
          <a:bodyPr>
            <a:normAutofit fontScale="90000"/>
          </a:bodyPr>
          <a:lstStyle/>
          <a:p>
            <a:pPr eaLnBrk="1" hangingPunct="1"/>
            <a:r>
              <a:rPr lang="en-US" dirty="0" err="1" smtClean="0"/>
              <a:t>Inorder</a:t>
            </a:r>
            <a:r>
              <a:rPr lang="en-US" dirty="0" smtClean="0"/>
              <a:t> traversal</a:t>
            </a:r>
          </a:p>
        </p:txBody>
      </p:sp>
      <p:sp>
        <p:nvSpPr>
          <p:cNvPr id="11268" name="Rectangle 3"/>
          <p:cNvSpPr>
            <a:spLocks noGrp="1" noChangeArrowheads="1"/>
          </p:cNvSpPr>
          <p:nvPr>
            <p:ph type="body" idx="1"/>
          </p:nvPr>
        </p:nvSpPr>
        <p:spPr>
          <a:xfrm>
            <a:off x="0" y="715962"/>
            <a:ext cx="8915400" cy="6142038"/>
          </a:xfrm>
        </p:spPr>
        <p:txBody>
          <a:bodyPr>
            <a:normAutofit lnSpcReduction="10000"/>
          </a:bodyPr>
          <a:lstStyle/>
          <a:p>
            <a:r>
              <a:rPr lang="en-US" sz="2800" dirty="0" smtClean="0">
                <a:latin typeface="Times New Roman" pitchFamily="18" charset="0"/>
                <a:cs typeface="Times New Roman" pitchFamily="18" charset="0"/>
              </a:rPr>
              <a:t>Traverse the left sub tree of root node R in </a:t>
            </a:r>
            <a:r>
              <a:rPr lang="en-US" sz="2800" dirty="0" err="1" smtClean="0">
                <a:latin typeface="Times New Roman" pitchFamily="18" charset="0"/>
                <a:cs typeface="Times New Roman" pitchFamily="18" charset="0"/>
              </a:rPr>
              <a:t>inorder</a:t>
            </a:r>
            <a:r>
              <a:rPr lang="en-US" sz="2800" dirty="0" smtClean="0">
                <a:latin typeface="Times New Roman" pitchFamily="18" charset="0"/>
                <a:cs typeface="Times New Roman" pitchFamily="18" charset="0"/>
              </a:rPr>
              <a:t>.</a:t>
            </a:r>
          </a:p>
          <a:p>
            <a:r>
              <a:rPr lang="en-US" sz="2800" dirty="0" smtClean="0">
                <a:latin typeface="Times New Roman" pitchFamily="18" charset="0"/>
                <a:cs typeface="Times New Roman" pitchFamily="18" charset="0"/>
              </a:rPr>
              <a:t>Visit root node R</a:t>
            </a:r>
          </a:p>
          <a:p>
            <a:r>
              <a:rPr lang="en-US" sz="2800" dirty="0" smtClean="0">
                <a:latin typeface="Times New Roman" pitchFamily="18" charset="0"/>
                <a:cs typeface="Times New Roman" pitchFamily="18" charset="0"/>
              </a:rPr>
              <a:t>Traverse the right sub tree of root node R in </a:t>
            </a:r>
            <a:r>
              <a:rPr lang="en-US" sz="2800" dirty="0" err="1" smtClean="0">
                <a:latin typeface="Times New Roman" pitchFamily="18" charset="0"/>
                <a:cs typeface="Times New Roman" pitchFamily="18" charset="0"/>
              </a:rPr>
              <a:t>inorder</a:t>
            </a:r>
            <a:r>
              <a:rPr lang="en-US" sz="2800" dirty="0" smtClean="0">
                <a:latin typeface="Times New Roman" pitchFamily="18" charset="0"/>
                <a:cs typeface="Times New Roman" pitchFamily="18" charset="0"/>
              </a:rPr>
              <a:t>.</a:t>
            </a:r>
          </a:p>
          <a:p>
            <a:pPr eaLnBrk="1" hangingPunct="1">
              <a:buClr>
                <a:srgbClr val="FFFF99"/>
              </a:buClr>
              <a:buFontTx/>
              <a:buChar char=" "/>
            </a:pPr>
            <a:endParaRPr lang="en-US" sz="2400" dirty="0" smtClean="0">
              <a:solidFill>
                <a:schemeClr val="accent2"/>
              </a:solidFill>
              <a:latin typeface="Times New Roman" pitchFamily="18" charset="0"/>
              <a:cs typeface="Times New Roman" pitchFamily="18" charset="0"/>
            </a:endParaRPr>
          </a:p>
          <a:p>
            <a:pPr eaLnBrk="1" hangingPunct="1">
              <a:buClr>
                <a:srgbClr val="FFFF99"/>
              </a:buClr>
              <a:buFontTx/>
              <a:buChar char=" "/>
            </a:pPr>
            <a:r>
              <a:rPr lang="en-US" sz="2400" u="sng" dirty="0" smtClean="0">
                <a:latin typeface="Times New Roman" pitchFamily="18" charset="0"/>
                <a:cs typeface="Times New Roman" pitchFamily="18" charset="0"/>
              </a:rPr>
              <a:t>Algorithm </a:t>
            </a:r>
            <a:r>
              <a:rPr lang="en-US" sz="2400" u="sng" dirty="0" err="1" smtClean="0">
                <a:latin typeface="Times New Roman" pitchFamily="18" charset="0"/>
                <a:cs typeface="Times New Roman" pitchFamily="18" charset="0"/>
              </a:rPr>
              <a:t>inorder</a:t>
            </a:r>
            <a:r>
              <a:rPr lang="en-US" sz="2400" u="sng" dirty="0" smtClean="0">
                <a:latin typeface="Times New Roman" pitchFamily="18" charset="0"/>
                <a:cs typeface="Times New Roman" pitchFamily="18" charset="0"/>
              </a:rPr>
              <a:t>(</a:t>
            </a:r>
            <a:r>
              <a:rPr lang="en-US" sz="2400" u="sng" dirty="0" err="1" smtClean="0">
                <a:latin typeface="Times New Roman" pitchFamily="18" charset="0"/>
                <a:cs typeface="Times New Roman" pitchFamily="18" charset="0"/>
              </a:rPr>
              <a:t>ptr</a:t>
            </a:r>
            <a:r>
              <a:rPr lang="en-US" sz="2400" u="sng" dirty="0" smtClean="0">
                <a:latin typeface="Times New Roman" pitchFamily="18" charset="0"/>
                <a:cs typeface="Times New Roman" pitchFamily="18" charset="0"/>
              </a:rPr>
              <a:t>)</a:t>
            </a:r>
          </a:p>
          <a:p>
            <a:pPr>
              <a:buClr>
                <a:srgbClr val="FFFF99"/>
              </a:buClr>
              <a:buFontTx/>
              <a:buChar char=" "/>
            </a:pPr>
            <a:r>
              <a:rPr lang="en-US" sz="2400" dirty="0">
                <a:latin typeface="Times New Roman" pitchFamily="18" charset="0"/>
                <a:cs typeface="Times New Roman" pitchFamily="18" charset="0"/>
              </a:rPr>
              <a:t>i/p: A node in the tree. Initially it is the root.</a:t>
            </a:r>
          </a:p>
          <a:p>
            <a:pPr eaLnBrk="1" hangingPunct="1">
              <a:buClr>
                <a:srgbClr val="FFFF99"/>
              </a:buClr>
              <a:buFontTx/>
              <a:buChar char=" "/>
            </a:pPr>
            <a:r>
              <a:rPr lang="en-US" sz="2400" dirty="0" smtClean="0">
                <a:latin typeface="Times New Roman" pitchFamily="18" charset="0"/>
                <a:cs typeface="Times New Roman" pitchFamily="18" charset="0"/>
              </a:rPr>
              <a:t>o/p: visiting all nodes in </a:t>
            </a:r>
            <a:r>
              <a:rPr lang="en-US" sz="2400" dirty="0" err="1" smtClean="0">
                <a:latin typeface="Times New Roman" pitchFamily="18" charset="0"/>
                <a:cs typeface="Times New Roman" pitchFamily="18" charset="0"/>
              </a:rPr>
              <a:t>inorder</a:t>
            </a:r>
            <a:r>
              <a:rPr lang="en-US" sz="2400" dirty="0" smtClean="0">
                <a:latin typeface="Times New Roman" pitchFamily="18" charset="0"/>
                <a:cs typeface="Times New Roman" pitchFamily="18" charset="0"/>
              </a:rPr>
              <a:t> fashion</a:t>
            </a:r>
          </a:p>
          <a:p>
            <a:pPr eaLnBrk="1" hangingPunct="1">
              <a:buClr>
                <a:srgbClr val="FFFF99"/>
              </a:buClr>
              <a:buFontTx/>
              <a:buChar char=" "/>
            </a:pPr>
            <a:r>
              <a:rPr lang="en-US" sz="2400" dirty="0" smtClean="0">
                <a:latin typeface="Times New Roman" pitchFamily="18" charset="0"/>
                <a:cs typeface="Times New Roman" pitchFamily="18" charset="0"/>
              </a:rPr>
              <a:t>Data structure: linked structure of binary tree.</a:t>
            </a:r>
          </a:p>
          <a:p>
            <a:pPr eaLnBrk="1" hangingPunct="1">
              <a:buClr>
                <a:srgbClr val="FFFF99"/>
              </a:buClr>
              <a:buFontTx/>
              <a:buChar char=" "/>
            </a:pP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1. </a:t>
            </a:r>
            <a:r>
              <a:rPr lang="en-US" sz="2400" dirty="0">
                <a:latin typeface="Times New Roman" pitchFamily="18" charset="0"/>
                <a:cs typeface="Times New Roman" pitchFamily="18" charset="0"/>
              </a:rPr>
              <a:t>I</a:t>
            </a:r>
            <a:r>
              <a:rPr lang="en-US" sz="2400" dirty="0" smtClean="0">
                <a:latin typeface="Times New Roman" pitchFamily="18" charset="0"/>
                <a:cs typeface="Times New Roman" pitchFamily="18" charset="0"/>
              </a:rPr>
              <a:t>f (</a:t>
            </a:r>
            <a:r>
              <a:rPr lang="en-US" sz="2400" dirty="0" err="1" smtClean="0">
                <a:latin typeface="Times New Roman" pitchFamily="18" charset="0"/>
                <a:cs typeface="Times New Roman" pitchFamily="18" charset="0"/>
              </a:rPr>
              <a:t>ptr</a:t>
            </a:r>
            <a:r>
              <a:rPr lang="en-US" sz="2400" dirty="0" smtClean="0">
                <a:latin typeface="Times New Roman" pitchFamily="18" charset="0"/>
                <a:cs typeface="Times New Roman" pitchFamily="18" charset="0"/>
              </a:rPr>
              <a:t> !=NULL) then</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1.1 </a:t>
            </a:r>
            <a:r>
              <a:rPr lang="en-US" sz="2400" dirty="0" err="1" smtClean="0">
                <a:latin typeface="Times New Roman" pitchFamily="18" charset="0"/>
                <a:cs typeface="Times New Roman" pitchFamily="18" charset="0"/>
              </a:rPr>
              <a:t>inorder</a:t>
            </a:r>
            <a:r>
              <a:rPr lang="en-US" sz="2400" dirty="0" smtClean="0">
                <a:latin typeface="Times New Roman" pitchFamily="18" charset="0"/>
                <a:cs typeface="Times New Roman" pitchFamily="18" charset="0"/>
              </a:rPr>
              <a:t>(</a:t>
            </a:r>
            <a:r>
              <a:rPr lang="en-US" sz="2400" dirty="0" err="1" smtClean="0">
                <a:latin typeface="Times New Roman" pitchFamily="18" charset="0"/>
                <a:cs typeface="Times New Roman" pitchFamily="18" charset="0"/>
              </a:rPr>
              <a:t>ptr</a:t>
            </a:r>
            <a:r>
              <a:rPr lang="en-US" sz="2400" dirty="0" smtClean="0">
                <a:latin typeface="Times New Roman" pitchFamily="18" charset="0"/>
                <a:cs typeface="Times New Roman" pitchFamily="18" charset="0"/>
              </a:rPr>
              <a:t>-&gt;</a:t>
            </a:r>
            <a:r>
              <a:rPr lang="en-US" sz="2400" dirty="0" err="1" smtClean="0">
                <a:latin typeface="Times New Roman" pitchFamily="18" charset="0"/>
                <a:cs typeface="Times New Roman" pitchFamily="18" charset="0"/>
              </a:rPr>
              <a:t>lc</a:t>
            </a:r>
            <a:r>
              <a:rPr lang="en-US" sz="2400" dirty="0" smtClean="0">
                <a:latin typeface="Times New Roman" pitchFamily="18" charset="0"/>
                <a:cs typeface="Times New Roman" pitchFamily="18" charset="0"/>
              </a:rPr>
              <a:t>);</a:t>
            </a:r>
          </a:p>
          <a:p>
            <a:pPr>
              <a:buClr>
                <a:srgbClr val="FFFF99"/>
              </a:buClr>
              <a:buFontTx/>
              <a:buChar char=" "/>
            </a:pPr>
            <a:r>
              <a:rPr lang="en-US" sz="2400" dirty="0" smtClean="0">
                <a:latin typeface="Times New Roman" pitchFamily="18" charset="0"/>
                <a:cs typeface="Times New Roman" pitchFamily="18" charset="0"/>
              </a:rPr>
              <a:t>       1.2. print(</a:t>
            </a:r>
            <a:r>
              <a:rPr lang="en-US" sz="2400" dirty="0" err="1" smtClean="0">
                <a:latin typeface="Times New Roman" pitchFamily="18" charset="0"/>
                <a:cs typeface="Times New Roman" pitchFamily="18" charset="0"/>
              </a:rPr>
              <a:t>ptr</a:t>
            </a:r>
            <a:r>
              <a:rPr lang="en-US" sz="2400" dirty="0" smtClean="0">
                <a:latin typeface="Times New Roman" pitchFamily="18" charset="0"/>
                <a:cs typeface="Times New Roman" pitchFamily="18" charset="0"/>
              </a:rPr>
              <a:t>-&gt;data);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1.3. </a:t>
            </a:r>
            <a:r>
              <a:rPr lang="en-US" sz="2400" dirty="0" err="1" smtClean="0">
                <a:latin typeface="Times New Roman" pitchFamily="18" charset="0"/>
                <a:cs typeface="Times New Roman" pitchFamily="18" charset="0"/>
              </a:rPr>
              <a:t>inorder</a:t>
            </a:r>
            <a:r>
              <a:rPr lang="en-US" sz="2400" dirty="0" smtClean="0">
                <a:latin typeface="Times New Roman" pitchFamily="18" charset="0"/>
                <a:cs typeface="Times New Roman" pitchFamily="18" charset="0"/>
              </a:rPr>
              <a:t>(</a:t>
            </a:r>
            <a:r>
              <a:rPr lang="en-US" sz="2400" dirty="0" err="1" smtClean="0">
                <a:latin typeface="Times New Roman" pitchFamily="18" charset="0"/>
                <a:cs typeface="Times New Roman" pitchFamily="18" charset="0"/>
              </a:rPr>
              <a:t>ptr</a:t>
            </a:r>
            <a:r>
              <a:rPr lang="en-US" sz="2400" dirty="0" smtClean="0">
                <a:latin typeface="Times New Roman" pitchFamily="18" charset="0"/>
                <a:cs typeface="Times New Roman" pitchFamily="18" charset="0"/>
              </a:rPr>
              <a:t>-&gt;</a:t>
            </a:r>
            <a:r>
              <a:rPr lang="en-US" sz="2400" dirty="0" err="1" smtClean="0">
                <a:latin typeface="Times New Roman" pitchFamily="18" charset="0"/>
                <a:cs typeface="Times New Roman" pitchFamily="18" charset="0"/>
              </a:rPr>
              <a:t>rc</a:t>
            </a:r>
            <a:r>
              <a:rPr lang="en-US" sz="2400" dirty="0" smtClean="0">
                <a:latin typeface="Times New Roman" pitchFamily="18" charset="0"/>
                <a:cs typeface="Times New Roman" pitchFamily="18" charset="0"/>
              </a:rPr>
              <a:t>);</a:t>
            </a:r>
          </a:p>
          <a:p>
            <a:pPr eaLnBrk="1" hangingPunct="1">
              <a:buClr>
                <a:srgbClr val="FFFF99"/>
              </a:buClr>
              <a:buFontTx/>
              <a:buChar char=" "/>
            </a:pPr>
            <a:r>
              <a:rPr lang="en-US" sz="2400" dirty="0" smtClean="0">
                <a:latin typeface="Times New Roman" pitchFamily="18" charset="0"/>
                <a:cs typeface="Times New Roman" pitchFamily="18" charset="0"/>
              </a:rPr>
              <a:t>2. </a:t>
            </a:r>
            <a:r>
              <a:rPr lang="en-US" sz="2400" dirty="0" err="1" smtClean="0">
                <a:latin typeface="Times New Roman" pitchFamily="18" charset="0"/>
                <a:cs typeface="Times New Roman" pitchFamily="18" charset="0"/>
              </a:rPr>
              <a:t>Endif</a:t>
            </a:r>
            <a:endParaRPr lang="en-US" sz="2400" dirty="0" smtClean="0">
              <a:latin typeface="Times New Roman" pitchFamily="18" charset="0"/>
              <a:cs typeface="Times New Roman" pitchFamily="18" charset="0"/>
            </a:endParaRPr>
          </a:p>
        </p:txBody>
      </p:sp>
      <p:cxnSp>
        <p:nvCxnSpPr>
          <p:cNvPr id="6" name="Straight Connector 5"/>
          <p:cNvCxnSpPr/>
          <p:nvPr/>
        </p:nvCxnSpPr>
        <p:spPr>
          <a:xfrm>
            <a:off x="0" y="762000"/>
            <a:ext cx="91440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457200" y="0"/>
            <a:ext cx="8229600" cy="715962"/>
          </a:xfrm>
        </p:spPr>
        <p:txBody>
          <a:bodyPr>
            <a:normAutofit fontScale="90000"/>
          </a:bodyPr>
          <a:lstStyle/>
          <a:p>
            <a:pPr eaLnBrk="1" hangingPunct="1"/>
            <a:r>
              <a:rPr lang="en-US" dirty="0" err="1" smtClean="0"/>
              <a:t>Postorder</a:t>
            </a:r>
            <a:r>
              <a:rPr lang="en-US" dirty="0" smtClean="0"/>
              <a:t> traversal</a:t>
            </a:r>
          </a:p>
        </p:txBody>
      </p:sp>
      <p:sp>
        <p:nvSpPr>
          <p:cNvPr id="11268" name="Rectangle 3"/>
          <p:cNvSpPr>
            <a:spLocks noGrp="1" noChangeArrowheads="1"/>
          </p:cNvSpPr>
          <p:nvPr>
            <p:ph type="body" idx="1"/>
          </p:nvPr>
        </p:nvSpPr>
        <p:spPr>
          <a:xfrm>
            <a:off x="152400" y="762000"/>
            <a:ext cx="8839200" cy="6096000"/>
          </a:xfrm>
        </p:spPr>
        <p:txBody>
          <a:bodyPr>
            <a:normAutofit lnSpcReduction="10000"/>
          </a:bodyPr>
          <a:lstStyle/>
          <a:p>
            <a:r>
              <a:rPr lang="en-US" sz="2800" dirty="0" smtClean="0">
                <a:latin typeface="Times New Roman" pitchFamily="18" charset="0"/>
                <a:cs typeface="Times New Roman" pitchFamily="18" charset="0"/>
              </a:rPr>
              <a:t>Traverse the left sub tree of root node R in </a:t>
            </a:r>
            <a:r>
              <a:rPr lang="en-US" sz="2800" dirty="0" err="1" smtClean="0">
                <a:latin typeface="Times New Roman" pitchFamily="18" charset="0"/>
                <a:cs typeface="Times New Roman" pitchFamily="18" charset="0"/>
              </a:rPr>
              <a:t>postorder</a:t>
            </a:r>
            <a:r>
              <a:rPr lang="en-US" sz="2800" dirty="0" smtClean="0">
                <a:latin typeface="Times New Roman" pitchFamily="18" charset="0"/>
                <a:cs typeface="Times New Roman" pitchFamily="18" charset="0"/>
              </a:rPr>
              <a:t>.</a:t>
            </a:r>
          </a:p>
          <a:p>
            <a:r>
              <a:rPr lang="en-US" sz="2800" dirty="0" smtClean="0">
                <a:latin typeface="Times New Roman" pitchFamily="18" charset="0"/>
                <a:cs typeface="Times New Roman" pitchFamily="18" charset="0"/>
              </a:rPr>
              <a:t>Traverse the right sub tree of root node R in </a:t>
            </a:r>
            <a:r>
              <a:rPr lang="en-US" sz="2800" dirty="0" err="1" smtClean="0">
                <a:latin typeface="Times New Roman" pitchFamily="18" charset="0"/>
                <a:cs typeface="Times New Roman" pitchFamily="18" charset="0"/>
              </a:rPr>
              <a:t>postorder</a:t>
            </a:r>
            <a:r>
              <a:rPr lang="en-US" sz="2800" dirty="0" smtClean="0">
                <a:latin typeface="Times New Roman" pitchFamily="18" charset="0"/>
                <a:cs typeface="Times New Roman" pitchFamily="18" charset="0"/>
              </a:rPr>
              <a:t>.</a:t>
            </a:r>
          </a:p>
          <a:p>
            <a:r>
              <a:rPr lang="en-US" sz="2800" dirty="0" smtClean="0">
                <a:latin typeface="Times New Roman" pitchFamily="18" charset="0"/>
                <a:cs typeface="Times New Roman" pitchFamily="18" charset="0"/>
              </a:rPr>
              <a:t>Visit root node R</a:t>
            </a:r>
          </a:p>
          <a:p>
            <a:pPr eaLnBrk="1" hangingPunct="1">
              <a:buClr>
                <a:srgbClr val="FFFF99"/>
              </a:buClr>
              <a:buFontTx/>
              <a:buChar char=" "/>
            </a:pPr>
            <a:endParaRPr lang="en-US" sz="2400" dirty="0" smtClean="0">
              <a:solidFill>
                <a:schemeClr val="accent2"/>
              </a:solidFill>
              <a:latin typeface="Times New Roman" pitchFamily="18" charset="0"/>
              <a:cs typeface="Times New Roman" pitchFamily="18" charset="0"/>
            </a:endParaRPr>
          </a:p>
          <a:p>
            <a:pPr eaLnBrk="1" hangingPunct="1">
              <a:buClr>
                <a:srgbClr val="FFFF99"/>
              </a:buClr>
              <a:buFontTx/>
              <a:buChar char=" "/>
            </a:pPr>
            <a:r>
              <a:rPr lang="en-US" sz="2600" u="sng" dirty="0" smtClean="0">
                <a:latin typeface="Times New Roman" pitchFamily="18" charset="0"/>
                <a:cs typeface="Times New Roman" pitchFamily="18" charset="0"/>
              </a:rPr>
              <a:t>Algorithm </a:t>
            </a:r>
            <a:r>
              <a:rPr lang="en-US" sz="2600" u="sng" dirty="0" err="1" smtClean="0">
                <a:latin typeface="Times New Roman" pitchFamily="18" charset="0"/>
                <a:cs typeface="Times New Roman" pitchFamily="18" charset="0"/>
              </a:rPr>
              <a:t>postorder</a:t>
            </a:r>
            <a:r>
              <a:rPr lang="en-US" sz="2600" u="sng" dirty="0" smtClean="0">
                <a:latin typeface="Times New Roman" pitchFamily="18" charset="0"/>
                <a:cs typeface="Times New Roman" pitchFamily="18" charset="0"/>
              </a:rPr>
              <a:t>(</a:t>
            </a:r>
            <a:r>
              <a:rPr lang="en-US" sz="2600" u="sng" dirty="0" err="1" smtClean="0">
                <a:latin typeface="Times New Roman" pitchFamily="18" charset="0"/>
                <a:cs typeface="Times New Roman" pitchFamily="18" charset="0"/>
              </a:rPr>
              <a:t>ptr</a:t>
            </a:r>
            <a:r>
              <a:rPr lang="en-US" sz="2600" u="sng" dirty="0" smtClean="0">
                <a:latin typeface="Times New Roman" pitchFamily="18" charset="0"/>
                <a:cs typeface="Times New Roman" pitchFamily="18" charset="0"/>
              </a:rPr>
              <a:t>)</a:t>
            </a:r>
          </a:p>
          <a:p>
            <a:pPr>
              <a:buClr>
                <a:srgbClr val="FFFF99"/>
              </a:buClr>
              <a:buFontTx/>
              <a:buChar char=" "/>
            </a:pPr>
            <a:r>
              <a:rPr lang="en-US" sz="2600" dirty="0">
                <a:latin typeface="Times New Roman" pitchFamily="18" charset="0"/>
                <a:cs typeface="Times New Roman" pitchFamily="18" charset="0"/>
              </a:rPr>
              <a:t>i/p: A node in the tree. Initially it is the root.</a:t>
            </a:r>
          </a:p>
          <a:p>
            <a:pPr eaLnBrk="1" hangingPunct="1">
              <a:buClr>
                <a:srgbClr val="FFFF99"/>
              </a:buClr>
              <a:buFontTx/>
              <a:buChar char=" "/>
            </a:pPr>
            <a:r>
              <a:rPr lang="en-US" sz="2600" dirty="0" smtClean="0">
                <a:latin typeface="Times New Roman" pitchFamily="18" charset="0"/>
                <a:cs typeface="Times New Roman" pitchFamily="18" charset="0"/>
              </a:rPr>
              <a:t>o/p: visiting all nodes in </a:t>
            </a:r>
            <a:r>
              <a:rPr lang="en-US" sz="2600" dirty="0" err="1" smtClean="0">
                <a:latin typeface="Times New Roman" pitchFamily="18" charset="0"/>
                <a:cs typeface="Times New Roman" pitchFamily="18" charset="0"/>
              </a:rPr>
              <a:t>postorder</a:t>
            </a:r>
            <a:r>
              <a:rPr lang="en-US" sz="2600" dirty="0" smtClean="0">
                <a:latin typeface="Times New Roman" pitchFamily="18" charset="0"/>
                <a:cs typeface="Times New Roman" pitchFamily="18" charset="0"/>
              </a:rPr>
              <a:t> fashion</a:t>
            </a:r>
          </a:p>
          <a:p>
            <a:pPr eaLnBrk="1" hangingPunct="1">
              <a:buClr>
                <a:srgbClr val="FFFF99"/>
              </a:buClr>
              <a:buFontTx/>
              <a:buChar char=" "/>
            </a:pPr>
            <a:r>
              <a:rPr lang="en-US" sz="2600" dirty="0" smtClean="0">
                <a:latin typeface="Times New Roman" pitchFamily="18" charset="0"/>
                <a:cs typeface="Times New Roman" pitchFamily="18" charset="0"/>
              </a:rPr>
              <a:t>Data structure: linked structure of binary tree.</a:t>
            </a:r>
          </a:p>
          <a:p>
            <a:pPr eaLnBrk="1" hangingPunct="1">
              <a:buClr>
                <a:srgbClr val="FFFF99"/>
              </a:buClr>
              <a:buFontTx/>
              <a:buChar char=" "/>
            </a:pPr>
            <a:r>
              <a:rPr lang="en-US" sz="2600" dirty="0" smtClean="0">
                <a:latin typeface="Times New Roman" pitchFamily="18" charset="0"/>
                <a:cs typeface="Times New Roman" pitchFamily="18" charset="0"/>
              </a:rPr>
              <a:t/>
            </a:r>
            <a:br>
              <a:rPr lang="en-US" sz="2600" dirty="0" smtClean="0">
                <a:latin typeface="Times New Roman" pitchFamily="18" charset="0"/>
                <a:cs typeface="Times New Roman" pitchFamily="18" charset="0"/>
              </a:rPr>
            </a:br>
            <a:r>
              <a:rPr lang="en-US" sz="2600" dirty="0" smtClean="0">
                <a:latin typeface="Times New Roman" pitchFamily="18" charset="0"/>
                <a:cs typeface="Times New Roman" pitchFamily="18" charset="0"/>
              </a:rPr>
              <a:t>1. </a:t>
            </a:r>
            <a:r>
              <a:rPr lang="en-US" sz="2600" dirty="0">
                <a:latin typeface="Times New Roman" pitchFamily="18" charset="0"/>
                <a:cs typeface="Times New Roman" pitchFamily="18" charset="0"/>
              </a:rPr>
              <a:t>I</a:t>
            </a:r>
            <a:r>
              <a:rPr lang="en-US" sz="2600" dirty="0" smtClean="0">
                <a:latin typeface="Times New Roman" pitchFamily="18" charset="0"/>
                <a:cs typeface="Times New Roman" pitchFamily="18" charset="0"/>
              </a:rPr>
              <a:t>f (</a:t>
            </a:r>
            <a:r>
              <a:rPr lang="en-US" sz="2600" dirty="0" err="1" smtClean="0">
                <a:latin typeface="Times New Roman" pitchFamily="18" charset="0"/>
                <a:cs typeface="Times New Roman" pitchFamily="18" charset="0"/>
              </a:rPr>
              <a:t>ptr</a:t>
            </a:r>
            <a:r>
              <a:rPr lang="en-US" sz="2600" dirty="0" smtClean="0">
                <a:latin typeface="Times New Roman" pitchFamily="18" charset="0"/>
                <a:cs typeface="Times New Roman" pitchFamily="18" charset="0"/>
              </a:rPr>
              <a:t> !=NULL) then</a:t>
            </a:r>
            <a:br>
              <a:rPr lang="en-US" sz="2600" dirty="0" smtClean="0">
                <a:latin typeface="Times New Roman" pitchFamily="18" charset="0"/>
                <a:cs typeface="Times New Roman" pitchFamily="18" charset="0"/>
              </a:rPr>
            </a:br>
            <a:r>
              <a:rPr lang="en-US" sz="2600" dirty="0" smtClean="0">
                <a:latin typeface="Times New Roman" pitchFamily="18" charset="0"/>
                <a:cs typeface="Times New Roman" pitchFamily="18" charset="0"/>
              </a:rPr>
              <a:t>       1.1. </a:t>
            </a:r>
            <a:r>
              <a:rPr lang="en-US" sz="2600" dirty="0" err="1" smtClean="0">
                <a:latin typeface="Times New Roman" pitchFamily="18" charset="0"/>
                <a:cs typeface="Times New Roman" pitchFamily="18" charset="0"/>
              </a:rPr>
              <a:t>postorder</a:t>
            </a:r>
            <a:r>
              <a:rPr lang="en-US" sz="2600" dirty="0" smtClean="0">
                <a:latin typeface="Times New Roman" pitchFamily="18" charset="0"/>
                <a:cs typeface="Times New Roman" pitchFamily="18" charset="0"/>
              </a:rPr>
              <a:t>(</a:t>
            </a:r>
            <a:r>
              <a:rPr lang="en-US" sz="2600" dirty="0" err="1" smtClean="0">
                <a:latin typeface="Times New Roman" pitchFamily="18" charset="0"/>
                <a:cs typeface="Times New Roman" pitchFamily="18" charset="0"/>
              </a:rPr>
              <a:t>ptr</a:t>
            </a:r>
            <a:r>
              <a:rPr lang="en-US" sz="2600" dirty="0" smtClean="0">
                <a:latin typeface="Times New Roman" pitchFamily="18" charset="0"/>
                <a:cs typeface="Times New Roman" pitchFamily="18" charset="0"/>
              </a:rPr>
              <a:t>-&gt;</a:t>
            </a:r>
            <a:r>
              <a:rPr lang="en-US" sz="2600" dirty="0" err="1" smtClean="0">
                <a:latin typeface="Times New Roman" pitchFamily="18" charset="0"/>
                <a:cs typeface="Times New Roman" pitchFamily="18" charset="0"/>
              </a:rPr>
              <a:t>lc</a:t>
            </a:r>
            <a:r>
              <a:rPr lang="en-US" sz="2600" dirty="0" smtClean="0">
                <a:latin typeface="Times New Roman" pitchFamily="18" charset="0"/>
                <a:cs typeface="Times New Roman" pitchFamily="18" charset="0"/>
              </a:rPr>
              <a:t>);</a:t>
            </a:r>
          </a:p>
          <a:p>
            <a:pPr>
              <a:buClr>
                <a:srgbClr val="FFFF99"/>
              </a:buClr>
              <a:buFontTx/>
              <a:buChar char=" "/>
            </a:pPr>
            <a:r>
              <a:rPr lang="en-US" sz="2600" dirty="0" smtClean="0">
                <a:latin typeface="Times New Roman" pitchFamily="18" charset="0"/>
                <a:cs typeface="Times New Roman" pitchFamily="18" charset="0"/>
              </a:rPr>
              <a:t>       1.2. </a:t>
            </a:r>
            <a:r>
              <a:rPr lang="en-US" sz="2600" dirty="0" err="1" smtClean="0">
                <a:latin typeface="Times New Roman" pitchFamily="18" charset="0"/>
                <a:cs typeface="Times New Roman" pitchFamily="18" charset="0"/>
              </a:rPr>
              <a:t>postorder</a:t>
            </a:r>
            <a:r>
              <a:rPr lang="en-US" sz="2600" dirty="0" smtClean="0">
                <a:latin typeface="Times New Roman" pitchFamily="18" charset="0"/>
                <a:cs typeface="Times New Roman" pitchFamily="18" charset="0"/>
              </a:rPr>
              <a:t>(</a:t>
            </a:r>
            <a:r>
              <a:rPr lang="en-US" sz="2600" dirty="0" err="1" smtClean="0">
                <a:latin typeface="Times New Roman" pitchFamily="18" charset="0"/>
                <a:cs typeface="Times New Roman" pitchFamily="18" charset="0"/>
              </a:rPr>
              <a:t>ptr</a:t>
            </a:r>
            <a:r>
              <a:rPr lang="en-US" sz="2600" dirty="0" smtClean="0">
                <a:latin typeface="Times New Roman" pitchFamily="18" charset="0"/>
                <a:cs typeface="Times New Roman" pitchFamily="18" charset="0"/>
              </a:rPr>
              <a:t>-&gt;</a:t>
            </a:r>
            <a:r>
              <a:rPr lang="en-US" sz="2600" dirty="0" err="1" smtClean="0">
                <a:latin typeface="Times New Roman" pitchFamily="18" charset="0"/>
                <a:cs typeface="Times New Roman" pitchFamily="18" charset="0"/>
              </a:rPr>
              <a:t>rc</a:t>
            </a:r>
            <a:r>
              <a:rPr lang="en-US" sz="2600" dirty="0" smtClean="0">
                <a:latin typeface="Times New Roman" pitchFamily="18" charset="0"/>
                <a:cs typeface="Times New Roman" pitchFamily="18" charset="0"/>
              </a:rPr>
              <a:t>);</a:t>
            </a:r>
          </a:p>
          <a:p>
            <a:pPr>
              <a:buClr>
                <a:srgbClr val="FFFF99"/>
              </a:buClr>
              <a:buFontTx/>
              <a:buChar char=" "/>
            </a:pPr>
            <a:r>
              <a:rPr lang="en-US" sz="2600" dirty="0" smtClean="0">
                <a:latin typeface="Times New Roman" pitchFamily="18" charset="0"/>
                <a:cs typeface="Times New Roman" pitchFamily="18" charset="0"/>
              </a:rPr>
              <a:t>       1.3. print(</a:t>
            </a:r>
            <a:r>
              <a:rPr lang="en-US" sz="2600" dirty="0" err="1" smtClean="0">
                <a:latin typeface="Times New Roman" pitchFamily="18" charset="0"/>
                <a:cs typeface="Times New Roman" pitchFamily="18" charset="0"/>
              </a:rPr>
              <a:t>ptr</a:t>
            </a:r>
            <a:r>
              <a:rPr lang="en-US" sz="2600" dirty="0" smtClean="0">
                <a:latin typeface="Times New Roman" pitchFamily="18" charset="0"/>
                <a:cs typeface="Times New Roman" pitchFamily="18" charset="0"/>
              </a:rPr>
              <a:t>-&gt;data); </a:t>
            </a:r>
          </a:p>
          <a:p>
            <a:pPr eaLnBrk="1" hangingPunct="1">
              <a:buClr>
                <a:srgbClr val="FFFF99"/>
              </a:buClr>
              <a:buFontTx/>
              <a:buChar char=" "/>
            </a:pPr>
            <a:r>
              <a:rPr lang="en-US" sz="2600" dirty="0" smtClean="0">
                <a:latin typeface="Times New Roman" pitchFamily="18" charset="0"/>
                <a:cs typeface="Times New Roman" pitchFamily="18" charset="0"/>
              </a:rPr>
              <a:t>2. </a:t>
            </a:r>
            <a:r>
              <a:rPr lang="en-US" sz="2600" dirty="0" err="1" smtClean="0">
                <a:latin typeface="Times New Roman" pitchFamily="18" charset="0"/>
                <a:cs typeface="Times New Roman" pitchFamily="18" charset="0"/>
              </a:rPr>
              <a:t>Endif</a:t>
            </a:r>
            <a:endParaRPr lang="en-US" sz="2600" dirty="0" smtClean="0">
              <a:latin typeface="Times New Roman" pitchFamily="18" charset="0"/>
              <a:cs typeface="Times New Roman" pitchFamily="18" charset="0"/>
            </a:endParaRPr>
          </a:p>
        </p:txBody>
      </p:sp>
      <p:cxnSp>
        <p:nvCxnSpPr>
          <p:cNvPr id="6" name="Straight Connector 5"/>
          <p:cNvCxnSpPr/>
          <p:nvPr/>
        </p:nvCxnSpPr>
        <p:spPr>
          <a:xfrm>
            <a:off x="0" y="762000"/>
            <a:ext cx="91440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pPr eaLnBrk="1" hangingPunct="1"/>
            <a:r>
              <a:rPr lang="en-US" smtClean="0"/>
              <a:t>Other traversals</a:t>
            </a:r>
          </a:p>
        </p:txBody>
      </p:sp>
      <p:sp>
        <p:nvSpPr>
          <p:cNvPr id="12292" name="Rectangle 3"/>
          <p:cNvSpPr>
            <a:spLocks noGrp="1" noChangeArrowheads="1"/>
          </p:cNvSpPr>
          <p:nvPr>
            <p:ph type="body" idx="1"/>
          </p:nvPr>
        </p:nvSpPr>
        <p:spPr>
          <a:xfrm>
            <a:off x="228600" y="1371600"/>
            <a:ext cx="8686800" cy="5181600"/>
          </a:xfrm>
        </p:spPr>
        <p:txBody>
          <a:bodyPr>
            <a:normAutofit/>
          </a:bodyPr>
          <a:lstStyle/>
          <a:p>
            <a:pPr eaLnBrk="1" hangingPunct="1"/>
            <a:r>
              <a:rPr lang="en-US" dirty="0" smtClean="0">
                <a:latin typeface="Times New Roman" pitchFamily="18" charset="0"/>
                <a:cs typeface="Times New Roman" pitchFamily="18" charset="0"/>
              </a:rPr>
              <a:t>The other traversals are the reverse of these three standard ones</a:t>
            </a:r>
          </a:p>
          <a:p>
            <a:pPr lvl="1" eaLnBrk="1" hangingPunct="1"/>
            <a:r>
              <a:rPr lang="en-US" dirty="0" smtClean="0">
                <a:latin typeface="Times New Roman" pitchFamily="18" charset="0"/>
                <a:cs typeface="Times New Roman" pitchFamily="18" charset="0"/>
              </a:rPr>
              <a:t>That is, the right subtree is traversed before the left subtree is traversed.</a:t>
            </a:r>
          </a:p>
          <a:p>
            <a:pPr lvl="1" eaLnBrk="1" hangingPunct="1"/>
            <a:endParaRPr lang="en-US" dirty="0" smtClean="0">
              <a:latin typeface="Times New Roman" pitchFamily="18" charset="0"/>
              <a:cs typeface="Times New Roman" pitchFamily="18" charset="0"/>
            </a:endParaRPr>
          </a:p>
          <a:p>
            <a:pPr eaLnBrk="1" hangingPunct="1"/>
            <a:r>
              <a:rPr lang="en-US" dirty="0" smtClean="0">
                <a:latin typeface="Times New Roman" pitchFamily="18" charset="0"/>
                <a:cs typeface="Times New Roman" pitchFamily="18" charset="0"/>
              </a:rPr>
              <a:t>Reverse preorder: root, right </a:t>
            </a:r>
            <a:r>
              <a:rPr lang="en-US" dirty="0" err="1" smtClean="0">
                <a:latin typeface="Times New Roman" pitchFamily="18" charset="0"/>
                <a:cs typeface="Times New Roman" pitchFamily="18" charset="0"/>
              </a:rPr>
              <a:t>subtree</a:t>
            </a:r>
            <a:r>
              <a:rPr lang="en-US" dirty="0" smtClean="0">
                <a:latin typeface="Times New Roman" pitchFamily="18" charset="0"/>
                <a:cs typeface="Times New Roman" pitchFamily="18" charset="0"/>
              </a:rPr>
              <a:t>, left </a:t>
            </a:r>
            <a:r>
              <a:rPr lang="en-US" dirty="0" err="1" smtClean="0">
                <a:latin typeface="Times New Roman" pitchFamily="18" charset="0"/>
                <a:cs typeface="Times New Roman" pitchFamily="18" charset="0"/>
              </a:rPr>
              <a:t>subtree</a:t>
            </a:r>
            <a:endParaRPr lang="en-US" dirty="0" smtClean="0">
              <a:latin typeface="Times New Roman" pitchFamily="18" charset="0"/>
              <a:cs typeface="Times New Roman" pitchFamily="18" charset="0"/>
            </a:endParaRPr>
          </a:p>
          <a:p>
            <a:pPr eaLnBrk="1" hangingPunct="1"/>
            <a:r>
              <a:rPr lang="en-US" dirty="0" smtClean="0">
                <a:latin typeface="Times New Roman" pitchFamily="18" charset="0"/>
                <a:cs typeface="Times New Roman" pitchFamily="18" charset="0"/>
              </a:rPr>
              <a:t>Reverse </a:t>
            </a:r>
            <a:r>
              <a:rPr lang="en-US" dirty="0" err="1" smtClean="0">
                <a:latin typeface="Times New Roman" pitchFamily="18" charset="0"/>
                <a:cs typeface="Times New Roman" pitchFamily="18" charset="0"/>
              </a:rPr>
              <a:t>inorder</a:t>
            </a:r>
            <a:r>
              <a:rPr lang="en-US" dirty="0" smtClean="0">
                <a:latin typeface="Times New Roman" pitchFamily="18" charset="0"/>
                <a:cs typeface="Times New Roman" pitchFamily="18" charset="0"/>
              </a:rPr>
              <a:t>: right </a:t>
            </a:r>
            <a:r>
              <a:rPr lang="en-US" dirty="0" err="1" smtClean="0">
                <a:latin typeface="Times New Roman" pitchFamily="18" charset="0"/>
                <a:cs typeface="Times New Roman" pitchFamily="18" charset="0"/>
              </a:rPr>
              <a:t>subtree</a:t>
            </a:r>
            <a:r>
              <a:rPr lang="en-US" dirty="0" smtClean="0">
                <a:latin typeface="Times New Roman" pitchFamily="18" charset="0"/>
                <a:cs typeface="Times New Roman" pitchFamily="18" charset="0"/>
              </a:rPr>
              <a:t>, root, left </a:t>
            </a:r>
            <a:r>
              <a:rPr lang="en-US" dirty="0" err="1" smtClean="0">
                <a:latin typeface="Times New Roman" pitchFamily="18" charset="0"/>
                <a:cs typeface="Times New Roman" pitchFamily="18" charset="0"/>
              </a:rPr>
              <a:t>subtree</a:t>
            </a:r>
            <a:endParaRPr lang="en-US" dirty="0" smtClean="0">
              <a:latin typeface="Times New Roman" pitchFamily="18" charset="0"/>
              <a:cs typeface="Times New Roman" pitchFamily="18" charset="0"/>
            </a:endParaRPr>
          </a:p>
          <a:p>
            <a:pPr eaLnBrk="1" hangingPunct="1"/>
            <a:r>
              <a:rPr lang="en-US" dirty="0" smtClean="0">
                <a:latin typeface="Times New Roman" pitchFamily="18" charset="0"/>
                <a:cs typeface="Times New Roman" pitchFamily="18" charset="0"/>
              </a:rPr>
              <a:t>Reverse </a:t>
            </a:r>
            <a:r>
              <a:rPr lang="en-US" dirty="0" err="1" smtClean="0">
                <a:latin typeface="Times New Roman" pitchFamily="18" charset="0"/>
                <a:cs typeface="Times New Roman" pitchFamily="18" charset="0"/>
              </a:rPr>
              <a:t>postorder</a:t>
            </a:r>
            <a:r>
              <a:rPr lang="en-US" dirty="0" smtClean="0">
                <a:latin typeface="Times New Roman" pitchFamily="18" charset="0"/>
                <a:cs typeface="Times New Roman" pitchFamily="18" charset="0"/>
              </a:rPr>
              <a:t>: right </a:t>
            </a:r>
            <a:r>
              <a:rPr lang="en-US" dirty="0" err="1" smtClean="0">
                <a:latin typeface="Times New Roman" pitchFamily="18" charset="0"/>
                <a:cs typeface="Times New Roman" pitchFamily="18" charset="0"/>
              </a:rPr>
              <a:t>subtree</a:t>
            </a:r>
            <a:r>
              <a:rPr lang="en-US" dirty="0" smtClean="0">
                <a:latin typeface="Times New Roman" pitchFamily="18" charset="0"/>
                <a:cs typeface="Times New Roman" pitchFamily="18" charset="0"/>
              </a:rPr>
              <a:t>, left </a:t>
            </a:r>
            <a:r>
              <a:rPr lang="en-US" dirty="0" err="1" smtClean="0">
                <a:latin typeface="Times New Roman" pitchFamily="18" charset="0"/>
                <a:cs typeface="Times New Roman" pitchFamily="18" charset="0"/>
              </a:rPr>
              <a:t>subtree</a:t>
            </a:r>
            <a:r>
              <a:rPr lang="en-US" dirty="0" smtClean="0">
                <a:latin typeface="Times New Roman" pitchFamily="18" charset="0"/>
                <a:cs typeface="Times New Roman" pitchFamily="18" charset="0"/>
              </a:rPr>
              <a:t>, root</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Grp="1" noChangeArrowheads="1"/>
          </p:cNvSpPr>
          <p:nvPr>
            <p:ph type="body" idx="1"/>
          </p:nvPr>
        </p:nvSpPr>
        <p:spPr>
          <a:xfrm>
            <a:off x="102358" y="914400"/>
            <a:ext cx="4774442" cy="5791200"/>
          </a:xfrm>
        </p:spPr>
        <p:txBody>
          <a:bodyPr>
            <a:noAutofit/>
          </a:bodyPr>
          <a:lstStyle/>
          <a:p>
            <a:pPr>
              <a:lnSpc>
                <a:spcPct val="80000"/>
              </a:lnSpc>
              <a:buNone/>
            </a:pPr>
            <a:r>
              <a:rPr lang="en-US" sz="1800" b="1" u="sng" dirty="0" smtClean="0">
                <a:solidFill>
                  <a:srgbClr val="FF0000"/>
                </a:solidFill>
                <a:latin typeface="Times New Roman" pitchFamily="18" charset="0"/>
                <a:cs typeface="Times New Roman" pitchFamily="18" charset="0"/>
              </a:rPr>
              <a:t>Insert(Key, ITEM)</a:t>
            </a:r>
          </a:p>
          <a:p>
            <a:pPr>
              <a:lnSpc>
                <a:spcPct val="80000"/>
              </a:lnSpc>
              <a:buNone/>
            </a:pPr>
            <a:r>
              <a:rPr lang="en-US" sz="1800" i="1" dirty="0" smtClean="0">
                <a:solidFill>
                  <a:srgbClr val="FF0000"/>
                </a:solidFill>
                <a:latin typeface="Times New Roman" pitchFamily="18" charset="0"/>
                <a:cs typeface="Times New Roman" pitchFamily="18" charset="0"/>
              </a:rPr>
              <a:t>Key be the data after which  a new node has to be inserted</a:t>
            </a:r>
          </a:p>
          <a:p>
            <a:pPr>
              <a:lnSpc>
                <a:spcPct val="80000"/>
              </a:lnSpc>
              <a:buNone/>
            </a:pPr>
            <a:r>
              <a:rPr lang="en-US" sz="1800" i="1" dirty="0" smtClean="0">
                <a:solidFill>
                  <a:srgbClr val="FF0000"/>
                </a:solidFill>
                <a:latin typeface="Times New Roman" pitchFamily="18" charset="0"/>
                <a:cs typeface="Times New Roman" pitchFamily="18" charset="0"/>
              </a:rPr>
              <a:t>ITEM is the new data</a:t>
            </a:r>
          </a:p>
          <a:p>
            <a:pPr>
              <a:lnSpc>
                <a:spcPct val="80000"/>
              </a:lnSpc>
              <a:buAutoNum type="arabicPeriod"/>
            </a:pPr>
            <a:r>
              <a:rPr lang="en-US" sz="1800" dirty="0" err="1" smtClean="0">
                <a:latin typeface="Times New Roman" pitchFamily="18" charset="0"/>
                <a:cs typeface="Times New Roman" pitchFamily="18" charset="0"/>
              </a:rPr>
              <a:t>search_node</a:t>
            </a:r>
            <a:r>
              <a:rPr lang="en-US" sz="1800" dirty="0" smtClean="0">
                <a:latin typeface="Times New Roman" pitchFamily="18" charset="0"/>
                <a:cs typeface="Times New Roman" pitchFamily="18" charset="0"/>
              </a:rPr>
              <a:t>(</a:t>
            </a:r>
            <a:r>
              <a:rPr lang="en-US" sz="1800" dirty="0" err="1" smtClean="0">
                <a:latin typeface="Times New Roman" pitchFamily="18" charset="0"/>
                <a:cs typeface="Times New Roman" pitchFamily="18" charset="0"/>
              </a:rPr>
              <a:t>root,Key</a:t>
            </a:r>
            <a:r>
              <a:rPr lang="en-US" sz="1800" dirty="0" smtClean="0">
                <a:latin typeface="Times New Roman" pitchFamily="18" charset="0"/>
                <a:cs typeface="Times New Roman" pitchFamily="18" charset="0"/>
              </a:rPr>
              <a:t>)</a:t>
            </a:r>
          </a:p>
          <a:p>
            <a:pPr>
              <a:lnSpc>
                <a:spcPct val="80000"/>
              </a:lnSpc>
              <a:buAutoNum type="arabicPeriod"/>
            </a:pPr>
            <a:r>
              <a:rPr lang="en-US" sz="1800" dirty="0" err="1" smtClean="0">
                <a:latin typeface="Times New Roman" pitchFamily="18" charset="0"/>
                <a:cs typeface="Times New Roman" pitchFamily="18" charset="0"/>
              </a:rPr>
              <a:t>ptr</a:t>
            </a:r>
            <a:r>
              <a:rPr lang="en-US" sz="1800" dirty="0" smtClean="0">
                <a:latin typeface="Times New Roman" pitchFamily="18" charset="0"/>
                <a:cs typeface="Times New Roman" pitchFamily="18" charset="0"/>
              </a:rPr>
              <a:t>=ptr2</a:t>
            </a:r>
          </a:p>
          <a:p>
            <a:pPr marL="0" indent="0">
              <a:lnSpc>
                <a:spcPct val="80000"/>
              </a:lnSpc>
              <a:buNone/>
            </a:pPr>
            <a:endParaRPr lang="en-US" sz="1800" dirty="0" smtClean="0">
              <a:latin typeface="Times New Roman" pitchFamily="18" charset="0"/>
              <a:cs typeface="Times New Roman" pitchFamily="18" charset="0"/>
            </a:endParaRPr>
          </a:p>
          <a:p>
            <a:pPr>
              <a:lnSpc>
                <a:spcPct val="80000"/>
              </a:lnSpc>
              <a:buNone/>
            </a:pPr>
            <a:r>
              <a:rPr lang="en-US" sz="1800" dirty="0" smtClean="0">
                <a:latin typeface="Times New Roman" pitchFamily="18" charset="0"/>
                <a:cs typeface="Times New Roman" pitchFamily="18" charset="0"/>
              </a:rPr>
              <a:t>3.   If </a:t>
            </a:r>
            <a:r>
              <a:rPr lang="en-US" sz="1800" dirty="0" err="1" smtClean="0">
                <a:latin typeface="Times New Roman" pitchFamily="18" charset="0"/>
                <a:cs typeface="Times New Roman" pitchFamily="18" charset="0"/>
              </a:rPr>
              <a:t>ptr</a:t>
            </a:r>
            <a:r>
              <a:rPr lang="en-US" sz="1800" dirty="0" smtClean="0">
                <a:latin typeface="Times New Roman" pitchFamily="18" charset="0"/>
                <a:cs typeface="Times New Roman" pitchFamily="18" charset="0"/>
              </a:rPr>
              <a:t>==NULL then</a:t>
            </a:r>
          </a:p>
          <a:p>
            <a:pPr>
              <a:lnSpc>
                <a:spcPct val="80000"/>
              </a:lnSpc>
              <a:buNone/>
            </a:pPr>
            <a:r>
              <a:rPr lang="en-US" sz="1800" dirty="0" smtClean="0">
                <a:latin typeface="Times New Roman" pitchFamily="18" charset="0"/>
                <a:cs typeface="Times New Roman" pitchFamily="18" charset="0"/>
              </a:rPr>
              <a:t>        print Searched item not found.</a:t>
            </a:r>
          </a:p>
          <a:p>
            <a:pPr>
              <a:lnSpc>
                <a:spcPct val="80000"/>
              </a:lnSpc>
              <a:buNone/>
            </a:pPr>
            <a:endParaRPr lang="en-US" sz="1800" dirty="0" smtClean="0">
              <a:latin typeface="Times New Roman" pitchFamily="18" charset="0"/>
              <a:cs typeface="Times New Roman" pitchFamily="18" charset="0"/>
            </a:endParaRPr>
          </a:p>
          <a:p>
            <a:pPr>
              <a:lnSpc>
                <a:spcPct val="80000"/>
              </a:lnSpc>
              <a:buNone/>
            </a:pPr>
            <a:r>
              <a:rPr lang="en-US" sz="1800" dirty="0" smtClean="0">
                <a:latin typeface="Times New Roman" pitchFamily="18" charset="0"/>
                <a:cs typeface="Times New Roman" pitchFamily="18" charset="0"/>
              </a:rPr>
              <a:t>4. If </a:t>
            </a:r>
            <a:r>
              <a:rPr lang="en-US" sz="1800" dirty="0" err="1" smtClean="0">
                <a:latin typeface="Times New Roman" pitchFamily="18" charset="0"/>
                <a:cs typeface="Times New Roman" pitchFamily="18" charset="0"/>
              </a:rPr>
              <a:t>ptr</a:t>
            </a:r>
            <a:r>
              <a:rPr lang="en-US" sz="1800" dirty="0" smtClean="0">
                <a:latin typeface="Times New Roman" pitchFamily="18" charset="0"/>
                <a:cs typeface="Times New Roman" pitchFamily="18" charset="0"/>
              </a:rPr>
              <a:t>-&gt;</a:t>
            </a:r>
            <a:r>
              <a:rPr lang="en-US" sz="1800" dirty="0" err="1" smtClean="0">
                <a:latin typeface="Times New Roman" pitchFamily="18" charset="0"/>
                <a:cs typeface="Times New Roman" pitchFamily="18" charset="0"/>
              </a:rPr>
              <a:t>lc</a:t>
            </a:r>
            <a:r>
              <a:rPr lang="en-US" sz="1800" dirty="0" smtClean="0">
                <a:latin typeface="Times New Roman" pitchFamily="18" charset="0"/>
                <a:cs typeface="Times New Roman" pitchFamily="18" charset="0"/>
              </a:rPr>
              <a:t>=NULL or </a:t>
            </a:r>
            <a:r>
              <a:rPr lang="en-US" sz="1800" dirty="0" err="1" smtClean="0">
                <a:latin typeface="Times New Roman" pitchFamily="18" charset="0"/>
                <a:cs typeface="Times New Roman" pitchFamily="18" charset="0"/>
              </a:rPr>
              <a:t>ptr</a:t>
            </a:r>
            <a:r>
              <a:rPr lang="en-US" sz="1800" dirty="0" smtClean="0">
                <a:latin typeface="Times New Roman" pitchFamily="18" charset="0"/>
                <a:cs typeface="Times New Roman" pitchFamily="18" charset="0"/>
              </a:rPr>
              <a:t>-&gt;</a:t>
            </a:r>
            <a:r>
              <a:rPr lang="en-US" sz="1800" dirty="0" err="1" smtClean="0">
                <a:latin typeface="Times New Roman" pitchFamily="18" charset="0"/>
                <a:cs typeface="Times New Roman" pitchFamily="18" charset="0"/>
              </a:rPr>
              <a:t>rc</a:t>
            </a:r>
            <a:r>
              <a:rPr lang="en-US" sz="1800" dirty="0" smtClean="0">
                <a:latin typeface="Times New Roman" pitchFamily="18" charset="0"/>
                <a:cs typeface="Times New Roman" pitchFamily="18" charset="0"/>
              </a:rPr>
              <a:t>=NULL then</a:t>
            </a:r>
          </a:p>
          <a:p>
            <a:pPr>
              <a:lnSpc>
                <a:spcPct val="80000"/>
              </a:lnSpc>
              <a:buNone/>
            </a:pPr>
            <a:r>
              <a:rPr lang="en-US" sz="1800" dirty="0" smtClean="0">
                <a:latin typeface="Times New Roman" pitchFamily="18" charset="0"/>
                <a:cs typeface="Times New Roman" pitchFamily="18" charset="0"/>
              </a:rPr>
              <a:t> 	4.1. read option to insert as left or right?</a:t>
            </a:r>
          </a:p>
          <a:p>
            <a:pPr>
              <a:lnSpc>
                <a:spcPct val="80000"/>
              </a:lnSpc>
              <a:buNone/>
            </a:pPr>
            <a:r>
              <a:rPr lang="en-US" sz="1800" dirty="0" smtClean="0">
                <a:latin typeface="Times New Roman" pitchFamily="18" charset="0"/>
                <a:cs typeface="Times New Roman" pitchFamily="18" charset="0"/>
              </a:rPr>
              <a:t>  	4.2.  if Option=L then</a:t>
            </a:r>
          </a:p>
          <a:p>
            <a:pPr>
              <a:lnSpc>
                <a:spcPct val="80000"/>
              </a:lnSpc>
              <a:buNone/>
            </a:pPr>
            <a:r>
              <a:rPr lang="en-US" sz="1800" dirty="0" smtClean="0">
                <a:latin typeface="Times New Roman" pitchFamily="18" charset="0"/>
                <a:cs typeface="Times New Roman" pitchFamily="18" charset="0"/>
              </a:rPr>
              <a:t>                4.2.1. if </a:t>
            </a:r>
            <a:r>
              <a:rPr lang="en-US" sz="1800" dirty="0" err="1" smtClean="0">
                <a:latin typeface="Times New Roman" pitchFamily="18" charset="0"/>
                <a:cs typeface="Times New Roman" pitchFamily="18" charset="0"/>
              </a:rPr>
              <a:t>ptr</a:t>
            </a:r>
            <a:r>
              <a:rPr lang="en-US" sz="1800" dirty="0" smtClean="0">
                <a:latin typeface="Times New Roman" pitchFamily="18" charset="0"/>
                <a:cs typeface="Times New Roman" pitchFamily="18" charset="0"/>
              </a:rPr>
              <a:t>-&gt;</a:t>
            </a:r>
            <a:r>
              <a:rPr lang="en-US" sz="1800" dirty="0" err="1" smtClean="0">
                <a:latin typeface="Times New Roman" pitchFamily="18" charset="0"/>
                <a:cs typeface="Times New Roman" pitchFamily="18" charset="0"/>
              </a:rPr>
              <a:t>lc</a:t>
            </a:r>
            <a:r>
              <a:rPr lang="en-US" sz="1800" dirty="0" smtClean="0">
                <a:latin typeface="Times New Roman" pitchFamily="18" charset="0"/>
                <a:cs typeface="Times New Roman" pitchFamily="18" charset="0"/>
              </a:rPr>
              <a:t>=NULL then</a:t>
            </a:r>
          </a:p>
          <a:p>
            <a:pPr>
              <a:lnSpc>
                <a:spcPct val="80000"/>
              </a:lnSpc>
              <a:buNone/>
            </a:pPr>
            <a:r>
              <a:rPr lang="en-US" sz="1800" dirty="0" smtClean="0">
                <a:latin typeface="Times New Roman" pitchFamily="18" charset="0"/>
                <a:cs typeface="Times New Roman" pitchFamily="18" charset="0"/>
              </a:rPr>
              <a:t>         		a. create a new Node new.</a:t>
            </a:r>
          </a:p>
          <a:p>
            <a:pPr>
              <a:lnSpc>
                <a:spcPct val="80000"/>
              </a:lnSpc>
              <a:buNone/>
            </a:pPr>
            <a:r>
              <a:rPr lang="en-US" sz="1800" dirty="0" smtClean="0">
                <a:latin typeface="Times New Roman" pitchFamily="18" charset="0"/>
                <a:cs typeface="Times New Roman" pitchFamily="18" charset="0"/>
              </a:rPr>
              <a:t>          	 </a:t>
            </a:r>
            <a:r>
              <a:rPr lang="en-US" sz="1800" dirty="0">
                <a:latin typeface="Times New Roman" pitchFamily="18" charset="0"/>
                <a:cs typeface="Times New Roman" pitchFamily="18" charset="0"/>
              </a:rPr>
              <a:t>	</a:t>
            </a:r>
            <a:r>
              <a:rPr lang="en-US" sz="1800" dirty="0" smtClean="0">
                <a:latin typeface="Times New Roman" pitchFamily="18" charset="0"/>
                <a:cs typeface="Times New Roman" pitchFamily="18" charset="0"/>
              </a:rPr>
              <a:t>b. </a:t>
            </a:r>
            <a:r>
              <a:rPr lang="en-US" sz="1800" dirty="0" err="1" smtClean="0">
                <a:latin typeface="Times New Roman" pitchFamily="18" charset="0"/>
                <a:cs typeface="Times New Roman" pitchFamily="18" charset="0"/>
              </a:rPr>
              <a:t>ptr</a:t>
            </a:r>
            <a:r>
              <a:rPr lang="en-US" sz="1800" dirty="0" smtClean="0">
                <a:latin typeface="Times New Roman" pitchFamily="18" charset="0"/>
                <a:cs typeface="Times New Roman" pitchFamily="18" charset="0"/>
              </a:rPr>
              <a:t>-&gt;</a:t>
            </a:r>
            <a:r>
              <a:rPr lang="en-US" sz="1800" dirty="0" err="1" smtClean="0">
                <a:latin typeface="Times New Roman" pitchFamily="18" charset="0"/>
                <a:cs typeface="Times New Roman" pitchFamily="18" charset="0"/>
              </a:rPr>
              <a:t>lc</a:t>
            </a:r>
            <a:r>
              <a:rPr lang="en-US" sz="1800" dirty="0" smtClean="0">
                <a:latin typeface="Times New Roman" pitchFamily="18" charset="0"/>
                <a:cs typeface="Times New Roman" pitchFamily="18" charset="0"/>
              </a:rPr>
              <a:t>=new</a:t>
            </a:r>
          </a:p>
          <a:p>
            <a:pPr>
              <a:lnSpc>
                <a:spcPct val="80000"/>
              </a:lnSpc>
              <a:buNone/>
            </a:pPr>
            <a:r>
              <a:rPr lang="en-US" sz="1800" dirty="0" smtClean="0">
                <a:latin typeface="Times New Roman" pitchFamily="18" charset="0"/>
                <a:cs typeface="Times New Roman" pitchFamily="18" charset="0"/>
              </a:rPr>
              <a:t>          	 </a:t>
            </a:r>
            <a:r>
              <a:rPr lang="en-US" sz="1800" dirty="0">
                <a:latin typeface="Times New Roman" pitchFamily="18" charset="0"/>
                <a:cs typeface="Times New Roman" pitchFamily="18" charset="0"/>
              </a:rPr>
              <a:t>	</a:t>
            </a:r>
            <a:r>
              <a:rPr lang="en-US" sz="1800" dirty="0" smtClean="0">
                <a:latin typeface="Times New Roman" pitchFamily="18" charset="0"/>
                <a:cs typeface="Times New Roman" pitchFamily="18" charset="0"/>
              </a:rPr>
              <a:t>c. new-&gt;data=ITEM</a:t>
            </a:r>
          </a:p>
          <a:p>
            <a:pPr>
              <a:lnSpc>
                <a:spcPct val="80000"/>
              </a:lnSpc>
              <a:buNone/>
            </a:pPr>
            <a:r>
              <a:rPr lang="en-US" sz="1800" dirty="0" smtClean="0">
                <a:latin typeface="Times New Roman" pitchFamily="18" charset="0"/>
                <a:cs typeface="Times New Roman" pitchFamily="18" charset="0"/>
              </a:rPr>
              <a:t>          	</a:t>
            </a:r>
            <a:r>
              <a:rPr lang="en-US" sz="1800" dirty="0">
                <a:latin typeface="Times New Roman" pitchFamily="18" charset="0"/>
                <a:cs typeface="Times New Roman" pitchFamily="18" charset="0"/>
              </a:rPr>
              <a:t>	</a:t>
            </a:r>
            <a:r>
              <a:rPr lang="en-US" sz="1800" dirty="0" smtClean="0">
                <a:latin typeface="Times New Roman" pitchFamily="18" charset="0"/>
                <a:cs typeface="Times New Roman" pitchFamily="18" charset="0"/>
              </a:rPr>
              <a:t>d. new-&gt;</a:t>
            </a:r>
            <a:r>
              <a:rPr lang="en-US" sz="1800" dirty="0" err="1" smtClean="0">
                <a:latin typeface="Times New Roman" pitchFamily="18" charset="0"/>
                <a:cs typeface="Times New Roman" pitchFamily="18" charset="0"/>
              </a:rPr>
              <a:t>lc</a:t>
            </a:r>
            <a:r>
              <a:rPr lang="en-US" sz="1800" dirty="0" smtClean="0">
                <a:latin typeface="Times New Roman" pitchFamily="18" charset="0"/>
                <a:cs typeface="Times New Roman" pitchFamily="18" charset="0"/>
              </a:rPr>
              <a:t>=new-&gt;</a:t>
            </a:r>
            <a:r>
              <a:rPr lang="en-US" sz="1800" dirty="0" err="1" smtClean="0">
                <a:latin typeface="Times New Roman" pitchFamily="18" charset="0"/>
                <a:cs typeface="Times New Roman" pitchFamily="18" charset="0"/>
              </a:rPr>
              <a:t>rc</a:t>
            </a:r>
            <a:r>
              <a:rPr lang="en-US" sz="1800" dirty="0" smtClean="0">
                <a:latin typeface="Times New Roman" pitchFamily="18" charset="0"/>
                <a:cs typeface="Times New Roman" pitchFamily="18" charset="0"/>
              </a:rPr>
              <a:t>=NULL</a:t>
            </a:r>
          </a:p>
          <a:p>
            <a:pPr>
              <a:lnSpc>
                <a:spcPct val="80000"/>
              </a:lnSpc>
              <a:buNone/>
            </a:pPr>
            <a:r>
              <a:rPr lang="en-US" sz="1800" dirty="0" smtClean="0">
                <a:latin typeface="Times New Roman" pitchFamily="18" charset="0"/>
                <a:cs typeface="Times New Roman" pitchFamily="18" charset="0"/>
              </a:rPr>
              <a:t>                 </a:t>
            </a:r>
          </a:p>
          <a:p>
            <a:pPr>
              <a:lnSpc>
                <a:spcPct val="80000"/>
              </a:lnSpc>
              <a:buNone/>
            </a:pPr>
            <a:r>
              <a:rPr lang="en-US" sz="1800" dirty="0">
                <a:latin typeface="Times New Roman" pitchFamily="18" charset="0"/>
                <a:cs typeface="Times New Roman" pitchFamily="18" charset="0"/>
              </a:rPr>
              <a:t> </a:t>
            </a:r>
            <a:r>
              <a:rPr lang="en-US" sz="1800" dirty="0" smtClean="0">
                <a:latin typeface="Times New Roman" pitchFamily="18" charset="0"/>
                <a:cs typeface="Times New Roman" pitchFamily="18" charset="0"/>
              </a:rPr>
              <a:t>              4.2.2. else</a:t>
            </a:r>
          </a:p>
          <a:p>
            <a:pPr>
              <a:lnSpc>
                <a:spcPct val="80000"/>
              </a:lnSpc>
              <a:buNone/>
            </a:pPr>
            <a:r>
              <a:rPr lang="en-US" sz="1800" dirty="0" smtClean="0">
                <a:latin typeface="Times New Roman" pitchFamily="18" charset="0"/>
                <a:cs typeface="Times New Roman" pitchFamily="18" charset="0"/>
              </a:rPr>
              <a:t>     </a:t>
            </a:r>
            <a:r>
              <a:rPr lang="en-US" sz="1800" dirty="0">
                <a:latin typeface="Times New Roman" pitchFamily="18" charset="0"/>
                <a:cs typeface="Times New Roman" pitchFamily="18" charset="0"/>
              </a:rPr>
              <a:t> </a:t>
            </a:r>
            <a:r>
              <a:rPr lang="en-US" sz="1800" dirty="0" smtClean="0">
                <a:latin typeface="Times New Roman" pitchFamily="18" charset="0"/>
                <a:cs typeface="Times New Roman" pitchFamily="18" charset="0"/>
              </a:rPr>
              <a:t>          print Insertion not possible as left Child</a:t>
            </a:r>
          </a:p>
          <a:p>
            <a:pPr>
              <a:lnSpc>
                <a:spcPct val="80000"/>
              </a:lnSpc>
              <a:buNone/>
            </a:pPr>
            <a:r>
              <a:rPr lang="en-US" sz="1800" dirty="0" smtClean="0"/>
              <a:t>         </a:t>
            </a:r>
          </a:p>
        </p:txBody>
      </p:sp>
      <p:sp>
        <p:nvSpPr>
          <p:cNvPr id="18435" name="Rectangle 4"/>
          <p:cNvSpPr>
            <a:spLocks noChangeArrowheads="1"/>
          </p:cNvSpPr>
          <p:nvPr/>
        </p:nvSpPr>
        <p:spPr bwMode="auto">
          <a:xfrm>
            <a:off x="4876800" y="1295400"/>
            <a:ext cx="4114800" cy="5257800"/>
          </a:xfrm>
          <a:prstGeom prst="rect">
            <a:avLst/>
          </a:prstGeom>
          <a:noFill/>
          <a:ln w="9525">
            <a:noFill/>
            <a:miter lim="800000"/>
            <a:headEnd/>
            <a:tailEnd/>
          </a:ln>
        </p:spPr>
        <p:txBody>
          <a:bodyPr/>
          <a:lstStyle/>
          <a:p>
            <a:pPr marL="342900" indent="-342900">
              <a:lnSpc>
                <a:spcPct val="90000"/>
              </a:lnSpc>
              <a:spcBef>
                <a:spcPct val="20000"/>
              </a:spcBef>
              <a:buClr>
                <a:schemeClr val="folHlink"/>
              </a:buClr>
              <a:buSzPct val="60000"/>
            </a:pPr>
            <a:r>
              <a:rPr lang="en-US" sz="1600" dirty="0" smtClean="0">
                <a:latin typeface="Times New Roman" pitchFamily="18" charset="0"/>
              </a:rPr>
              <a:t>   4.3</a:t>
            </a:r>
            <a:r>
              <a:rPr lang="en-US" dirty="0" smtClean="0">
                <a:latin typeface="Times New Roman" pitchFamily="18" charset="0"/>
              </a:rPr>
              <a:t>. else</a:t>
            </a:r>
            <a:endParaRPr lang="en-US" dirty="0">
              <a:latin typeface="Times New Roman" pitchFamily="18" charset="0"/>
            </a:endParaRPr>
          </a:p>
          <a:p>
            <a:pPr marL="342900" indent="-342900">
              <a:lnSpc>
                <a:spcPct val="90000"/>
              </a:lnSpc>
              <a:spcBef>
                <a:spcPct val="20000"/>
              </a:spcBef>
              <a:buClr>
                <a:schemeClr val="folHlink"/>
              </a:buClr>
              <a:buSzPct val="60000"/>
            </a:pPr>
            <a:r>
              <a:rPr lang="en-US" dirty="0">
                <a:latin typeface="Times New Roman" pitchFamily="18" charset="0"/>
              </a:rPr>
              <a:t>      </a:t>
            </a:r>
            <a:r>
              <a:rPr lang="en-US" dirty="0" smtClean="0">
                <a:latin typeface="Times New Roman" pitchFamily="18" charset="0"/>
              </a:rPr>
              <a:t>     4.3.1.  </a:t>
            </a:r>
            <a:r>
              <a:rPr lang="en-US" dirty="0">
                <a:latin typeface="Times New Roman" pitchFamily="18" charset="0"/>
              </a:rPr>
              <a:t>if </a:t>
            </a:r>
            <a:r>
              <a:rPr lang="en-US" dirty="0" err="1" smtClean="0">
                <a:latin typeface="Times New Roman" pitchFamily="18" charset="0"/>
              </a:rPr>
              <a:t>ptr</a:t>
            </a:r>
            <a:r>
              <a:rPr lang="en-US" dirty="0" smtClean="0">
                <a:latin typeface="Times New Roman" pitchFamily="18" charset="0"/>
              </a:rPr>
              <a:t>-&gt;</a:t>
            </a:r>
            <a:r>
              <a:rPr lang="en-US" dirty="0" err="1" smtClean="0">
                <a:latin typeface="Times New Roman" pitchFamily="18" charset="0"/>
              </a:rPr>
              <a:t>rc</a:t>
            </a:r>
            <a:r>
              <a:rPr lang="en-US" dirty="0" smtClean="0">
                <a:latin typeface="Times New Roman" pitchFamily="18" charset="0"/>
              </a:rPr>
              <a:t>=NULL </a:t>
            </a:r>
            <a:r>
              <a:rPr lang="en-US" dirty="0">
                <a:latin typeface="Times New Roman" pitchFamily="18" charset="0"/>
              </a:rPr>
              <a:t>then</a:t>
            </a:r>
          </a:p>
          <a:p>
            <a:pPr marL="342900" indent="-342900">
              <a:lnSpc>
                <a:spcPct val="90000"/>
              </a:lnSpc>
              <a:spcBef>
                <a:spcPct val="20000"/>
              </a:spcBef>
              <a:buClr>
                <a:schemeClr val="folHlink"/>
              </a:buClr>
              <a:buSzPct val="60000"/>
            </a:pPr>
            <a:r>
              <a:rPr lang="en-US" dirty="0">
                <a:latin typeface="Times New Roman" pitchFamily="18" charset="0"/>
              </a:rPr>
              <a:t>           </a:t>
            </a:r>
            <a:r>
              <a:rPr lang="en-US" dirty="0" smtClean="0">
                <a:latin typeface="Times New Roman" pitchFamily="18" charset="0"/>
              </a:rPr>
              <a:t>           a. create </a:t>
            </a:r>
            <a:r>
              <a:rPr lang="en-US" dirty="0">
                <a:latin typeface="Times New Roman" pitchFamily="18" charset="0"/>
              </a:rPr>
              <a:t>a new Node </a:t>
            </a:r>
            <a:r>
              <a:rPr lang="en-US" dirty="0" smtClean="0">
                <a:latin typeface="Times New Roman" pitchFamily="18" charset="0"/>
              </a:rPr>
              <a:t>new.</a:t>
            </a:r>
            <a:endParaRPr lang="en-US" dirty="0">
              <a:latin typeface="Times New Roman" pitchFamily="18" charset="0"/>
            </a:endParaRPr>
          </a:p>
          <a:p>
            <a:pPr marL="342900" indent="-342900">
              <a:lnSpc>
                <a:spcPct val="90000"/>
              </a:lnSpc>
              <a:spcBef>
                <a:spcPct val="20000"/>
              </a:spcBef>
              <a:buClr>
                <a:schemeClr val="folHlink"/>
              </a:buClr>
              <a:buSzPct val="60000"/>
            </a:pPr>
            <a:r>
              <a:rPr lang="en-US" dirty="0">
                <a:latin typeface="Times New Roman" pitchFamily="18" charset="0"/>
              </a:rPr>
              <a:t>           </a:t>
            </a:r>
            <a:r>
              <a:rPr lang="en-US" dirty="0" smtClean="0">
                <a:latin typeface="Times New Roman" pitchFamily="18" charset="0"/>
              </a:rPr>
              <a:t>  </a:t>
            </a:r>
            <a:r>
              <a:rPr lang="en-US" dirty="0">
                <a:latin typeface="Times New Roman" pitchFamily="18" charset="0"/>
              </a:rPr>
              <a:t> </a:t>
            </a:r>
            <a:r>
              <a:rPr lang="en-US" dirty="0" smtClean="0">
                <a:latin typeface="Times New Roman" pitchFamily="18" charset="0"/>
              </a:rPr>
              <a:t>        b. </a:t>
            </a:r>
            <a:r>
              <a:rPr lang="en-US" dirty="0" err="1" smtClean="0">
                <a:latin typeface="Times New Roman" pitchFamily="18" charset="0"/>
              </a:rPr>
              <a:t>ptr</a:t>
            </a:r>
            <a:r>
              <a:rPr lang="en-US" dirty="0" smtClean="0">
                <a:latin typeface="Times New Roman" pitchFamily="18" charset="0"/>
              </a:rPr>
              <a:t>-&gt;</a:t>
            </a:r>
            <a:r>
              <a:rPr lang="en-US" dirty="0" err="1" smtClean="0">
                <a:latin typeface="Times New Roman" pitchFamily="18" charset="0"/>
              </a:rPr>
              <a:t>rc</a:t>
            </a:r>
            <a:r>
              <a:rPr lang="en-US" dirty="0" smtClean="0">
                <a:latin typeface="Times New Roman" pitchFamily="18" charset="0"/>
              </a:rPr>
              <a:t>=new</a:t>
            </a:r>
            <a:endParaRPr lang="en-US" dirty="0">
              <a:latin typeface="Times New Roman" pitchFamily="18" charset="0"/>
            </a:endParaRPr>
          </a:p>
          <a:p>
            <a:pPr marL="342900" indent="-342900">
              <a:lnSpc>
                <a:spcPct val="90000"/>
              </a:lnSpc>
              <a:spcBef>
                <a:spcPct val="20000"/>
              </a:spcBef>
              <a:buClr>
                <a:schemeClr val="folHlink"/>
              </a:buClr>
              <a:buSzPct val="60000"/>
            </a:pPr>
            <a:r>
              <a:rPr lang="en-US" dirty="0">
                <a:latin typeface="Times New Roman" pitchFamily="18" charset="0"/>
              </a:rPr>
              <a:t>           </a:t>
            </a:r>
            <a:r>
              <a:rPr lang="en-US" dirty="0" smtClean="0">
                <a:latin typeface="Times New Roman" pitchFamily="18" charset="0"/>
              </a:rPr>
              <a:t>           c. new-&gt;data=ITEM</a:t>
            </a:r>
            <a:endParaRPr lang="en-US" dirty="0">
              <a:latin typeface="Times New Roman" pitchFamily="18" charset="0"/>
            </a:endParaRPr>
          </a:p>
          <a:p>
            <a:pPr marL="342900" indent="-342900">
              <a:lnSpc>
                <a:spcPct val="90000"/>
              </a:lnSpc>
              <a:spcBef>
                <a:spcPct val="20000"/>
              </a:spcBef>
              <a:buClr>
                <a:schemeClr val="folHlink"/>
              </a:buClr>
              <a:buSzPct val="60000"/>
            </a:pPr>
            <a:r>
              <a:rPr lang="en-US" dirty="0">
                <a:latin typeface="Times New Roman" pitchFamily="18" charset="0"/>
              </a:rPr>
              <a:t>          </a:t>
            </a:r>
            <a:r>
              <a:rPr lang="en-US" dirty="0" smtClean="0">
                <a:latin typeface="Times New Roman" pitchFamily="18" charset="0"/>
              </a:rPr>
              <a:t>            d. new-&gt;</a:t>
            </a:r>
            <a:r>
              <a:rPr lang="en-US" dirty="0" err="1" smtClean="0">
                <a:latin typeface="Times New Roman" pitchFamily="18" charset="0"/>
              </a:rPr>
              <a:t>lc</a:t>
            </a:r>
            <a:r>
              <a:rPr lang="en-US" dirty="0" smtClean="0">
                <a:latin typeface="Times New Roman" pitchFamily="18" charset="0"/>
              </a:rPr>
              <a:t>=new-&gt;</a:t>
            </a:r>
            <a:r>
              <a:rPr lang="en-US" dirty="0" err="1" smtClean="0">
                <a:latin typeface="Times New Roman" pitchFamily="18" charset="0"/>
              </a:rPr>
              <a:t>rc</a:t>
            </a:r>
            <a:r>
              <a:rPr lang="en-US" dirty="0" smtClean="0">
                <a:latin typeface="Times New Roman" pitchFamily="18" charset="0"/>
              </a:rPr>
              <a:t>=NULL</a:t>
            </a:r>
            <a:endParaRPr lang="en-US" dirty="0">
              <a:latin typeface="Times New Roman" pitchFamily="18" charset="0"/>
            </a:endParaRPr>
          </a:p>
          <a:p>
            <a:pPr marL="342900" indent="-342900">
              <a:lnSpc>
                <a:spcPct val="90000"/>
              </a:lnSpc>
              <a:spcBef>
                <a:spcPct val="20000"/>
              </a:spcBef>
              <a:buClr>
                <a:schemeClr val="folHlink"/>
              </a:buClr>
              <a:buSzPct val="60000"/>
            </a:pPr>
            <a:r>
              <a:rPr lang="en-US" dirty="0">
                <a:latin typeface="Times New Roman" pitchFamily="18" charset="0"/>
              </a:rPr>
              <a:t>    </a:t>
            </a:r>
            <a:r>
              <a:rPr lang="en-US" dirty="0" smtClean="0">
                <a:latin typeface="Times New Roman" pitchFamily="18" charset="0"/>
              </a:rPr>
              <a:t>      4.3.2. else</a:t>
            </a:r>
            <a:endParaRPr lang="en-US" dirty="0">
              <a:latin typeface="Times New Roman" pitchFamily="18" charset="0"/>
            </a:endParaRPr>
          </a:p>
          <a:p>
            <a:pPr marL="342900" indent="-342900">
              <a:lnSpc>
                <a:spcPct val="90000"/>
              </a:lnSpc>
              <a:spcBef>
                <a:spcPct val="20000"/>
              </a:spcBef>
              <a:buClr>
                <a:schemeClr val="folHlink"/>
              </a:buClr>
              <a:buSzPct val="60000"/>
            </a:pPr>
            <a:r>
              <a:rPr lang="en-US" dirty="0">
                <a:latin typeface="Times New Roman" pitchFamily="18" charset="0"/>
              </a:rPr>
              <a:t>      </a:t>
            </a:r>
            <a:r>
              <a:rPr lang="en-US" dirty="0" smtClean="0">
                <a:latin typeface="Times New Roman" pitchFamily="18" charset="0"/>
              </a:rPr>
              <a:t>        print </a:t>
            </a:r>
            <a:r>
              <a:rPr lang="en-US" dirty="0">
                <a:latin typeface="Times New Roman" pitchFamily="18" charset="0"/>
              </a:rPr>
              <a:t>Insertion not possible as right </a:t>
            </a:r>
            <a:r>
              <a:rPr lang="en-US" dirty="0" smtClean="0">
                <a:latin typeface="Times New Roman" pitchFamily="18" charset="0"/>
              </a:rPr>
              <a:t>Child.</a:t>
            </a:r>
            <a:endParaRPr lang="en-US" dirty="0">
              <a:latin typeface="Times New Roman" pitchFamily="18" charset="0"/>
            </a:endParaRPr>
          </a:p>
          <a:p>
            <a:pPr marL="342900" indent="-342900">
              <a:lnSpc>
                <a:spcPct val="90000"/>
              </a:lnSpc>
              <a:spcBef>
                <a:spcPct val="20000"/>
              </a:spcBef>
              <a:buClr>
                <a:schemeClr val="folHlink"/>
              </a:buClr>
              <a:buSzPct val="60000"/>
            </a:pPr>
            <a:endParaRPr lang="en-US" dirty="0" smtClean="0">
              <a:latin typeface="Times New Roman" pitchFamily="18" charset="0"/>
            </a:endParaRPr>
          </a:p>
          <a:p>
            <a:pPr marL="342900" indent="-342900">
              <a:lnSpc>
                <a:spcPct val="90000"/>
              </a:lnSpc>
              <a:spcBef>
                <a:spcPct val="20000"/>
              </a:spcBef>
              <a:buClr>
                <a:schemeClr val="folHlink"/>
              </a:buClr>
              <a:buSzPct val="60000"/>
            </a:pPr>
            <a:r>
              <a:rPr lang="en-US" dirty="0" smtClean="0">
                <a:latin typeface="Times New Roman" pitchFamily="18" charset="0"/>
              </a:rPr>
              <a:t>5. Else</a:t>
            </a:r>
          </a:p>
          <a:p>
            <a:pPr marL="342900" indent="-342900">
              <a:lnSpc>
                <a:spcPct val="90000"/>
              </a:lnSpc>
              <a:spcBef>
                <a:spcPct val="20000"/>
              </a:spcBef>
              <a:buClr>
                <a:schemeClr val="folHlink"/>
              </a:buClr>
              <a:buSzPct val="60000"/>
            </a:pPr>
            <a:r>
              <a:rPr lang="en-US" dirty="0" smtClean="0">
                <a:latin typeface="Times New Roman" pitchFamily="18" charset="0"/>
              </a:rPr>
              <a:t>      </a:t>
            </a:r>
            <a:r>
              <a:rPr lang="en-US" dirty="0">
                <a:latin typeface="Times New Roman" pitchFamily="18" charset="0"/>
              </a:rPr>
              <a:t> </a:t>
            </a:r>
            <a:r>
              <a:rPr lang="en-US" dirty="0" smtClean="0">
                <a:latin typeface="Times New Roman" pitchFamily="18" charset="0"/>
              </a:rPr>
              <a:t> print node has no empty children  hence insertion not possible.</a:t>
            </a:r>
          </a:p>
          <a:p>
            <a:pPr marL="342900" indent="-342900">
              <a:lnSpc>
                <a:spcPct val="90000"/>
              </a:lnSpc>
              <a:spcBef>
                <a:spcPct val="20000"/>
              </a:spcBef>
              <a:buClr>
                <a:schemeClr val="folHlink"/>
              </a:buClr>
              <a:buSzPct val="60000"/>
              <a:buAutoNum type="arabicPeriod" startAt="4"/>
            </a:pPr>
            <a:endParaRPr lang="en-US" dirty="0" smtClean="0">
              <a:latin typeface="Times New Roman" pitchFamily="18" charset="0"/>
            </a:endParaRPr>
          </a:p>
          <a:p>
            <a:pPr marL="342900" indent="-342900">
              <a:lnSpc>
                <a:spcPct val="90000"/>
              </a:lnSpc>
              <a:spcBef>
                <a:spcPct val="20000"/>
              </a:spcBef>
              <a:buClr>
                <a:schemeClr val="folHlink"/>
              </a:buClr>
              <a:buSzPct val="60000"/>
            </a:pPr>
            <a:endParaRPr lang="en-US" dirty="0">
              <a:latin typeface="Times New Roman" pitchFamily="18" charset="0"/>
            </a:endParaRPr>
          </a:p>
        </p:txBody>
      </p:sp>
      <p:sp>
        <p:nvSpPr>
          <p:cNvPr id="18436" name="Text Box 5"/>
          <p:cNvSpPr txBox="1">
            <a:spLocks noChangeArrowheads="1"/>
          </p:cNvSpPr>
          <p:nvPr/>
        </p:nvSpPr>
        <p:spPr bwMode="auto">
          <a:xfrm>
            <a:off x="1295400" y="304800"/>
            <a:ext cx="6858000" cy="461665"/>
          </a:xfrm>
          <a:prstGeom prst="rect">
            <a:avLst/>
          </a:prstGeom>
          <a:noFill/>
          <a:ln w="9525">
            <a:noFill/>
            <a:miter lim="800000"/>
            <a:headEnd/>
            <a:tailEnd type="none" w="lg" len="lg"/>
          </a:ln>
        </p:spPr>
        <p:txBody>
          <a:bodyPr>
            <a:spAutoFit/>
          </a:bodyPr>
          <a:lstStyle/>
          <a:p>
            <a:pPr algn="ctr">
              <a:spcBef>
                <a:spcPct val="50000"/>
              </a:spcBef>
            </a:pPr>
            <a:r>
              <a:rPr lang="en-US" sz="2400" b="1" dirty="0"/>
              <a:t>Inserting an </a:t>
            </a:r>
            <a:r>
              <a:rPr lang="en-US" sz="2400" b="1" dirty="0" smtClean="0"/>
              <a:t>Element </a:t>
            </a:r>
            <a:r>
              <a:rPr lang="en-US" sz="2400" b="1" dirty="0"/>
              <a:t>into a Binary </a:t>
            </a:r>
            <a:r>
              <a:rPr lang="en-US" sz="2400" b="1" dirty="0" smtClean="0"/>
              <a:t>Tree(Leaf node)</a:t>
            </a:r>
            <a:endParaRPr lang="en-US" sz="2400" b="1" dirty="0"/>
          </a:p>
        </p:txBody>
      </p:sp>
      <p:cxnSp>
        <p:nvCxnSpPr>
          <p:cNvPr id="6" name="Straight Connector 5"/>
          <p:cNvCxnSpPr/>
          <p:nvPr/>
        </p:nvCxnSpPr>
        <p:spPr>
          <a:xfrm>
            <a:off x="0" y="838200"/>
            <a:ext cx="91440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smtClean="0"/>
              <a:t>Search Operation</a:t>
            </a:r>
          </a:p>
        </p:txBody>
      </p:sp>
      <p:sp>
        <p:nvSpPr>
          <p:cNvPr id="16387" name="Rectangle 3"/>
          <p:cNvSpPr>
            <a:spLocks noChangeArrowheads="1"/>
          </p:cNvSpPr>
          <p:nvPr/>
        </p:nvSpPr>
        <p:spPr bwMode="auto">
          <a:xfrm>
            <a:off x="533400" y="2286000"/>
            <a:ext cx="6781800" cy="4247317"/>
          </a:xfrm>
          <a:prstGeom prst="rect">
            <a:avLst/>
          </a:prstGeom>
          <a:noFill/>
          <a:ln w="9525">
            <a:noFill/>
            <a:miter lim="800000"/>
            <a:headEnd/>
            <a:tailEnd/>
          </a:ln>
        </p:spPr>
        <p:txBody>
          <a:bodyPr wrap="square">
            <a:spAutoFit/>
          </a:bodyPr>
          <a:lstStyle/>
          <a:p>
            <a:r>
              <a:rPr lang="en-US" dirty="0"/>
              <a:t>Algorithm </a:t>
            </a:r>
            <a:r>
              <a:rPr lang="en-US" dirty="0" err="1" smtClean="0"/>
              <a:t>search_node</a:t>
            </a:r>
            <a:r>
              <a:rPr lang="en-US" dirty="0" smtClean="0"/>
              <a:t>(</a:t>
            </a:r>
            <a:r>
              <a:rPr lang="en-US" dirty="0" err="1" smtClean="0"/>
              <a:t>ptr,key</a:t>
            </a:r>
            <a:r>
              <a:rPr lang="en-US" dirty="0" smtClean="0"/>
              <a:t>)</a:t>
            </a:r>
            <a:endParaRPr lang="en-US" dirty="0"/>
          </a:p>
          <a:p>
            <a:endParaRPr lang="en-US" dirty="0"/>
          </a:p>
          <a:p>
            <a:r>
              <a:rPr lang="en-US" dirty="0"/>
              <a:t>1. if((</a:t>
            </a:r>
            <a:r>
              <a:rPr lang="en-US" dirty="0" err="1"/>
              <a:t>ptr</a:t>
            </a:r>
            <a:r>
              <a:rPr lang="en-US" dirty="0"/>
              <a:t>!=NULL)&amp;&amp;(flag==0))</a:t>
            </a:r>
          </a:p>
          <a:p>
            <a:r>
              <a:rPr lang="en-US" dirty="0"/>
              <a:t> </a:t>
            </a:r>
          </a:p>
          <a:p>
            <a:r>
              <a:rPr lang="en-US" dirty="0"/>
              <a:t>       </a:t>
            </a:r>
            <a:r>
              <a:rPr lang="en-US" dirty="0" smtClean="0"/>
              <a:t>1.1</a:t>
            </a:r>
            <a:r>
              <a:rPr lang="en-US" dirty="0"/>
              <a:t>.  if(</a:t>
            </a:r>
            <a:r>
              <a:rPr lang="en-US" dirty="0" err="1"/>
              <a:t>ptr</a:t>
            </a:r>
            <a:r>
              <a:rPr lang="en-US" dirty="0"/>
              <a:t>-&gt;data</a:t>
            </a:r>
            <a:r>
              <a:rPr lang="en-US" dirty="0" smtClean="0"/>
              <a:t>==key)</a:t>
            </a:r>
            <a:endParaRPr lang="en-US" dirty="0"/>
          </a:p>
          <a:p>
            <a:r>
              <a:rPr lang="en-US" dirty="0"/>
              <a:t>                     1.flag=1;</a:t>
            </a:r>
          </a:p>
          <a:p>
            <a:r>
              <a:rPr lang="en-US" dirty="0"/>
              <a:t>                     </a:t>
            </a:r>
            <a:r>
              <a:rPr lang="en-US" dirty="0" smtClean="0"/>
              <a:t>2.ptr2=</a:t>
            </a:r>
            <a:r>
              <a:rPr lang="en-US" dirty="0" err="1" smtClean="0"/>
              <a:t>ptr</a:t>
            </a:r>
            <a:r>
              <a:rPr lang="en-US" dirty="0"/>
              <a:t>;</a:t>
            </a:r>
          </a:p>
          <a:p>
            <a:r>
              <a:rPr lang="en-US" dirty="0"/>
              <a:t>       </a:t>
            </a:r>
            <a:r>
              <a:rPr lang="en-US" dirty="0" smtClean="0"/>
              <a:t>1.2</a:t>
            </a:r>
            <a:r>
              <a:rPr lang="en-US" dirty="0"/>
              <a:t>. else</a:t>
            </a:r>
          </a:p>
          <a:p>
            <a:r>
              <a:rPr lang="en-US" dirty="0"/>
              <a:t>                    1.search_node(</a:t>
            </a:r>
            <a:r>
              <a:rPr lang="en-US" dirty="0" err="1"/>
              <a:t>ptr</a:t>
            </a:r>
            <a:r>
              <a:rPr lang="en-US" dirty="0"/>
              <a:t>-&gt;</a:t>
            </a:r>
            <a:r>
              <a:rPr lang="en-US" dirty="0" err="1" smtClean="0"/>
              <a:t>lc,key</a:t>
            </a:r>
            <a:r>
              <a:rPr lang="en-US" dirty="0" smtClean="0"/>
              <a:t>);</a:t>
            </a:r>
            <a:endParaRPr lang="en-US" dirty="0"/>
          </a:p>
          <a:p>
            <a:r>
              <a:rPr lang="en-US" dirty="0"/>
              <a:t>                    2.search_node(</a:t>
            </a:r>
            <a:r>
              <a:rPr lang="en-US" dirty="0" err="1"/>
              <a:t>ptr</a:t>
            </a:r>
            <a:r>
              <a:rPr lang="en-US" dirty="0"/>
              <a:t>-&gt;</a:t>
            </a:r>
            <a:r>
              <a:rPr lang="en-US" dirty="0" err="1" smtClean="0"/>
              <a:t>rc,key</a:t>
            </a:r>
            <a:r>
              <a:rPr lang="en-US" dirty="0" smtClean="0"/>
              <a:t>);</a:t>
            </a:r>
            <a:endParaRPr lang="en-US" dirty="0"/>
          </a:p>
          <a:p>
            <a:r>
              <a:rPr lang="en-US" dirty="0"/>
              <a:t>       </a:t>
            </a:r>
            <a:r>
              <a:rPr lang="en-US" dirty="0" smtClean="0"/>
              <a:t>1.3</a:t>
            </a:r>
            <a:r>
              <a:rPr lang="en-US" dirty="0"/>
              <a:t>. End if</a:t>
            </a:r>
          </a:p>
          <a:p>
            <a:r>
              <a:rPr lang="en-US" dirty="0"/>
              <a:t>3.End if </a:t>
            </a:r>
          </a:p>
          <a:p>
            <a:r>
              <a:rPr lang="en-US" dirty="0"/>
              <a:t>4. stop</a:t>
            </a:r>
          </a:p>
          <a:p>
            <a:r>
              <a:rPr lang="en-US" dirty="0"/>
              <a:t> </a:t>
            </a:r>
          </a:p>
          <a:p>
            <a:endParaRPr lang="en-US" dirty="0"/>
          </a:p>
        </p:txBody>
      </p:sp>
      <p:sp>
        <p:nvSpPr>
          <p:cNvPr id="16388" name="TextBox 4"/>
          <p:cNvSpPr txBox="1">
            <a:spLocks noChangeArrowheads="1"/>
          </p:cNvSpPr>
          <p:nvPr/>
        </p:nvSpPr>
        <p:spPr bwMode="auto">
          <a:xfrm>
            <a:off x="152400" y="1447800"/>
            <a:ext cx="8991600" cy="825500"/>
          </a:xfrm>
          <a:prstGeom prst="rect">
            <a:avLst/>
          </a:prstGeom>
          <a:noFill/>
          <a:ln w="9525">
            <a:noFill/>
            <a:miter lim="800000"/>
            <a:headEnd/>
            <a:tailEnd/>
          </a:ln>
        </p:spPr>
        <p:txBody>
          <a:bodyPr>
            <a:spAutoFit/>
          </a:bodyPr>
          <a:lstStyle/>
          <a:p>
            <a:r>
              <a:rPr lang="en-US" sz="1600" b="1" dirty="0"/>
              <a:t>Assume global variable </a:t>
            </a:r>
            <a:r>
              <a:rPr lang="en-US" sz="1600" b="1" dirty="0" err="1"/>
              <a:t>int</a:t>
            </a:r>
            <a:r>
              <a:rPr lang="en-US" sz="1600" b="1" dirty="0"/>
              <a:t>  flag=0 and </a:t>
            </a:r>
            <a:r>
              <a:rPr lang="en-US" sz="1600" b="1" dirty="0" smtClean="0"/>
              <a:t>ptr2 </a:t>
            </a:r>
            <a:r>
              <a:rPr lang="en-US" sz="1600" b="1" dirty="0"/>
              <a:t>is the global pointer  variable of </a:t>
            </a:r>
            <a:r>
              <a:rPr lang="en-US" sz="1600" b="1" dirty="0" smtClean="0"/>
              <a:t>structure tree </a:t>
            </a:r>
            <a:endParaRPr lang="en-US" sz="1600" b="1" dirty="0"/>
          </a:p>
          <a:p>
            <a:endParaRPr lang="en-US" sz="1600" b="1" dirty="0"/>
          </a:p>
          <a:p>
            <a:r>
              <a:rPr lang="en-US" sz="1600" b="1" dirty="0"/>
              <a:t> </a:t>
            </a:r>
            <a:r>
              <a:rPr lang="en-US" sz="1600" b="1" dirty="0" err="1" smtClean="0"/>
              <a:t>ptr</a:t>
            </a:r>
            <a:r>
              <a:rPr lang="en-US" sz="1600" b="1" dirty="0" smtClean="0"/>
              <a:t>=root and key is the data of node to be searched for.</a:t>
            </a:r>
            <a:endParaRPr lang="en-US" sz="1600" b="1" dirty="0"/>
          </a:p>
        </p:txBody>
      </p:sp>
      <p:cxnSp>
        <p:nvCxnSpPr>
          <p:cNvPr id="6" name="Straight Connector 5"/>
          <p:cNvCxnSpPr/>
          <p:nvPr/>
        </p:nvCxnSpPr>
        <p:spPr>
          <a:xfrm>
            <a:off x="0" y="1143000"/>
            <a:ext cx="9144000" cy="762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457200" y="0"/>
            <a:ext cx="8229600" cy="411163"/>
          </a:xfrm>
        </p:spPr>
        <p:txBody>
          <a:bodyPr>
            <a:noAutofit/>
          </a:bodyPr>
          <a:lstStyle/>
          <a:p>
            <a:r>
              <a:rPr lang="en-US" sz="2800" dirty="0" smtClean="0"/>
              <a:t>Delete a node(leaf)</a:t>
            </a:r>
          </a:p>
        </p:txBody>
      </p:sp>
      <p:sp>
        <p:nvSpPr>
          <p:cNvPr id="19459" name="Content Placeholder 2"/>
          <p:cNvSpPr>
            <a:spLocks noGrp="1"/>
          </p:cNvSpPr>
          <p:nvPr>
            <p:ph idx="1"/>
          </p:nvPr>
        </p:nvSpPr>
        <p:spPr>
          <a:xfrm>
            <a:off x="10236" y="382588"/>
            <a:ext cx="8382000" cy="6475412"/>
          </a:xfrm>
        </p:spPr>
        <p:txBody>
          <a:bodyPr>
            <a:noAutofit/>
          </a:bodyPr>
          <a:lstStyle/>
          <a:p>
            <a:pPr>
              <a:buFontTx/>
              <a:buNone/>
            </a:pPr>
            <a:r>
              <a:rPr lang="en-US" sz="1500" b="1" dirty="0" smtClean="0">
                <a:latin typeface="Times New Roman" pitchFamily="18" charset="0"/>
                <a:cs typeface="Times New Roman" pitchFamily="18" charset="0"/>
              </a:rPr>
              <a:t>Algorithm </a:t>
            </a:r>
            <a:r>
              <a:rPr lang="en-US" sz="1500" b="1" dirty="0" err="1" smtClean="0">
                <a:latin typeface="Times New Roman" pitchFamily="18" charset="0"/>
                <a:cs typeface="Times New Roman" pitchFamily="18" charset="0"/>
              </a:rPr>
              <a:t>delete_leaf</a:t>
            </a:r>
            <a:r>
              <a:rPr lang="en-US" sz="1500" b="1" dirty="0" smtClean="0">
                <a:latin typeface="Times New Roman" pitchFamily="18" charset="0"/>
                <a:cs typeface="Times New Roman" pitchFamily="18" charset="0"/>
              </a:rPr>
              <a:t>(</a:t>
            </a:r>
            <a:r>
              <a:rPr lang="en-US" sz="1500" b="1" dirty="0" err="1" smtClean="0">
                <a:latin typeface="Times New Roman" pitchFamily="18" charset="0"/>
                <a:cs typeface="Times New Roman" pitchFamily="18" charset="0"/>
              </a:rPr>
              <a:t>ptr,item</a:t>
            </a:r>
            <a:r>
              <a:rPr lang="en-US" sz="1500" b="1" dirty="0" smtClean="0">
                <a:latin typeface="Times New Roman" pitchFamily="18" charset="0"/>
                <a:cs typeface="Times New Roman" pitchFamily="18" charset="0"/>
              </a:rPr>
              <a:t>)</a:t>
            </a:r>
            <a:endParaRPr lang="en-US" sz="1500" dirty="0" smtClean="0">
              <a:latin typeface="Times New Roman" pitchFamily="18" charset="0"/>
              <a:cs typeface="Times New Roman" pitchFamily="18" charset="0"/>
            </a:endParaRPr>
          </a:p>
          <a:p>
            <a:pPr>
              <a:buFontTx/>
              <a:buAutoNum type="arabicPeriod"/>
            </a:pPr>
            <a:r>
              <a:rPr lang="en-US" sz="1500" dirty="0" smtClean="0">
                <a:latin typeface="Times New Roman" pitchFamily="18" charset="0"/>
                <a:cs typeface="Times New Roman" pitchFamily="18" charset="0"/>
              </a:rPr>
              <a:t>If(</a:t>
            </a:r>
            <a:r>
              <a:rPr lang="en-US" sz="1500" dirty="0" err="1" smtClean="0">
                <a:latin typeface="Times New Roman" pitchFamily="18" charset="0"/>
                <a:cs typeface="Times New Roman" pitchFamily="18" charset="0"/>
              </a:rPr>
              <a:t>ptr</a:t>
            </a:r>
            <a:r>
              <a:rPr lang="en-US" sz="1500" dirty="0" smtClean="0">
                <a:latin typeface="Times New Roman" pitchFamily="18" charset="0"/>
                <a:cs typeface="Times New Roman" pitchFamily="18" charset="0"/>
              </a:rPr>
              <a:t>==NULL)</a:t>
            </a:r>
          </a:p>
          <a:p>
            <a:pPr>
              <a:buFontTx/>
              <a:buNone/>
            </a:pPr>
            <a:r>
              <a:rPr lang="en-US" sz="1500" dirty="0" smtClean="0">
                <a:latin typeface="Times New Roman" pitchFamily="18" charset="0"/>
                <a:cs typeface="Times New Roman" pitchFamily="18" charset="0"/>
              </a:rPr>
              <a:t>        1. print “tree is empty”</a:t>
            </a:r>
          </a:p>
          <a:p>
            <a:pPr>
              <a:buFontTx/>
              <a:buNone/>
            </a:pPr>
            <a:r>
              <a:rPr lang="en-US" sz="1500" dirty="0" smtClean="0">
                <a:latin typeface="Times New Roman" pitchFamily="18" charset="0"/>
                <a:cs typeface="Times New Roman" pitchFamily="18" charset="0"/>
              </a:rPr>
              <a:t>        2. exit</a:t>
            </a:r>
          </a:p>
          <a:p>
            <a:pPr>
              <a:buFontTx/>
              <a:buNone/>
            </a:pPr>
            <a:r>
              <a:rPr lang="en-US" sz="1500" dirty="0" smtClean="0">
                <a:latin typeface="Times New Roman" pitchFamily="18" charset="0"/>
                <a:cs typeface="Times New Roman" pitchFamily="18" charset="0"/>
              </a:rPr>
              <a:t>2. End if</a:t>
            </a:r>
          </a:p>
          <a:p>
            <a:pPr>
              <a:buFontTx/>
              <a:buNone/>
            </a:pPr>
            <a:r>
              <a:rPr lang="en-US" sz="1500" dirty="0" smtClean="0">
                <a:latin typeface="Times New Roman" pitchFamily="18" charset="0"/>
                <a:cs typeface="Times New Roman" pitchFamily="18" charset="0"/>
              </a:rPr>
              <a:t>3. </a:t>
            </a:r>
            <a:r>
              <a:rPr lang="en-US" sz="1500" dirty="0" err="1" smtClean="0">
                <a:latin typeface="Times New Roman" pitchFamily="18" charset="0"/>
                <a:cs typeface="Times New Roman" pitchFamily="18" charset="0"/>
              </a:rPr>
              <a:t>search_parent</a:t>
            </a:r>
            <a:r>
              <a:rPr lang="en-US" sz="1500" dirty="0" smtClean="0">
                <a:latin typeface="Times New Roman" pitchFamily="18" charset="0"/>
                <a:cs typeface="Times New Roman" pitchFamily="18" charset="0"/>
              </a:rPr>
              <a:t>(</a:t>
            </a:r>
            <a:r>
              <a:rPr lang="en-US" sz="1500" dirty="0" err="1" smtClean="0">
                <a:latin typeface="Times New Roman" pitchFamily="18" charset="0"/>
                <a:cs typeface="Times New Roman" pitchFamily="18" charset="0"/>
              </a:rPr>
              <a:t>root,item,NULL</a:t>
            </a:r>
            <a:r>
              <a:rPr lang="en-US" sz="1500" dirty="0" smtClean="0">
                <a:latin typeface="Times New Roman" pitchFamily="18" charset="0"/>
                <a:cs typeface="Times New Roman" pitchFamily="18" charset="0"/>
              </a:rPr>
              <a:t>)	</a:t>
            </a:r>
          </a:p>
          <a:p>
            <a:pPr>
              <a:buFontTx/>
              <a:buNone/>
            </a:pPr>
            <a:r>
              <a:rPr lang="en-US" sz="1500" dirty="0" smtClean="0">
                <a:latin typeface="Times New Roman" pitchFamily="18" charset="0"/>
                <a:cs typeface="Times New Roman" pitchFamily="18" charset="0"/>
              </a:rPr>
              <a:t>4. parent=ptr3</a:t>
            </a:r>
          </a:p>
          <a:p>
            <a:pPr>
              <a:buFontTx/>
              <a:buNone/>
            </a:pPr>
            <a:r>
              <a:rPr lang="en-US" sz="1500" dirty="0" smtClean="0">
                <a:latin typeface="Times New Roman" pitchFamily="18" charset="0"/>
                <a:cs typeface="Times New Roman" pitchFamily="18" charset="0"/>
              </a:rPr>
              <a:t>5. if(parent!=NULL)</a:t>
            </a:r>
          </a:p>
          <a:p>
            <a:pPr>
              <a:buFontTx/>
              <a:buNone/>
            </a:pPr>
            <a:r>
              <a:rPr lang="en-US" sz="1500" dirty="0" smtClean="0">
                <a:latin typeface="Times New Roman" pitchFamily="18" charset="0"/>
                <a:cs typeface="Times New Roman" pitchFamily="18" charset="0"/>
              </a:rPr>
              <a:t>      5.1. ptr1=parent-&gt;</a:t>
            </a:r>
            <a:r>
              <a:rPr lang="en-US" sz="1500" dirty="0" err="1" smtClean="0">
                <a:latin typeface="Times New Roman" pitchFamily="18" charset="0"/>
                <a:cs typeface="Times New Roman" pitchFamily="18" charset="0"/>
              </a:rPr>
              <a:t>lc</a:t>
            </a:r>
            <a:endParaRPr lang="en-US" sz="1500" dirty="0" smtClean="0">
              <a:latin typeface="Times New Roman" pitchFamily="18" charset="0"/>
              <a:cs typeface="Times New Roman" pitchFamily="18" charset="0"/>
            </a:endParaRPr>
          </a:p>
          <a:p>
            <a:pPr>
              <a:buFontTx/>
              <a:buNone/>
            </a:pPr>
            <a:r>
              <a:rPr lang="en-US" sz="1500" dirty="0" smtClean="0">
                <a:latin typeface="Times New Roman" pitchFamily="18" charset="0"/>
                <a:cs typeface="Times New Roman" pitchFamily="18" charset="0"/>
              </a:rPr>
              <a:t>      5.2. ptr2=parent-&gt;</a:t>
            </a:r>
            <a:r>
              <a:rPr lang="en-US" sz="1500" dirty="0" err="1" smtClean="0">
                <a:latin typeface="Times New Roman" pitchFamily="18" charset="0"/>
                <a:cs typeface="Times New Roman" pitchFamily="18" charset="0"/>
              </a:rPr>
              <a:t>rc</a:t>
            </a:r>
            <a:endParaRPr lang="en-US" sz="1500" dirty="0" smtClean="0">
              <a:latin typeface="Times New Roman" pitchFamily="18" charset="0"/>
              <a:cs typeface="Times New Roman" pitchFamily="18" charset="0"/>
            </a:endParaRPr>
          </a:p>
          <a:p>
            <a:pPr>
              <a:buFontTx/>
              <a:buNone/>
            </a:pPr>
            <a:r>
              <a:rPr lang="en-US" sz="1500" dirty="0" smtClean="0">
                <a:latin typeface="Times New Roman" pitchFamily="18" charset="0"/>
                <a:cs typeface="Times New Roman" pitchFamily="18" charset="0"/>
              </a:rPr>
              <a:t>      5.3. if(ptr1-&gt;data==item)</a:t>
            </a:r>
          </a:p>
          <a:p>
            <a:pPr>
              <a:buFontTx/>
              <a:buNone/>
            </a:pPr>
            <a:r>
              <a:rPr lang="en-US" sz="1500" dirty="0" smtClean="0">
                <a:latin typeface="Times New Roman" pitchFamily="18" charset="0"/>
                <a:cs typeface="Times New Roman" pitchFamily="18" charset="0"/>
              </a:rPr>
              <a:t>             5.3.1. if(ptr1-&gt;</a:t>
            </a:r>
            <a:r>
              <a:rPr lang="en-US" sz="1500" dirty="0" err="1" smtClean="0">
                <a:latin typeface="Times New Roman" pitchFamily="18" charset="0"/>
                <a:cs typeface="Times New Roman" pitchFamily="18" charset="0"/>
              </a:rPr>
              <a:t>lc</a:t>
            </a:r>
            <a:r>
              <a:rPr lang="en-US" sz="1500" dirty="0" smtClean="0">
                <a:latin typeface="Times New Roman" pitchFamily="18" charset="0"/>
                <a:cs typeface="Times New Roman" pitchFamily="18" charset="0"/>
              </a:rPr>
              <a:t>==NULL) and (ptr1-&gt;</a:t>
            </a:r>
            <a:r>
              <a:rPr lang="en-US" sz="1500" dirty="0" err="1" smtClean="0">
                <a:latin typeface="Times New Roman" pitchFamily="18" charset="0"/>
                <a:cs typeface="Times New Roman" pitchFamily="18" charset="0"/>
              </a:rPr>
              <a:t>rc</a:t>
            </a:r>
            <a:r>
              <a:rPr lang="en-US" sz="1500" dirty="0" smtClean="0">
                <a:latin typeface="Times New Roman" pitchFamily="18" charset="0"/>
                <a:cs typeface="Times New Roman" pitchFamily="18" charset="0"/>
              </a:rPr>
              <a:t>==NULL)</a:t>
            </a:r>
          </a:p>
          <a:p>
            <a:pPr>
              <a:buFontTx/>
              <a:buNone/>
            </a:pPr>
            <a:r>
              <a:rPr lang="en-US" sz="1500" dirty="0" smtClean="0">
                <a:latin typeface="Times New Roman" pitchFamily="18" charset="0"/>
                <a:cs typeface="Times New Roman" pitchFamily="18" charset="0"/>
              </a:rPr>
              <a:t>                     </a:t>
            </a:r>
            <a:r>
              <a:rPr lang="en-US" sz="1500" dirty="0">
                <a:latin typeface="Times New Roman" pitchFamily="18" charset="0"/>
                <a:cs typeface="Times New Roman" pitchFamily="18" charset="0"/>
              </a:rPr>
              <a:t> </a:t>
            </a:r>
            <a:r>
              <a:rPr lang="en-US" sz="1500" dirty="0" smtClean="0">
                <a:latin typeface="Times New Roman" pitchFamily="18" charset="0"/>
                <a:cs typeface="Times New Roman" pitchFamily="18" charset="0"/>
              </a:rPr>
              <a:t>         parent-&gt;</a:t>
            </a:r>
            <a:r>
              <a:rPr lang="en-US" sz="1500" dirty="0" err="1" smtClean="0">
                <a:latin typeface="Times New Roman" pitchFamily="18" charset="0"/>
                <a:cs typeface="Times New Roman" pitchFamily="18" charset="0"/>
              </a:rPr>
              <a:t>lc</a:t>
            </a:r>
            <a:r>
              <a:rPr lang="en-US" sz="1500" dirty="0" smtClean="0">
                <a:latin typeface="Times New Roman" pitchFamily="18" charset="0"/>
                <a:cs typeface="Times New Roman" pitchFamily="18" charset="0"/>
              </a:rPr>
              <a:t>=NULL</a:t>
            </a:r>
          </a:p>
          <a:p>
            <a:pPr>
              <a:buFontTx/>
              <a:buNone/>
            </a:pPr>
            <a:r>
              <a:rPr lang="en-US" sz="1500" dirty="0" smtClean="0">
                <a:latin typeface="Times New Roman" pitchFamily="18" charset="0"/>
                <a:cs typeface="Times New Roman" pitchFamily="18" charset="0"/>
              </a:rPr>
              <a:t>             5.3.2. else</a:t>
            </a:r>
          </a:p>
          <a:p>
            <a:pPr>
              <a:buFontTx/>
              <a:buNone/>
            </a:pPr>
            <a:r>
              <a:rPr lang="en-US" sz="1500" dirty="0" smtClean="0">
                <a:latin typeface="Times New Roman" pitchFamily="18" charset="0"/>
                <a:cs typeface="Times New Roman" pitchFamily="18" charset="0"/>
              </a:rPr>
              <a:t>                     </a:t>
            </a:r>
            <a:r>
              <a:rPr lang="en-US" sz="1500" dirty="0">
                <a:latin typeface="Times New Roman" pitchFamily="18" charset="0"/>
                <a:cs typeface="Times New Roman" pitchFamily="18" charset="0"/>
              </a:rPr>
              <a:t> </a:t>
            </a:r>
            <a:r>
              <a:rPr lang="en-US" sz="1500" dirty="0" smtClean="0">
                <a:latin typeface="Times New Roman" pitchFamily="18" charset="0"/>
                <a:cs typeface="Times New Roman" pitchFamily="18" charset="0"/>
              </a:rPr>
              <a:t>        print “Node is not a leaf node”</a:t>
            </a:r>
          </a:p>
          <a:p>
            <a:pPr>
              <a:buFontTx/>
              <a:buNone/>
            </a:pPr>
            <a:r>
              <a:rPr lang="en-US" sz="1500" dirty="0" smtClean="0">
                <a:latin typeface="Times New Roman" pitchFamily="18" charset="0"/>
                <a:cs typeface="Times New Roman" pitchFamily="18" charset="0"/>
              </a:rPr>
              <a:t>      5.4. else</a:t>
            </a:r>
          </a:p>
          <a:p>
            <a:pPr>
              <a:buFontTx/>
              <a:buNone/>
            </a:pPr>
            <a:r>
              <a:rPr lang="en-US" sz="1500" dirty="0" smtClean="0">
                <a:latin typeface="Times New Roman" pitchFamily="18" charset="0"/>
                <a:cs typeface="Times New Roman" pitchFamily="18" charset="0"/>
              </a:rPr>
              <a:t>             5.4.1 if(ptr2-&gt;</a:t>
            </a:r>
            <a:r>
              <a:rPr lang="en-US" sz="1500" dirty="0" err="1" smtClean="0">
                <a:latin typeface="Times New Roman" pitchFamily="18" charset="0"/>
                <a:cs typeface="Times New Roman" pitchFamily="18" charset="0"/>
              </a:rPr>
              <a:t>lc</a:t>
            </a:r>
            <a:r>
              <a:rPr lang="en-US" sz="1500" dirty="0" smtClean="0">
                <a:latin typeface="Times New Roman" pitchFamily="18" charset="0"/>
                <a:cs typeface="Times New Roman" pitchFamily="18" charset="0"/>
              </a:rPr>
              <a:t>==NULL) and (ptr2-&gt;</a:t>
            </a:r>
            <a:r>
              <a:rPr lang="en-US" sz="1500" dirty="0" err="1" smtClean="0">
                <a:latin typeface="Times New Roman" pitchFamily="18" charset="0"/>
                <a:cs typeface="Times New Roman" pitchFamily="18" charset="0"/>
              </a:rPr>
              <a:t>rc</a:t>
            </a:r>
            <a:r>
              <a:rPr lang="en-US" sz="1500" dirty="0" smtClean="0">
                <a:latin typeface="Times New Roman" pitchFamily="18" charset="0"/>
                <a:cs typeface="Times New Roman" pitchFamily="18" charset="0"/>
              </a:rPr>
              <a:t>==NULL)                         	    	</a:t>
            </a:r>
          </a:p>
          <a:p>
            <a:pPr>
              <a:buFontTx/>
              <a:buNone/>
            </a:pPr>
            <a:r>
              <a:rPr lang="en-US" sz="1500" dirty="0" smtClean="0">
                <a:latin typeface="Times New Roman" pitchFamily="18" charset="0"/>
                <a:cs typeface="Times New Roman" pitchFamily="18" charset="0"/>
              </a:rPr>
              <a:t>                  </a:t>
            </a:r>
            <a:r>
              <a:rPr lang="en-US" sz="1500" dirty="0">
                <a:latin typeface="Times New Roman" pitchFamily="18" charset="0"/>
                <a:cs typeface="Times New Roman" pitchFamily="18" charset="0"/>
              </a:rPr>
              <a:t> </a:t>
            </a:r>
            <a:r>
              <a:rPr lang="en-US" sz="1500" dirty="0" smtClean="0">
                <a:latin typeface="Times New Roman" pitchFamily="18" charset="0"/>
                <a:cs typeface="Times New Roman" pitchFamily="18" charset="0"/>
              </a:rPr>
              <a:t>           parent-&gt;</a:t>
            </a:r>
            <a:r>
              <a:rPr lang="en-US" sz="1500" dirty="0" err="1" smtClean="0">
                <a:latin typeface="Times New Roman" pitchFamily="18" charset="0"/>
                <a:cs typeface="Times New Roman" pitchFamily="18" charset="0"/>
              </a:rPr>
              <a:t>rc</a:t>
            </a:r>
            <a:r>
              <a:rPr lang="en-US" sz="1500" dirty="0" smtClean="0">
                <a:latin typeface="Times New Roman" pitchFamily="18" charset="0"/>
                <a:cs typeface="Times New Roman" pitchFamily="18" charset="0"/>
              </a:rPr>
              <a:t>=NULL</a:t>
            </a:r>
          </a:p>
          <a:p>
            <a:pPr>
              <a:buNone/>
            </a:pPr>
            <a:r>
              <a:rPr lang="en-US" sz="1500" dirty="0" smtClean="0">
                <a:latin typeface="Times New Roman" pitchFamily="18" charset="0"/>
                <a:cs typeface="Times New Roman" pitchFamily="18" charset="0"/>
              </a:rPr>
              <a:t>             5.4.2 else</a:t>
            </a:r>
          </a:p>
          <a:p>
            <a:pPr>
              <a:buNone/>
            </a:pPr>
            <a:r>
              <a:rPr lang="en-US" sz="1500" dirty="0" smtClean="0">
                <a:latin typeface="Times New Roman" pitchFamily="18" charset="0"/>
                <a:cs typeface="Times New Roman" pitchFamily="18" charset="0"/>
              </a:rPr>
              <a:t>                            print node is not a leaf node</a:t>
            </a:r>
          </a:p>
          <a:p>
            <a:pPr>
              <a:buNone/>
            </a:pPr>
            <a:r>
              <a:rPr lang="en-US" sz="1500" dirty="0" smtClean="0">
                <a:latin typeface="Times New Roman" pitchFamily="18" charset="0"/>
                <a:cs typeface="Times New Roman" pitchFamily="18" charset="0"/>
              </a:rPr>
              <a:t>6. Else</a:t>
            </a:r>
          </a:p>
          <a:p>
            <a:pPr>
              <a:buNone/>
            </a:pPr>
            <a:r>
              <a:rPr lang="en-US" sz="1500" dirty="0" smtClean="0">
                <a:latin typeface="Times New Roman" pitchFamily="18" charset="0"/>
                <a:cs typeface="Times New Roman" pitchFamily="18" charset="0"/>
              </a:rPr>
              <a:t>      6.1. print no such node exist</a:t>
            </a:r>
          </a:p>
          <a:p>
            <a:pPr>
              <a:buNone/>
            </a:pPr>
            <a:endParaRPr lang="en-US" sz="1400" dirty="0" smtClean="0"/>
          </a:p>
          <a:p>
            <a:pPr>
              <a:buFontTx/>
              <a:buNone/>
            </a:pPr>
            <a:endParaRPr lang="en-US" sz="1400" dirty="0" smtClean="0"/>
          </a:p>
          <a:p>
            <a:pPr>
              <a:buFontTx/>
              <a:buNone/>
            </a:pPr>
            <a:endParaRPr lang="en-US" sz="1400" dirty="0" smtClean="0"/>
          </a:p>
          <a:p>
            <a:pPr>
              <a:buFontTx/>
              <a:buNone/>
            </a:pPr>
            <a:r>
              <a:rPr lang="en-US" sz="1400" dirty="0" smtClean="0"/>
              <a:t> </a:t>
            </a:r>
          </a:p>
        </p:txBody>
      </p:sp>
      <p:cxnSp>
        <p:nvCxnSpPr>
          <p:cNvPr id="6" name="Straight Connector 5"/>
          <p:cNvCxnSpPr/>
          <p:nvPr/>
        </p:nvCxnSpPr>
        <p:spPr>
          <a:xfrm>
            <a:off x="0" y="381000"/>
            <a:ext cx="91440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457200" y="274638"/>
            <a:ext cx="8229600" cy="487362"/>
          </a:xfrm>
        </p:spPr>
        <p:txBody>
          <a:bodyPr>
            <a:normAutofit fontScale="90000"/>
          </a:bodyPr>
          <a:lstStyle/>
          <a:p>
            <a:r>
              <a:rPr lang="en-US" smtClean="0"/>
              <a:t>Search parent</a:t>
            </a:r>
          </a:p>
        </p:txBody>
      </p:sp>
      <p:sp>
        <p:nvSpPr>
          <p:cNvPr id="20483" name="Content Placeholder 2"/>
          <p:cNvSpPr>
            <a:spLocks noGrp="1"/>
          </p:cNvSpPr>
          <p:nvPr>
            <p:ph idx="1"/>
          </p:nvPr>
        </p:nvSpPr>
        <p:spPr>
          <a:xfrm>
            <a:off x="228600" y="990600"/>
            <a:ext cx="8382000" cy="5867400"/>
          </a:xfrm>
        </p:spPr>
        <p:txBody>
          <a:bodyPr>
            <a:normAutofit/>
          </a:bodyPr>
          <a:lstStyle/>
          <a:p>
            <a:r>
              <a:rPr lang="en-US" sz="2200" b="1" dirty="0" smtClean="0"/>
              <a:t>Assume global variable </a:t>
            </a:r>
            <a:r>
              <a:rPr lang="en-US" sz="2200" b="1" dirty="0" err="1" smtClean="0"/>
              <a:t>int</a:t>
            </a:r>
            <a:r>
              <a:rPr lang="en-US" sz="2200" b="1" dirty="0" smtClean="0"/>
              <a:t>  f1=0 and ptr3 is the global pointer  variable of structure tree </a:t>
            </a:r>
          </a:p>
          <a:p>
            <a:endParaRPr lang="en-US" sz="2200" b="1" dirty="0" smtClean="0"/>
          </a:p>
          <a:p>
            <a:r>
              <a:rPr lang="en-US" sz="2200" b="1" dirty="0" smtClean="0"/>
              <a:t> </a:t>
            </a:r>
            <a:r>
              <a:rPr lang="en-US" sz="2200" b="1" dirty="0" err="1" smtClean="0"/>
              <a:t>ptr</a:t>
            </a:r>
            <a:r>
              <a:rPr lang="en-US" sz="2200" b="1" dirty="0" smtClean="0"/>
              <a:t>=root and key is the data of node to be searched for.</a:t>
            </a:r>
          </a:p>
          <a:p>
            <a:pPr>
              <a:buFontTx/>
              <a:buNone/>
            </a:pPr>
            <a:endParaRPr lang="en-US" sz="2200" b="1" dirty="0" smtClean="0"/>
          </a:p>
          <a:p>
            <a:pPr>
              <a:buFontTx/>
              <a:buNone/>
            </a:pPr>
            <a:r>
              <a:rPr lang="en-US" sz="2200" b="1" dirty="0" smtClean="0"/>
              <a:t>Algorithm </a:t>
            </a:r>
            <a:r>
              <a:rPr lang="en-US" sz="2200" b="1" dirty="0" err="1" smtClean="0"/>
              <a:t>search_parent</a:t>
            </a:r>
            <a:r>
              <a:rPr lang="en-US" sz="2200" b="1" dirty="0" smtClean="0"/>
              <a:t>(</a:t>
            </a:r>
            <a:r>
              <a:rPr lang="en-US" sz="2200" b="1" dirty="0" err="1" smtClean="0"/>
              <a:t>ptr,key</a:t>
            </a:r>
            <a:r>
              <a:rPr lang="en-US" sz="2200" b="1" dirty="0" smtClean="0"/>
              <a:t>, parent)</a:t>
            </a:r>
          </a:p>
          <a:p>
            <a:pPr>
              <a:buFontTx/>
              <a:buNone/>
            </a:pPr>
            <a:r>
              <a:rPr lang="en-US" sz="2200" dirty="0" smtClean="0"/>
              <a:t>1. if((</a:t>
            </a:r>
            <a:r>
              <a:rPr lang="en-US" sz="2200" dirty="0" err="1" smtClean="0"/>
              <a:t>ptr</a:t>
            </a:r>
            <a:r>
              <a:rPr lang="en-US" sz="2200" dirty="0" smtClean="0"/>
              <a:t>!=NULL)&amp;&amp;(f1==0))</a:t>
            </a:r>
          </a:p>
          <a:p>
            <a:pPr>
              <a:buFontTx/>
              <a:buNone/>
            </a:pPr>
            <a:r>
              <a:rPr lang="en-US" sz="2200" dirty="0" smtClean="0"/>
              <a:t>      1.1.  if(</a:t>
            </a:r>
            <a:r>
              <a:rPr lang="en-US" sz="2200" dirty="0" err="1" smtClean="0"/>
              <a:t>ptr</a:t>
            </a:r>
            <a:r>
              <a:rPr lang="en-US" sz="2200" dirty="0" smtClean="0"/>
              <a:t>-&gt;data==key)</a:t>
            </a:r>
          </a:p>
          <a:p>
            <a:pPr>
              <a:buFontTx/>
              <a:buNone/>
            </a:pPr>
            <a:r>
              <a:rPr lang="en-US" sz="2200" dirty="0" smtClean="0"/>
              <a:t>               a)  f1=1;</a:t>
            </a:r>
          </a:p>
          <a:p>
            <a:pPr>
              <a:buFontTx/>
              <a:buNone/>
            </a:pPr>
            <a:r>
              <a:rPr lang="en-US" sz="2200" dirty="0" smtClean="0"/>
              <a:t>               b) ptr3=parent;</a:t>
            </a:r>
          </a:p>
          <a:p>
            <a:pPr>
              <a:buFontTx/>
              <a:buNone/>
            </a:pPr>
            <a:r>
              <a:rPr lang="en-US" sz="2200" dirty="0" smtClean="0"/>
              <a:t>           </a:t>
            </a:r>
          </a:p>
          <a:p>
            <a:pPr>
              <a:buFontTx/>
              <a:buNone/>
            </a:pPr>
            <a:r>
              <a:rPr lang="en-US" sz="2200" dirty="0" smtClean="0"/>
              <a:t>      1.2. else</a:t>
            </a:r>
          </a:p>
          <a:p>
            <a:pPr>
              <a:buFontTx/>
              <a:buNone/>
            </a:pPr>
            <a:r>
              <a:rPr lang="en-US" sz="2200" dirty="0" smtClean="0"/>
              <a:t>             a) </a:t>
            </a:r>
            <a:r>
              <a:rPr lang="en-US" sz="2200" dirty="0" err="1" smtClean="0"/>
              <a:t>search_parent</a:t>
            </a:r>
            <a:r>
              <a:rPr lang="en-US" sz="2200" dirty="0" smtClean="0"/>
              <a:t>(</a:t>
            </a:r>
            <a:r>
              <a:rPr lang="en-US" sz="2200" dirty="0" err="1" smtClean="0"/>
              <a:t>ptr</a:t>
            </a:r>
            <a:r>
              <a:rPr lang="en-US" sz="2200" dirty="0" smtClean="0"/>
              <a:t>-&gt;</a:t>
            </a:r>
            <a:r>
              <a:rPr lang="en-US" sz="2200" dirty="0" err="1" smtClean="0"/>
              <a:t>lc,key,ptr</a:t>
            </a:r>
            <a:r>
              <a:rPr lang="en-US" sz="2200" dirty="0" smtClean="0"/>
              <a:t>);</a:t>
            </a:r>
          </a:p>
          <a:p>
            <a:pPr>
              <a:buFontTx/>
              <a:buNone/>
            </a:pPr>
            <a:r>
              <a:rPr lang="en-US" sz="2200" dirty="0" smtClean="0"/>
              <a:t>             b) </a:t>
            </a:r>
            <a:r>
              <a:rPr lang="en-US" sz="2200" dirty="0" err="1" smtClean="0"/>
              <a:t>search_parent</a:t>
            </a:r>
            <a:r>
              <a:rPr lang="en-US" sz="2200" dirty="0" smtClean="0"/>
              <a:t>(</a:t>
            </a:r>
            <a:r>
              <a:rPr lang="en-US" sz="2200" dirty="0" err="1" smtClean="0"/>
              <a:t>ptr</a:t>
            </a:r>
            <a:r>
              <a:rPr lang="en-US" sz="2200" dirty="0" smtClean="0"/>
              <a:t>-&gt;</a:t>
            </a:r>
            <a:r>
              <a:rPr lang="en-US" sz="2200" dirty="0" err="1" smtClean="0"/>
              <a:t>rc,key,ptr</a:t>
            </a:r>
            <a:r>
              <a:rPr lang="en-US" sz="2200" dirty="0" smtClean="0"/>
              <a:t>);</a:t>
            </a:r>
          </a:p>
          <a:p>
            <a:pPr>
              <a:buFontTx/>
              <a:buNone/>
            </a:pPr>
            <a:endParaRPr lang="en-US" sz="2200" dirty="0" smtClean="0"/>
          </a:p>
          <a:p>
            <a:pPr>
              <a:buFontTx/>
              <a:buNone/>
            </a:pPr>
            <a:endParaRPr lang="en-US" sz="1600" dirty="0" smtClean="0"/>
          </a:p>
          <a:p>
            <a:pPr>
              <a:buFontTx/>
              <a:buNone/>
            </a:pPr>
            <a:endParaRPr lang="en-US" sz="1600" dirty="0" smtClean="0"/>
          </a:p>
        </p:txBody>
      </p:sp>
      <p:cxnSp>
        <p:nvCxnSpPr>
          <p:cNvPr id="5" name="Straight Connector 4"/>
          <p:cNvCxnSpPr/>
          <p:nvPr/>
        </p:nvCxnSpPr>
        <p:spPr>
          <a:xfrm>
            <a:off x="0" y="914400"/>
            <a:ext cx="91440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lstStyle/>
          <a:p>
            <a:r>
              <a:rPr lang="en-GB" dirty="0" smtClean="0"/>
              <a:t>Merge Operation</a:t>
            </a:r>
            <a:endParaRPr lang="en-GB" dirty="0"/>
          </a:p>
        </p:txBody>
      </p:sp>
      <p:sp>
        <p:nvSpPr>
          <p:cNvPr id="3" name="Content Placeholder 2"/>
          <p:cNvSpPr>
            <a:spLocks noGrp="1"/>
          </p:cNvSpPr>
          <p:nvPr>
            <p:ph idx="1"/>
          </p:nvPr>
        </p:nvSpPr>
        <p:spPr>
          <a:xfrm>
            <a:off x="228600" y="1066800"/>
            <a:ext cx="8458200" cy="5059363"/>
          </a:xfrm>
        </p:spPr>
        <p:txBody>
          <a:bodyPr/>
          <a:lstStyle/>
          <a:p>
            <a:r>
              <a:rPr lang="en-GB" dirty="0" smtClean="0"/>
              <a:t>Possible only for linked list representation.</a:t>
            </a:r>
          </a:p>
          <a:p>
            <a:r>
              <a:rPr lang="en-GB" dirty="0" smtClean="0"/>
              <a:t>If T</a:t>
            </a:r>
            <a:r>
              <a:rPr lang="en-GB" baseline="-25000" dirty="0" smtClean="0"/>
              <a:t>1</a:t>
            </a:r>
            <a:r>
              <a:rPr lang="en-GB" dirty="0" smtClean="0"/>
              <a:t> and T</a:t>
            </a:r>
            <a:r>
              <a:rPr lang="en-GB" baseline="-25000" dirty="0" smtClean="0"/>
              <a:t>2</a:t>
            </a:r>
            <a:r>
              <a:rPr lang="en-GB" dirty="0" smtClean="0"/>
              <a:t> are two binary trees, T</a:t>
            </a:r>
            <a:r>
              <a:rPr lang="en-GB" baseline="-25000" dirty="0" smtClean="0"/>
              <a:t>2</a:t>
            </a:r>
            <a:r>
              <a:rPr lang="en-GB" dirty="0" smtClean="0"/>
              <a:t> can be merged into T</a:t>
            </a:r>
            <a:r>
              <a:rPr lang="en-GB" baseline="-25000" dirty="0" smtClean="0"/>
              <a:t>1</a:t>
            </a:r>
            <a:r>
              <a:rPr lang="en-GB" dirty="0" smtClean="0"/>
              <a:t> only if T</a:t>
            </a:r>
            <a:r>
              <a:rPr lang="en-GB" baseline="-25000" dirty="0" smtClean="0"/>
              <a:t>1</a:t>
            </a:r>
            <a:r>
              <a:rPr lang="en-GB" dirty="0" smtClean="0"/>
              <a:t> root has </a:t>
            </a:r>
            <a:r>
              <a:rPr lang="en-GB" dirty="0" err="1" smtClean="0"/>
              <a:t>atleast</a:t>
            </a:r>
            <a:r>
              <a:rPr lang="en-GB" dirty="0" smtClean="0"/>
              <a:t> one </a:t>
            </a:r>
            <a:r>
              <a:rPr lang="en-GB" dirty="0" err="1" smtClean="0"/>
              <a:t>subtree</a:t>
            </a:r>
            <a:r>
              <a:rPr lang="en-GB" dirty="0" smtClean="0"/>
              <a:t> empty.</a:t>
            </a:r>
          </a:p>
          <a:p>
            <a:endParaRPr lang="en-GB" dirty="0" smtClean="0"/>
          </a:p>
          <a:p>
            <a:endParaRPr lang="en-GB" dirty="0" smtClean="0"/>
          </a:p>
          <a:p>
            <a:endParaRPr lang="en-GB" dirty="0" smtClean="0"/>
          </a:p>
          <a:p>
            <a:endParaRPr lang="en-GB" dirty="0"/>
          </a:p>
        </p:txBody>
      </p:sp>
      <p:pic>
        <p:nvPicPr>
          <p:cNvPr id="4" name="Picture 3" descr="Untitled.png"/>
          <p:cNvPicPr>
            <a:picLocks noChangeAspect="1"/>
          </p:cNvPicPr>
          <p:nvPr/>
        </p:nvPicPr>
        <p:blipFill>
          <a:blip r:embed="rId2" cstate="print"/>
          <a:stretch>
            <a:fillRect/>
          </a:stretch>
        </p:blipFill>
        <p:spPr>
          <a:xfrm>
            <a:off x="914400" y="3505200"/>
            <a:ext cx="7696200" cy="3111014"/>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0"/>
            <a:ext cx="8458200" cy="6858000"/>
          </a:xfrm>
        </p:spPr>
        <p:txBody>
          <a:bodyPr>
            <a:noAutofit/>
          </a:bodyPr>
          <a:lstStyle/>
          <a:p>
            <a:pPr>
              <a:buNone/>
            </a:pPr>
            <a:r>
              <a:rPr lang="en-GB" sz="1700" u="sng" dirty="0" smtClean="0"/>
              <a:t>Algorithm </a:t>
            </a:r>
            <a:r>
              <a:rPr lang="en-GB" sz="1700" u="sng" dirty="0" err="1" smtClean="0"/>
              <a:t>Mergetrees</a:t>
            </a:r>
            <a:r>
              <a:rPr lang="en-GB" sz="1700" u="sng" dirty="0" smtClean="0"/>
              <a:t>(*root,*root1)</a:t>
            </a:r>
          </a:p>
          <a:p>
            <a:pPr>
              <a:buNone/>
            </a:pPr>
            <a:r>
              <a:rPr lang="en-GB" sz="1700" dirty="0" smtClean="0">
                <a:solidFill>
                  <a:srgbClr val="FF0000"/>
                </a:solidFill>
              </a:rPr>
              <a:t>Here root3 is the root node of resultant tree after merging</a:t>
            </a:r>
          </a:p>
          <a:p>
            <a:pPr>
              <a:buNone/>
            </a:pPr>
            <a:r>
              <a:rPr lang="en-GB" sz="1700" dirty="0" smtClean="0"/>
              <a:t>1. if(root==NULL) then</a:t>
            </a:r>
          </a:p>
          <a:p>
            <a:pPr>
              <a:buNone/>
            </a:pPr>
            <a:r>
              <a:rPr lang="en-GB" sz="1700" dirty="0" smtClean="0"/>
              <a:t>       1.1. root3=root1;</a:t>
            </a:r>
          </a:p>
          <a:p>
            <a:pPr>
              <a:buNone/>
            </a:pPr>
            <a:r>
              <a:rPr lang="en-GB" sz="1700" dirty="0" smtClean="0"/>
              <a:t>2. else if(root1==NULL) then</a:t>
            </a:r>
          </a:p>
          <a:p>
            <a:pPr>
              <a:buNone/>
            </a:pPr>
            <a:r>
              <a:rPr lang="en-GB" sz="1700" dirty="0" smtClean="0"/>
              <a:t>       2.1. root3=root;</a:t>
            </a:r>
          </a:p>
          <a:p>
            <a:pPr>
              <a:buNone/>
            </a:pPr>
            <a:r>
              <a:rPr lang="en-GB" sz="1700" dirty="0" smtClean="0"/>
              <a:t>3.  else if(root-&gt;</a:t>
            </a:r>
            <a:r>
              <a:rPr lang="en-GB" sz="1700" dirty="0" err="1" smtClean="0"/>
              <a:t>lc</a:t>
            </a:r>
            <a:r>
              <a:rPr lang="en-GB" sz="1700" dirty="0" smtClean="0"/>
              <a:t>==NULL||root-&gt;</a:t>
            </a:r>
            <a:r>
              <a:rPr lang="en-GB" sz="1700" dirty="0" err="1" smtClean="0"/>
              <a:t>rc</a:t>
            </a:r>
            <a:r>
              <a:rPr lang="en-GB" sz="1700" dirty="0" smtClean="0"/>
              <a:t>==NULL) then</a:t>
            </a:r>
          </a:p>
          <a:p>
            <a:pPr>
              <a:buNone/>
            </a:pPr>
            <a:r>
              <a:rPr lang="en-GB" sz="1700" dirty="0" smtClean="0"/>
              <a:t>       3.1. if(root-&gt;</a:t>
            </a:r>
            <a:r>
              <a:rPr lang="en-GB" sz="1700" dirty="0" err="1" smtClean="0"/>
              <a:t>lc</a:t>
            </a:r>
            <a:r>
              <a:rPr lang="en-GB" sz="1700" dirty="0" smtClean="0"/>
              <a:t>==NULL) then</a:t>
            </a:r>
          </a:p>
          <a:p>
            <a:pPr>
              <a:buNone/>
            </a:pPr>
            <a:r>
              <a:rPr lang="en-GB" sz="1700" dirty="0" smtClean="0"/>
              <a:t>               a) root-&gt;</a:t>
            </a:r>
            <a:r>
              <a:rPr lang="en-GB" sz="1700" dirty="0" err="1" smtClean="0"/>
              <a:t>lc</a:t>
            </a:r>
            <a:r>
              <a:rPr lang="en-GB" sz="1700" dirty="0" smtClean="0"/>
              <a:t>=root1;</a:t>
            </a:r>
          </a:p>
          <a:p>
            <a:pPr>
              <a:buNone/>
            </a:pPr>
            <a:r>
              <a:rPr lang="en-GB" sz="1700" dirty="0" smtClean="0"/>
              <a:t>               b) root3=root;</a:t>
            </a:r>
          </a:p>
          <a:p>
            <a:pPr>
              <a:buNone/>
            </a:pPr>
            <a:r>
              <a:rPr lang="en-GB" sz="1700" dirty="0" smtClean="0"/>
              <a:t>       3.2.  else</a:t>
            </a:r>
          </a:p>
          <a:p>
            <a:pPr>
              <a:buNone/>
            </a:pPr>
            <a:r>
              <a:rPr lang="en-GB" sz="1700" dirty="0" smtClean="0"/>
              <a:t>               a)  root-&gt;</a:t>
            </a:r>
            <a:r>
              <a:rPr lang="en-GB" sz="1700" dirty="0" err="1" smtClean="0"/>
              <a:t>rc</a:t>
            </a:r>
            <a:r>
              <a:rPr lang="en-GB" sz="1700" dirty="0" smtClean="0"/>
              <a:t>=root1;</a:t>
            </a:r>
          </a:p>
          <a:p>
            <a:pPr>
              <a:buNone/>
            </a:pPr>
            <a:r>
              <a:rPr lang="en-GB" sz="1700" dirty="0" smtClean="0"/>
              <a:t>               b)  root3=root;</a:t>
            </a:r>
          </a:p>
          <a:p>
            <a:pPr>
              <a:buNone/>
            </a:pPr>
            <a:r>
              <a:rPr lang="en-GB" sz="1700" dirty="0"/>
              <a:t>4</a:t>
            </a:r>
            <a:r>
              <a:rPr lang="en-GB" sz="1700" dirty="0" smtClean="0"/>
              <a:t>. else if(root1-&gt;</a:t>
            </a:r>
            <a:r>
              <a:rPr lang="en-GB" sz="1700" dirty="0" err="1" smtClean="0"/>
              <a:t>lc</a:t>
            </a:r>
            <a:r>
              <a:rPr lang="en-GB" sz="1700" dirty="0" smtClean="0"/>
              <a:t>==NULL||root1-&gt;</a:t>
            </a:r>
            <a:r>
              <a:rPr lang="en-GB" sz="1700" dirty="0" err="1" smtClean="0"/>
              <a:t>rc</a:t>
            </a:r>
            <a:r>
              <a:rPr lang="en-GB" sz="1700" dirty="0" smtClean="0"/>
              <a:t>==NULL) then</a:t>
            </a:r>
          </a:p>
          <a:p>
            <a:pPr>
              <a:buNone/>
            </a:pPr>
            <a:r>
              <a:rPr lang="en-GB" sz="1700" dirty="0" smtClean="0"/>
              <a:t>        4.1. if(root1-&gt;</a:t>
            </a:r>
            <a:r>
              <a:rPr lang="en-GB" sz="1700" dirty="0" err="1" smtClean="0"/>
              <a:t>lc</a:t>
            </a:r>
            <a:r>
              <a:rPr lang="en-GB" sz="1700" dirty="0" smtClean="0"/>
              <a:t>==NULL) then</a:t>
            </a:r>
          </a:p>
          <a:p>
            <a:pPr>
              <a:buNone/>
            </a:pPr>
            <a:r>
              <a:rPr lang="en-GB" sz="1700" dirty="0" smtClean="0"/>
              <a:t>                a) root1-&gt;</a:t>
            </a:r>
            <a:r>
              <a:rPr lang="en-GB" sz="1700" dirty="0" err="1" smtClean="0"/>
              <a:t>lc</a:t>
            </a:r>
            <a:r>
              <a:rPr lang="en-GB" sz="1700" dirty="0" smtClean="0"/>
              <a:t>=root;</a:t>
            </a:r>
          </a:p>
          <a:p>
            <a:pPr>
              <a:buNone/>
            </a:pPr>
            <a:r>
              <a:rPr lang="en-GB" sz="1700" dirty="0" smtClean="0"/>
              <a:t>                b) root3=root1;</a:t>
            </a:r>
          </a:p>
          <a:p>
            <a:pPr>
              <a:buNone/>
            </a:pPr>
            <a:r>
              <a:rPr lang="en-GB" sz="1700" dirty="0" smtClean="0"/>
              <a:t>        4.2. else</a:t>
            </a:r>
          </a:p>
          <a:p>
            <a:pPr>
              <a:buNone/>
            </a:pPr>
            <a:r>
              <a:rPr lang="en-GB" sz="1700" dirty="0" smtClean="0"/>
              <a:t>               a) root1-&gt;</a:t>
            </a:r>
            <a:r>
              <a:rPr lang="en-GB" sz="1700" dirty="0" err="1" smtClean="0"/>
              <a:t>rc</a:t>
            </a:r>
            <a:r>
              <a:rPr lang="en-GB" sz="1700" dirty="0" smtClean="0"/>
              <a:t>=root;</a:t>
            </a:r>
          </a:p>
          <a:p>
            <a:pPr>
              <a:buNone/>
            </a:pPr>
            <a:r>
              <a:rPr lang="en-GB" sz="1700" dirty="0" smtClean="0"/>
              <a:t>               b) root3=root1;</a:t>
            </a:r>
          </a:p>
          <a:p>
            <a:pPr>
              <a:buNone/>
            </a:pPr>
            <a:r>
              <a:rPr lang="en-GB" sz="1700" dirty="0"/>
              <a:t>5</a:t>
            </a:r>
            <a:r>
              <a:rPr lang="en-GB" sz="1700" dirty="0" smtClean="0"/>
              <a:t>. else</a:t>
            </a:r>
          </a:p>
          <a:p>
            <a:pPr>
              <a:buNone/>
            </a:pPr>
            <a:r>
              <a:rPr lang="en-GB" sz="1700" dirty="0" smtClean="0"/>
              <a:t>       Display Merging not possible</a:t>
            </a:r>
          </a:p>
          <a:p>
            <a:pPr>
              <a:buNone/>
            </a:pPr>
            <a:endParaRPr lang="en-GB" sz="1600"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Height of BT</a:t>
            </a:r>
            <a:endParaRPr lang="en-GB" dirty="0"/>
          </a:p>
        </p:txBody>
      </p:sp>
      <p:sp>
        <p:nvSpPr>
          <p:cNvPr id="3" name="Content Placeholder 2"/>
          <p:cNvSpPr>
            <a:spLocks noGrp="1"/>
          </p:cNvSpPr>
          <p:nvPr>
            <p:ph idx="1"/>
          </p:nvPr>
        </p:nvSpPr>
        <p:spPr>
          <a:xfrm>
            <a:off x="304800" y="1600200"/>
            <a:ext cx="8382000" cy="5029200"/>
          </a:xfrm>
        </p:spPr>
        <p:txBody>
          <a:bodyPr>
            <a:normAutofit fontScale="62500" lnSpcReduction="20000"/>
          </a:bodyPr>
          <a:lstStyle/>
          <a:p>
            <a:pPr>
              <a:buNone/>
            </a:pPr>
            <a:r>
              <a:rPr lang="en-GB" dirty="0" err="1" smtClean="0"/>
              <a:t>int</a:t>
            </a:r>
            <a:r>
              <a:rPr lang="en-GB" dirty="0" smtClean="0"/>
              <a:t> max(</a:t>
            </a:r>
            <a:r>
              <a:rPr lang="en-GB" dirty="0" err="1" smtClean="0"/>
              <a:t>int</a:t>
            </a:r>
            <a:r>
              <a:rPr lang="en-GB" dirty="0" smtClean="0"/>
              <a:t> </a:t>
            </a:r>
            <a:r>
              <a:rPr lang="en-GB" dirty="0" err="1" smtClean="0"/>
              <a:t>a,int</a:t>
            </a:r>
            <a:r>
              <a:rPr lang="en-GB" dirty="0" smtClean="0"/>
              <a:t> b)</a:t>
            </a:r>
          </a:p>
          <a:p>
            <a:pPr>
              <a:buNone/>
            </a:pPr>
            <a:r>
              <a:rPr lang="en-GB" dirty="0" smtClean="0"/>
              <a:t>{</a:t>
            </a:r>
          </a:p>
          <a:p>
            <a:pPr>
              <a:buNone/>
            </a:pPr>
            <a:r>
              <a:rPr lang="en-GB" dirty="0" smtClean="0"/>
              <a:t>    </a:t>
            </a:r>
            <a:r>
              <a:rPr lang="en-GB" smtClean="0"/>
              <a:t>if(a&gt;=b</a:t>
            </a:r>
            <a:r>
              <a:rPr lang="en-GB" dirty="0" smtClean="0"/>
              <a:t>)</a:t>
            </a:r>
          </a:p>
          <a:p>
            <a:pPr>
              <a:buNone/>
            </a:pPr>
            <a:r>
              <a:rPr lang="en-GB" dirty="0" smtClean="0"/>
              <a:t>           return a;</a:t>
            </a:r>
          </a:p>
          <a:p>
            <a:pPr>
              <a:buNone/>
            </a:pPr>
            <a:r>
              <a:rPr lang="en-GB" dirty="0" smtClean="0"/>
              <a:t>    else</a:t>
            </a:r>
          </a:p>
          <a:p>
            <a:pPr>
              <a:buNone/>
            </a:pPr>
            <a:r>
              <a:rPr lang="en-GB" dirty="0" smtClean="0"/>
              <a:t>        return b;</a:t>
            </a:r>
          </a:p>
          <a:p>
            <a:pPr>
              <a:buNone/>
            </a:pPr>
            <a:r>
              <a:rPr lang="en-GB" dirty="0" smtClean="0"/>
              <a:t>}</a:t>
            </a:r>
          </a:p>
          <a:p>
            <a:pPr>
              <a:buNone/>
            </a:pPr>
            <a:r>
              <a:rPr lang="en-GB" dirty="0" err="1" smtClean="0"/>
              <a:t>int</a:t>
            </a:r>
            <a:r>
              <a:rPr lang="en-GB" dirty="0" smtClean="0"/>
              <a:t> height(</a:t>
            </a:r>
            <a:r>
              <a:rPr lang="en-GB" dirty="0" err="1" smtClean="0"/>
              <a:t>struct</a:t>
            </a:r>
            <a:r>
              <a:rPr lang="en-GB" dirty="0" smtClean="0"/>
              <a:t> tree *</a:t>
            </a:r>
            <a:r>
              <a:rPr lang="en-GB" dirty="0" err="1" smtClean="0"/>
              <a:t>ptr</a:t>
            </a:r>
            <a:r>
              <a:rPr lang="en-GB" dirty="0" smtClean="0"/>
              <a:t>)</a:t>
            </a:r>
          </a:p>
          <a:p>
            <a:pPr>
              <a:buNone/>
            </a:pPr>
            <a:r>
              <a:rPr lang="en-GB" dirty="0" smtClean="0"/>
              <a:t>{</a:t>
            </a:r>
          </a:p>
          <a:p>
            <a:pPr>
              <a:buNone/>
            </a:pPr>
            <a:r>
              <a:rPr lang="en-GB" dirty="0" smtClean="0"/>
              <a:t>    if(</a:t>
            </a:r>
            <a:r>
              <a:rPr lang="en-GB" dirty="0" err="1" smtClean="0"/>
              <a:t>ptr</a:t>
            </a:r>
            <a:r>
              <a:rPr lang="en-GB" dirty="0" smtClean="0"/>
              <a:t>==NULL)</a:t>
            </a:r>
          </a:p>
          <a:p>
            <a:pPr>
              <a:buNone/>
            </a:pPr>
            <a:r>
              <a:rPr lang="en-GB" dirty="0" smtClean="0"/>
              <a:t>                 return 0;</a:t>
            </a:r>
          </a:p>
          <a:p>
            <a:pPr>
              <a:buNone/>
            </a:pPr>
            <a:r>
              <a:rPr lang="en-GB" dirty="0" smtClean="0"/>
              <a:t>    else</a:t>
            </a:r>
          </a:p>
          <a:p>
            <a:pPr>
              <a:buNone/>
            </a:pPr>
            <a:r>
              <a:rPr lang="en-GB" dirty="0" smtClean="0"/>
              <a:t>       return 1+max(height(</a:t>
            </a:r>
            <a:r>
              <a:rPr lang="en-GB" dirty="0" err="1" smtClean="0"/>
              <a:t>ptr</a:t>
            </a:r>
            <a:r>
              <a:rPr lang="en-GB" dirty="0" smtClean="0"/>
              <a:t>-&gt;</a:t>
            </a:r>
            <a:r>
              <a:rPr lang="en-GB" dirty="0" err="1" smtClean="0"/>
              <a:t>lc</a:t>
            </a:r>
            <a:r>
              <a:rPr lang="en-GB" dirty="0" smtClean="0"/>
              <a:t>),height(</a:t>
            </a:r>
            <a:r>
              <a:rPr lang="en-GB" dirty="0" err="1" smtClean="0"/>
              <a:t>ptr</a:t>
            </a:r>
            <a:r>
              <a:rPr lang="en-GB" dirty="0" smtClean="0"/>
              <a:t>-&gt;</a:t>
            </a:r>
            <a:r>
              <a:rPr lang="en-GB" dirty="0" err="1" smtClean="0"/>
              <a:t>rc</a:t>
            </a:r>
            <a:r>
              <a:rPr lang="en-GB" dirty="0" smtClean="0"/>
              <a:t>));</a:t>
            </a:r>
          </a:p>
          <a:p>
            <a:pPr>
              <a:buNone/>
            </a:pPr>
            <a:r>
              <a:rPr lang="en-GB" dirty="0" smtClean="0"/>
              <a:t>}</a:t>
            </a:r>
          </a:p>
          <a:p>
            <a:pPr>
              <a:buNone/>
            </a:pPr>
            <a:r>
              <a:rPr lang="en-GB" dirty="0" smtClean="0">
                <a:solidFill>
                  <a:srgbClr val="FF0000"/>
                </a:solidFill>
              </a:rPr>
              <a:t>Fn call: height(root)</a:t>
            </a:r>
            <a:endParaRPr lang="en-GB" dirty="0">
              <a:solidFill>
                <a:srgbClr val="FF0000"/>
              </a:solidFill>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Application of BT</a:t>
            </a:r>
            <a:endParaRPr lang="en-GB" dirty="0"/>
          </a:p>
        </p:txBody>
      </p:sp>
      <p:sp>
        <p:nvSpPr>
          <p:cNvPr id="3" name="Content Placeholder 2"/>
          <p:cNvSpPr>
            <a:spLocks noGrp="1"/>
          </p:cNvSpPr>
          <p:nvPr>
            <p:ph idx="1"/>
          </p:nvPr>
        </p:nvSpPr>
        <p:spPr>
          <a:xfrm>
            <a:off x="0" y="1600200"/>
            <a:ext cx="9144000" cy="5105400"/>
          </a:xfrm>
        </p:spPr>
        <p:txBody>
          <a:bodyPr>
            <a:normAutofit lnSpcReduction="10000"/>
          </a:bodyPr>
          <a:lstStyle/>
          <a:p>
            <a:r>
              <a:rPr lang="en-GB" dirty="0" smtClean="0"/>
              <a:t>Expression Tree </a:t>
            </a:r>
          </a:p>
          <a:p>
            <a:pPr lvl="1"/>
            <a:r>
              <a:rPr lang="en-GB" dirty="0" smtClean="0"/>
              <a:t>BT which stores arithmetic expression</a:t>
            </a:r>
            <a:r>
              <a:rPr lang="en-GB" dirty="0"/>
              <a:t>. </a:t>
            </a:r>
            <a:endParaRPr lang="en-GB" dirty="0" smtClean="0"/>
          </a:p>
          <a:p>
            <a:pPr lvl="1"/>
            <a:r>
              <a:rPr lang="en-GB" dirty="0" smtClean="0"/>
              <a:t>Leaves </a:t>
            </a:r>
            <a:r>
              <a:rPr lang="en-GB" dirty="0"/>
              <a:t>of expression tree are operands, such as constants or variable names, and all internal nodes are operators</a:t>
            </a:r>
            <a:endParaRPr lang="en-GB" dirty="0" smtClean="0"/>
          </a:p>
          <a:p>
            <a:r>
              <a:rPr lang="en-GB" dirty="0" smtClean="0"/>
              <a:t>Binary Search </a:t>
            </a:r>
            <a:r>
              <a:rPr lang="en-GB" dirty="0"/>
              <a:t>T</a:t>
            </a:r>
            <a:r>
              <a:rPr lang="en-GB" dirty="0" smtClean="0"/>
              <a:t>ree</a:t>
            </a:r>
          </a:p>
          <a:p>
            <a:r>
              <a:rPr lang="en-GB" dirty="0" smtClean="0"/>
              <a:t>Heap Tree</a:t>
            </a:r>
          </a:p>
          <a:p>
            <a:r>
              <a:rPr lang="en-GB" dirty="0" smtClean="0"/>
              <a:t>Height balanced tree</a:t>
            </a:r>
          </a:p>
          <a:p>
            <a:r>
              <a:rPr lang="en-GB" dirty="0" smtClean="0"/>
              <a:t>Decision Tree</a:t>
            </a:r>
          </a:p>
          <a:p>
            <a:r>
              <a:rPr lang="en-GB" dirty="0" smtClean="0"/>
              <a:t>Huffman tree</a:t>
            </a:r>
            <a:endParaRPr lang="en-GB"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lstStyle/>
          <a:p>
            <a:r>
              <a:rPr lang="en-GB" b="1" dirty="0" smtClean="0"/>
              <a:t>BINARY SEARCH TREE</a:t>
            </a:r>
            <a:endParaRPr lang="en-GB" b="1" dirty="0"/>
          </a:p>
        </p:txBody>
      </p:sp>
      <p:sp>
        <p:nvSpPr>
          <p:cNvPr id="3" name="Content Placeholder 2"/>
          <p:cNvSpPr>
            <a:spLocks noGrp="1"/>
          </p:cNvSpPr>
          <p:nvPr>
            <p:ph idx="1"/>
          </p:nvPr>
        </p:nvSpPr>
        <p:spPr>
          <a:xfrm>
            <a:off x="304800" y="1066800"/>
            <a:ext cx="8686800" cy="5791200"/>
          </a:xfrm>
        </p:spPr>
        <p:txBody>
          <a:bodyPr/>
          <a:lstStyle/>
          <a:p>
            <a:r>
              <a:rPr lang="en-GB" dirty="0" smtClean="0">
                <a:latin typeface="Times New Roman" pitchFamily="18" charset="0"/>
                <a:cs typeface="Times New Roman" pitchFamily="18" charset="0"/>
              </a:rPr>
              <a:t>A binary tree T is termed as binary search tree if each node N of T satisfies the following property:</a:t>
            </a:r>
          </a:p>
          <a:p>
            <a:pPr lvl="1"/>
            <a:r>
              <a:rPr lang="en-GB" dirty="0" smtClean="0">
                <a:solidFill>
                  <a:srgbClr val="FF0000"/>
                </a:solidFill>
                <a:latin typeface="Times New Roman" pitchFamily="18" charset="0"/>
                <a:cs typeface="Times New Roman" pitchFamily="18" charset="0"/>
              </a:rPr>
              <a:t>The value of N is greater </a:t>
            </a:r>
            <a:r>
              <a:rPr lang="en-GB" smtClean="0">
                <a:solidFill>
                  <a:srgbClr val="FF0000"/>
                </a:solidFill>
                <a:latin typeface="Times New Roman" pitchFamily="18" charset="0"/>
                <a:cs typeface="Times New Roman" pitchFamily="18" charset="0"/>
              </a:rPr>
              <a:t>than every </a:t>
            </a:r>
            <a:r>
              <a:rPr lang="en-GB" dirty="0" smtClean="0">
                <a:solidFill>
                  <a:srgbClr val="FF0000"/>
                </a:solidFill>
                <a:latin typeface="Times New Roman" pitchFamily="18" charset="0"/>
                <a:cs typeface="Times New Roman" pitchFamily="18" charset="0"/>
              </a:rPr>
              <a:t>value in the left sub-tree of N and is less than every value in the right sub-tree of N. </a:t>
            </a:r>
          </a:p>
          <a:p>
            <a:pPr>
              <a:buNone/>
            </a:pPr>
            <a:endParaRPr lang="en-GB" dirty="0"/>
          </a:p>
        </p:txBody>
      </p:sp>
      <p:pic>
        <p:nvPicPr>
          <p:cNvPr id="4" name="Picture 3" descr="images.png"/>
          <p:cNvPicPr>
            <a:picLocks noChangeAspect="1"/>
          </p:cNvPicPr>
          <p:nvPr/>
        </p:nvPicPr>
        <p:blipFill>
          <a:blip r:embed="rId2" cstate="print"/>
          <a:stretch>
            <a:fillRect/>
          </a:stretch>
        </p:blipFill>
        <p:spPr>
          <a:xfrm>
            <a:off x="2743199" y="3535438"/>
            <a:ext cx="4800601" cy="2722488"/>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Operations on a BST</a:t>
            </a:r>
            <a:endParaRPr lang="en-US" b="1" dirty="0"/>
          </a:p>
        </p:txBody>
      </p:sp>
      <p:sp>
        <p:nvSpPr>
          <p:cNvPr id="3" name="Content Placeholder 2"/>
          <p:cNvSpPr>
            <a:spLocks noGrp="1"/>
          </p:cNvSpPr>
          <p:nvPr>
            <p:ph idx="1"/>
          </p:nvPr>
        </p:nvSpPr>
        <p:spPr>
          <a:xfrm>
            <a:off x="457200" y="1600200"/>
            <a:ext cx="8382000" cy="5029200"/>
          </a:xfrm>
        </p:spPr>
        <p:txBody>
          <a:bodyPr>
            <a:normAutofit fontScale="92500" lnSpcReduction="10000"/>
          </a:bodyPr>
          <a:lstStyle/>
          <a:p>
            <a:pPr algn="just"/>
            <a:r>
              <a:rPr lang="en-US" dirty="0" smtClean="0"/>
              <a:t>Traversal : To visit all nodes in a binary search tree.</a:t>
            </a:r>
          </a:p>
          <a:p>
            <a:pPr algn="just"/>
            <a:r>
              <a:rPr lang="en-US" dirty="0" smtClean="0"/>
              <a:t>Search : To search a binary search tree for a particular data.</a:t>
            </a:r>
          </a:p>
          <a:p>
            <a:pPr algn="just"/>
            <a:r>
              <a:rPr lang="en-US" dirty="0" smtClean="0"/>
              <a:t>Insertion : To include a node into an binary search tree.</a:t>
            </a:r>
          </a:p>
          <a:p>
            <a:pPr algn="just"/>
            <a:r>
              <a:rPr lang="en-US" dirty="0" smtClean="0"/>
              <a:t>Deletion : To delete a node from a non empty binary search tree.</a:t>
            </a:r>
          </a:p>
          <a:p>
            <a:pPr marL="0" indent="0" algn="just">
              <a:buNone/>
            </a:pPr>
            <a:endParaRPr lang="en-US" dirty="0"/>
          </a:p>
          <a:p>
            <a:pPr marL="0" indent="0" algn="just">
              <a:buNone/>
            </a:pPr>
            <a:r>
              <a:rPr lang="en-US" dirty="0" smtClean="0">
                <a:solidFill>
                  <a:srgbClr val="FF0000"/>
                </a:solidFill>
              </a:rPr>
              <a:t>- The time complexity of searching, insertion and deletion = O(h) where h is the height of the tree.</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92162"/>
          </a:xfrm>
        </p:spPr>
        <p:txBody>
          <a:bodyPr/>
          <a:lstStyle/>
          <a:p>
            <a:r>
              <a:rPr lang="en-GB" u="sng" dirty="0" smtClean="0"/>
              <a:t>Traversals on BST</a:t>
            </a:r>
            <a:endParaRPr lang="en-GB" u="sng" dirty="0"/>
          </a:p>
        </p:txBody>
      </p:sp>
      <p:sp>
        <p:nvSpPr>
          <p:cNvPr id="3" name="Content Placeholder 2"/>
          <p:cNvSpPr>
            <a:spLocks noGrp="1"/>
          </p:cNvSpPr>
          <p:nvPr>
            <p:ph idx="1"/>
          </p:nvPr>
        </p:nvSpPr>
        <p:spPr>
          <a:xfrm>
            <a:off x="304800" y="1143000"/>
            <a:ext cx="8534400" cy="5486400"/>
          </a:xfrm>
        </p:spPr>
        <p:txBody>
          <a:bodyPr>
            <a:normAutofit fontScale="92500"/>
          </a:bodyPr>
          <a:lstStyle/>
          <a:p>
            <a:pPr algn="just"/>
            <a:r>
              <a:rPr lang="en-GB" dirty="0" smtClean="0"/>
              <a:t>Note : All traversal operations discussed in Binary Tree can be used here without any alterations.</a:t>
            </a:r>
          </a:p>
          <a:p>
            <a:pPr algn="just">
              <a:buNone/>
            </a:pPr>
            <a:endParaRPr lang="en-GB" dirty="0" smtClean="0"/>
          </a:p>
          <a:p>
            <a:pPr algn="just"/>
            <a:r>
              <a:rPr lang="en-GB" dirty="0" smtClean="0"/>
              <a:t> Inorder traversal in BST will give a sorted list of data in ascending order.</a:t>
            </a:r>
          </a:p>
          <a:p>
            <a:pPr algn="just">
              <a:buNone/>
            </a:pPr>
            <a:endParaRPr lang="en-GB" dirty="0" smtClean="0"/>
          </a:p>
          <a:p>
            <a:pPr algn="just"/>
            <a:r>
              <a:rPr lang="en-GB" dirty="0" smtClean="0"/>
              <a:t>So in order to sort data, a BST can be constructed with the data available and inorder traversal can be applied. This method of sorting is called Binary Sort and hence binary search tree is also called as </a:t>
            </a:r>
            <a:r>
              <a:rPr lang="en-GB" dirty="0" smtClean="0">
                <a:solidFill>
                  <a:srgbClr val="FF0000"/>
                </a:solidFill>
              </a:rPr>
              <a:t>Binary Sorted Tree</a:t>
            </a:r>
            <a:r>
              <a:rPr lang="en-GB" dirty="0" smtClean="0"/>
              <a:t>.</a:t>
            </a:r>
          </a:p>
          <a:p>
            <a:endParaRPr lang="en-GB"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a:bodyPr>
          <a:lstStyle/>
          <a:p>
            <a:r>
              <a:rPr lang="en-GB" sz="3600" u="sng" dirty="0" smtClean="0"/>
              <a:t>Searching a BST</a:t>
            </a:r>
            <a:endParaRPr lang="en-GB" sz="3600" u="sng" dirty="0"/>
          </a:p>
        </p:txBody>
      </p:sp>
      <p:sp>
        <p:nvSpPr>
          <p:cNvPr id="3" name="Content Placeholder 2"/>
          <p:cNvSpPr>
            <a:spLocks noGrp="1"/>
          </p:cNvSpPr>
          <p:nvPr>
            <p:ph idx="1"/>
          </p:nvPr>
        </p:nvSpPr>
        <p:spPr>
          <a:xfrm>
            <a:off x="152400" y="685800"/>
            <a:ext cx="8991600" cy="6172200"/>
          </a:xfrm>
        </p:spPr>
        <p:txBody>
          <a:bodyPr>
            <a:normAutofit fontScale="62500" lnSpcReduction="20000"/>
          </a:bodyPr>
          <a:lstStyle/>
          <a:p>
            <a:pPr>
              <a:buNone/>
            </a:pPr>
            <a:r>
              <a:rPr lang="en-GB" sz="3400" dirty="0" err="1" smtClean="0">
                <a:solidFill>
                  <a:srgbClr val="FF0000"/>
                </a:solidFill>
              </a:rPr>
              <a:t>i</a:t>
            </a:r>
            <a:r>
              <a:rPr lang="en-GB" sz="3400" dirty="0" smtClean="0">
                <a:solidFill>
                  <a:srgbClr val="FF0000"/>
                </a:solidFill>
              </a:rPr>
              <a:t>/p: item is the data to be searched, root of BST</a:t>
            </a:r>
          </a:p>
          <a:p>
            <a:pPr>
              <a:buNone/>
            </a:pPr>
            <a:r>
              <a:rPr lang="en-GB" sz="3400" dirty="0" smtClean="0">
                <a:solidFill>
                  <a:srgbClr val="FF0000"/>
                </a:solidFill>
              </a:rPr>
              <a:t>o/p: if found then pointer to the node containing data item else a message.</a:t>
            </a:r>
          </a:p>
          <a:p>
            <a:pPr>
              <a:buNone/>
            </a:pPr>
            <a:r>
              <a:rPr lang="en-GB" sz="3400" dirty="0" smtClean="0">
                <a:solidFill>
                  <a:srgbClr val="FF0000"/>
                </a:solidFill>
              </a:rPr>
              <a:t>DS: linked structure of BT.</a:t>
            </a:r>
          </a:p>
          <a:p>
            <a:pPr>
              <a:buNone/>
            </a:pPr>
            <a:r>
              <a:rPr lang="en-GB" sz="3400" dirty="0" smtClean="0"/>
              <a:t>Algorithm: </a:t>
            </a:r>
            <a:r>
              <a:rPr lang="en-GB" sz="3400" dirty="0" err="1" smtClean="0"/>
              <a:t>search_bst</a:t>
            </a:r>
            <a:r>
              <a:rPr lang="en-GB" sz="3400" dirty="0" smtClean="0"/>
              <a:t>(</a:t>
            </a:r>
            <a:r>
              <a:rPr lang="en-GB" sz="3400" dirty="0" err="1" smtClean="0"/>
              <a:t>item,root</a:t>
            </a:r>
            <a:r>
              <a:rPr lang="en-GB" sz="3400" dirty="0" smtClean="0"/>
              <a:t>)</a:t>
            </a:r>
          </a:p>
          <a:p>
            <a:pPr marL="514350" indent="-514350">
              <a:buAutoNum type="arabicPeriod"/>
            </a:pPr>
            <a:r>
              <a:rPr lang="en-GB" sz="3400" dirty="0" err="1" smtClean="0"/>
              <a:t>ptr</a:t>
            </a:r>
            <a:r>
              <a:rPr lang="en-GB" sz="3400" dirty="0" smtClean="0"/>
              <a:t>=root, flag=0</a:t>
            </a:r>
          </a:p>
          <a:p>
            <a:pPr marL="514350" indent="-514350">
              <a:buAutoNum type="arabicPeriod"/>
            </a:pPr>
            <a:r>
              <a:rPr lang="en-GB" sz="3400" dirty="0" smtClean="0"/>
              <a:t>While((</a:t>
            </a:r>
            <a:r>
              <a:rPr lang="en-GB" sz="3400" dirty="0" err="1" smtClean="0"/>
              <a:t>ptr</a:t>
            </a:r>
            <a:r>
              <a:rPr lang="en-GB" sz="3400" dirty="0" smtClean="0"/>
              <a:t>!=NULL) &amp;&amp; (flag=0)) do</a:t>
            </a:r>
          </a:p>
          <a:p>
            <a:pPr marL="914400" lvl="1" indent="-514350">
              <a:buAutoNum type="arabicPeriod"/>
            </a:pPr>
            <a:r>
              <a:rPr lang="en-GB" sz="3400" dirty="0" smtClean="0"/>
              <a:t>if item&lt;</a:t>
            </a:r>
            <a:r>
              <a:rPr lang="en-GB" sz="3400" dirty="0" err="1" smtClean="0"/>
              <a:t>ptr</a:t>
            </a:r>
            <a:r>
              <a:rPr lang="en-GB" sz="3400" dirty="0" smtClean="0"/>
              <a:t>-&gt;data then</a:t>
            </a:r>
          </a:p>
          <a:p>
            <a:pPr marL="800100" lvl="2" indent="0">
              <a:buNone/>
            </a:pPr>
            <a:r>
              <a:rPr lang="en-GB" sz="3400" dirty="0" smtClean="0"/>
              <a:t>		</a:t>
            </a:r>
            <a:r>
              <a:rPr lang="en-GB" sz="3400" dirty="0" err="1" smtClean="0"/>
              <a:t>ptr</a:t>
            </a:r>
            <a:r>
              <a:rPr lang="en-GB" sz="3400" dirty="0" smtClean="0"/>
              <a:t>=</a:t>
            </a:r>
            <a:r>
              <a:rPr lang="en-GB" sz="3400" dirty="0" err="1" smtClean="0"/>
              <a:t>ptr</a:t>
            </a:r>
            <a:r>
              <a:rPr lang="en-GB" sz="3400" dirty="0" smtClean="0"/>
              <a:t>-&gt;</a:t>
            </a:r>
            <a:r>
              <a:rPr lang="en-GB" sz="3400" dirty="0" err="1" smtClean="0"/>
              <a:t>lchild</a:t>
            </a:r>
            <a:endParaRPr lang="en-GB" sz="3400" dirty="0" smtClean="0"/>
          </a:p>
          <a:p>
            <a:pPr marL="914400" lvl="1" indent="-514350">
              <a:buAutoNum type="arabicPeriod"/>
            </a:pPr>
            <a:r>
              <a:rPr lang="en-GB" sz="3400" dirty="0" smtClean="0"/>
              <a:t>else if </a:t>
            </a:r>
            <a:r>
              <a:rPr lang="en-GB" sz="3400" dirty="0" err="1" smtClean="0"/>
              <a:t>ptr</a:t>
            </a:r>
            <a:r>
              <a:rPr lang="en-GB" sz="3400" dirty="0" smtClean="0"/>
              <a:t>-&gt;data=item then</a:t>
            </a:r>
          </a:p>
          <a:p>
            <a:pPr marL="800100" lvl="2" indent="0">
              <a:buNone/>
            </a:pPr>
            <a:r>
              <a:rPr lang="en-GB" sz="3400" dirty="0" smtClean="0"/>
              <a:t>		flag=1</a:t>
            </a:r>
          </a:p>
          <a:p>
            <a:pPr marL="914400" lvl="1" indent="-514350">
              <a:buAutoNum type="arabicPeriod"/>
            </a:pPr>
            <a:r>
              <a:rPr lang="en-GB" sz="3400" dirty="0" smtClean="0"/>
              <a:t>else </a:t>
            </a:r>
          </a:p>
          <a:p>
            <a:pPr marL="800100" lvl="2" indent="0">
              <a:buNone/>
            </a:pPr>
            <a:r>
              <a:rPr lang="en-GB" sz="3400" dirty="0" smtClean="0"/>
              <a:t>		</a:t>
            </a:r>
            <a:r>
              <a:rPr lang="en-GB" sz="3400" dirty="0" err="1" smtClean="0"/>
              <a:t>ptr</a:t>
            </a:r>
            <a:r>
              <a:rPr lang="en-GB" sz="3400" dirty="0" smtClean="0"/>
              <a:t>=</a:t>
            </a:r>
            <a:r>
              <a:rPr lang="en-GB" sz="3400" dirty="0" err="1" smtClean="0"/>
              <a:t>ptr</a:t>
            </a:r>
            <a:r>
              <a:rPr lang="en-GB" sz="3400" dirty="0" smtClean="0"/>
              <a:t>-&gt;</a:t>
            </a:r>
            <a:r>
              <a:rPr lang="en-GB" sz="3400" dirty="0" err="1" smtClean="0"/>
              <a:t>rchild</a:t>
            </a:r>
            <a:endParaRPr lang="en-GB" sz="3400" dirty="0" smtClean="0"/>
          </a:p>
          <a:p>
            <a:pPr marL="514350" indent="-514350">
              <a:buAutoNum type="arabicPeriod"/>
            </a:pPr>
            <a:r>
              <a:rPr lang="en-GB" sz="3400" dirty="0" err="1" smtClean="0"/>
              <a:t>Endwhile</a:t>
            </a:r>
            <a:endParaRPr lang="en-GB" sz="3400" dirty="0" smtClean="0"/>
          </a:p>
          <a:p>
            <a:pPr marL="514350" indent="-514350">
              <a:buAutoNum type="arabicPeriod"/>
            </a:pPr>
            <a:r>
              <a:rPr lang="en-GB" sz="3400" dirty="0" smtClean="0"/>
              <a:t>if (flag=1)</a:t>
            </a:r>
          </a:p>
          <a:p>
            <a:pPr marL="400050" lvl="1" indent="0">
              <a:buNone/>
            </a:pPr>
            <a:r>
              <a:rPr lang="en-GB" sz="3400" dirty="0" smtClean="0"/>
              <a:t>	print item found </a:t>
            </a:r>
          </a:p>
          <a:p>
            <a:pPr marL="514350" indent="-514350">
              <a:buAutoNum type="arabicPeriod"/>
            </a:pPr>
            <a:r>
              <a:rPr lang="en-GB" sz="3400" dirty="0" smtClean="0"/>
              <a:t>else</a:t>
            </a:r>
          </a:p>
          <a:p>
            <a:pPr marL="400050" lvl="1" indent="0">
              <a:buNone/>
            </a:pPr>
            <a:r>
              <a:rPr lang="en-GB" sz="3400" dirty="0" smtClean="0"/>
              <a:t>	print item does not exist</a:t>
            </a:r>
          </a:p>
          <a:p>
            <a:pPr marL="514350" indent="-514350">
              <a:buAutoNum type="arabicPeriod"/>
            </a:pPr>
            <a:r>
              <a:rPr lang="en-GB" sz="3400" dirty="0" smtClean="0"/>
              <a:t>end if</a:t>
            </a:r>
          </a:p>
          <a:p>
            <a:pPr marL="514350" indent="-514350">
              <a:buAutoNum type="arabicPeriod"/>
            </a:pPr>
            <a:endParaRPr lang="en-GB"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rmAutofit fontScale="90000"/>
          </a:bodyPr>
          <a:lstStyle/>
          <a:p>
            <a:r>
              <a:rPr lang="en-GB" u="sng" dirty="0" smtClean="0"/>
              <a:t>Inserting a node into a BST</a:t>
            </a:r>
            <a:endParaRPr lang="en-GB" u="sng" dirty="0"/>
          </a:p>
        </p:txBody>
      </p:sp>
      <p:sp>
        <p:nvSpPr>
          <p:cNvPr id="3" name="Content Placeholder 2"/>
          <p:cNvSpPr>
            <a:spLocks noGrp="1"/>
          </p:cNvSpPr>
          <p:nvPr>
            <p:ph idx="1"/>
          </p:nvPr>
        </p:nvSpPr>
        <p:spPr>
          <a:xfrm>
            <a:off x="0" y="457200"/>
            <a:ext cx="9144000" cy="6629400"/>
          </a:xfrm>
        </p:spPr>
        <p:txBody>
          <a:bodyPr>
            <a:normAutofit fontScale="40000" lnSpcReduction="20000"/>
          </a:bodyPr>
          <a:lstStyle/>
          <a:p>
            <a:pPr>
              <a:buNone/>
            </a:pPr>
            <a:r>
              <a:rPr lang="en-GB" dirty="0" err="1" smtClean="0">
                <a:solidFill>
                  <a:srgbClr val="FF0000"/>
                </a:solidFill>
              </a:rPr>
              <a:t>i</a:t>
            </a:r>
            <a:r>
              <a:rPr lang="en-GB" dirty="0" smtClean="0">
                <a:solidFill>
                  <a:srgbClr val="FF0000"/>
                </a:solidFill>
              </a:rPr>
              <a:t>/p: item is the data to be inserted, root of BST     o/p: if no node having data item, it is inserted into the tree, else a message.</a:t>
            </a:r>
          </a:p>
          <a:p>
            <a:pPr>
              <a:buNone/>
            </a:pPr>
            <a:r>
              <a:rPr lang="en-GB" dirty="0" smtClean="0">
                <a:solidFill>
                  <a:srgbClr val="FF0000"/>
                </a:solidFill>
              </a:rPr>
              <a:t>DS: linked structure of BT.</a:t>
            </a:r>
          </a:p>
          <a:p>
            <a:pPr>
              <a:buNone/>
            </a:pPr>
            <a:r>
              <a:rPr lang="en-GB" sz="4000" dirty="0" smtClean="0"/>
              <a:t>Algorithm: </a:t>
            </a:r>
            <a:r>
              <a:rPr lang="en-GB" sz="4000" dirty="0" err="1" smtClean="0"/>
              <a:t>insert_bst</a:t>
            </a:r>
            <a:r>
              <a:rPr lang="en-GB" sz="4000" dirty="0" smtClean="0"/>
              <a:t>(</a:t>
            </a:r>
            <a:r>
              <a:rPr lang="en-GB" sz="4000" dirty="0" err="1" smtClean="0"/>
              <a:t>item,root</a:t>
            </a:r>
            <a:r>
              <a:rPr lang="en-GB" sz="4000" dirty="0" smtClean="0"/>
              <a:t>)</a:t>
            </a:r>
          </a:p>
          <a:p>
            <a:pPr marL="514350" indent="-514350">
              <a:buAutoNum type="arabicPeriod"/>
            </a:pPr>
            <a:r>
              <a:rPr lang="en-GB" sz="4000" dirty="0" err="1" smtClean="0"/>
              <a:t>ptr</a:t>
            </a:r>
            <a:r>
              <a:rPr lang="en-GB" sz="4000" dirty="0" smtClean="0"/>
              <a:t>=root, flag=0</a:t>
            </a:r>
          </a:p>
          <a:p>
            <a:pPr marL="514350" indent="-514350">
              <a:buAutoNum type="arabicPeriod"/>
            </a:pPr>
            <a:r>
              <a:rPr lang="en-GB" sz="4000" dirty="0" smtClean="0"/>
              <a:t>While((</a:t>
            </a:r>
            <a:r>
              <a:rPr lang="en-GB" sz="4000" dirty="0" err="1" smtClean="0"/>
              <a:t>ptr</a:t>
            </a:r>
            <a:r>
              <a:rPr lang="en-GB" sz="4000" dirty="0" smtClean="0"/>
              <a:t>!=NULL) &amp;&amp; (flag=0)) do</a:t>
            </a:r>
          </a:p>
          <a:p>
            <a:pPr marL="400050" lvl="1" indent="0">
              <a:buNone/>
            </a:pPr>
            <a:r>
              <a:rPr lang="en-GB" sz="4000" dirty="0" smtClean="0"/>
              <a:t>          2.1  If  item&lt;</a:t>
            </a:r>
            <a:r>
              <a:rPr lang="en-GB" sz="4000" dirty="0" err="1" smtClean="0"/>
              <a:t>ptr</a:t>
            </a:r>
            <a:r>
              <a:rPr lang="en-GB" sz="4000" dirty="0" smtClean="0"/>
              <a:t>-&gt;data</a:t>
            </a:r>
          </a:p>
          <a:p>
            <a:pPr marL="800100" lvl="2" indent="0">
              <a:buNone/>
            </a:pPr>
            <a:r>
              <a:rPr lang="en-GB" sz="4000" dirty="0" smtClean="0"/>
              <a:t>		ptr1=</a:t>
            </a:r>
            <a:r>
              <a:rPr lang="en-GB" sz="4000" dirty="0" err="1" smtClean="0"/>
              <a:t>ptr</a:t>
            </a:r>
            <a:endParaRPr lang="en-GB" sz="4000" dirty="0" smtClean="0"/>
          </a:p>
          <a:p>
            <a:pPr marL="800100" lvl="2" indent="0">
              <a:buNone/>
            </a:pPr>
            <a:r>
              <a:rPr lang="en-GB" sz="4000" dirty="0" smtClean="0"/>
              <a:t>		</a:t>
            </a:r>
            <a:r>
              <a:rPr lang="en-GB" sz="4000" dirty="0" err="1" smtClean="0"/>
              <a:t>ptr</a:t>
            </a:r>
            <a:r>
              <a:rPr lang="en-GB" sz="4000" dirty="0" smtClean="0"/>
              <a:t>=</a:t>
            </a:r>
            <a:r>
              <a:rPr lang="en-GB" sz="4000" dirty="0" err="1" smtClean="0"/>
              <a:t>ptr</a:t>
            </a:r>
            <a:r>
              <a:rPr lang="en-GB" sz="4000" dirty="0" smtClean="0"/>
              <a:t>-&gt;</a:t>
            </a:r>
            <a:r>
              <a:rPr lang="en-GB" sz="4000" dirty="0" err="1" smtClean="0"/>
              <a:t>lchild</a:t>
            </a:r>
            <a:endParaRPr lang="en-GB" sz="4000" dirty="0" smtClean="0"/>
          </a:p>
          <a:p>
            <a:pPr marL="800100" lvl="2" indent="0">
              <a:buNone/>
            </a:pPr>
            <a:r>
              <a:rPr lang="en-GB" sz="4000" dirty="0" smtClean="0"/>
              <a:t>  2.2 else if </a:t>
            </a:r>
            <a:r>
              <a:rPr lang="en-GB" sz="4000" dirty="0" err="1" smtClean="0"/>
              <a:t>ptr</a:t>
            </a:r>
            <a:r>
              <a:rPr lang="en-GB" sz="4000" dirty="0" smtClean="0"/>
              <a:t>-&gt;data=item</a:t>
            </a:r>
          </a:p>
          <a:p>
            <a:pPr marL="800100" lvl="2" indent="0">
              <a:buNone/>
            </a:pPr>
            <a:r>
              <a:rPr lang="en-GB" sz="4000" dirty="0" smtClean="0"/>
              <a:t>                       flag=1</a:t>
            </a:r>
          </a:p>
          <a:p>
            <a:pPr marL="800100" lvl="2" indent="0">
              <a:buNone/>
            </a:pPr>
            <a:r>
              <a:rPr lang="en-GB" sz="4000" dirty="0" smtClean="0"/>
              <a:t>                       print item already exists and exit()</a:t>
            </a:r>
          </a:p>
          <a:p>
            <a:pPr marL="400050" lvl="1" indent="0">
              <a:buNone/>
            </a:pPr>
            <a:r>
              <a:rPr lang="en-GB" sz="4000" dirty="0" smtClean="0"/>
              <a:t>          2.3    Else </a:t>
            </a:r>
          </a:p>
          <a:p>
            <a:pPr marL="800100" lvl="2" indent="0">
              <a:buNone/>
            </a:pPr>
            <a:r>
              <a:rPr lang="en-GB" sz="4000" dirty="0" smtClean="0"/>
              <a:t>                  ptr1=</a:t>
            </a:r>
            <a:r>
              <a:rPr lang="en-GB" sz="4000" dirty="0" err="1" smtClean="0"/>
              <a:t>ptr</a:t>
            </a:r>
            <a:endParaRPr lang="en-GB" sz="4000" dirty="0" smtClean="0"/>
          </a:p>
          <a:p>
            <a:pPr marL="800100" lvl="2" indent="0">
              <a:buNone/>
            </a:pPr>
            <a:r>
              <a:rPr lang="en-GB" sz="4000" dirty="0" smtClean="0"/>
              <a:t>                  </a:t>
            </a:r>
            <a:r>
              <a:rPr lang="en-GB" sz="4000" dirty="0" err="1" smtClean="0"/>
              <a:t>ptr</a:t>
            </a:r>
            <a:r>
              <a:rPr lang="en-GB" sz="4000" dirty="0" smtClean="0"/>
              <a:t>=</a:t>
            </a:r>
            <a:r>
              <a:rPr lang="en-GB" sz="4000" dirty="0" err="1" smtClean="0"/>
              <a:t>ptr</a:t>
            </a:r>
            <a:r>
              <a:rPr lang="en-GB" sz="4000" dirty="0" smtClean="0"/>
              <a:t>-&gt;</a:t>
            </a:r>
            <a:r>
              <a:rPr lang="en-GB" sz="4000" dirty="0" err="1" smtClean="0"/>
              <a:t>rchild</a:t>
            </a:r>
            <a:endParaRPr lang="en-GB" sz="4000" dirty="0" smtClean="0"/>
          </a:p>
          <a:p>
            <a:pPr marL="514350" indent="-514350">
              <a:buAutoNum type="arabicPeriod"/>
            </a:pPr>
            <a:r>
              <a:rPr lang="en-GB" sz="4000" dirty="0" err="1" smtClean="0"/>
              <a:t>Endwhile</a:t>
            </a:r>
            <a:endParaRPr lang="en-GB" sz="4000" dirty="0" smtClean="0"/>
          </a:p>
          <a:p>
            <a:pPr marL="514350" indent="-514350">
              <a:buAutoNum type="arabicPeriod"/>
            </a:pPr>
            <a:r>
              <a:rPr lang="en-GB" sz="4000" dirty="0" smtClean="0"/>
              <a:t>if (</a:t>
            </a:r>
            <a:r>
              <a:rPr lang="en-GB" sz="4000" dirty="0" err="1" smtClean="0"/>
              <a:t>ptr</a:t>
            </a:r>
            <a:r>
              <a:rPr lang="en-GB" sz="4000" dirty="0" smtClean="0"/>
              <a:t>==NULL) then</a:t>
            </a:r>
          </a:p>
          <a:p>
            <a:pPr marL="914400" lvl="1" indent="-514350">
              <a:buNone/>
            </a:pPr>
            <a:r>
              <a:rPr lang="en-GB" sz="4000" dirty="0" smtClean="0"/>
              <a:t>    1. Create new node say new</a:t>
            </a:r>
          </a:p>
          <a:p>
            <a:pPr marL="914400" lvl="1" indent="-514350">
              <a:buNone/>
            </a:pPr>
            <a:r>
              <a:rPr lang="en-GB" sz="4000" dirty="0" smtClean="0"/>
              <a:t>    2. new-&gt;data=item</a:t>
            </a:r>
          </a:p>
          <a:p>
            <a:pPr marL="914400" lvl="1" indent="-514350">
              <a:buNone/>
            </a:pPr>
            <a:r>
              <a:rPr lang="en-GB" sz="4000" dirty="0" smtClean="0"/>
              <a:t>    3. new-&gt;</a:t>
            </a:r>
            <a:r>
              <a:rPr lang="en-GB" sz="4000" dirty="0" err="1" smtClean="0"/>
              <a:t>lchild</a:t>
            </a:r>
            <a:r>
              <a:rPr lang="en-GB" sz="4000" dirty="0" smtClean="0"/>
              <a:t>=NULL</a:t>
            </a:r>
          </a:p>
          <a:p>
            <a:pPr marL="914400" lvl="1" indent="-514350">
              <a:buNone/>
            </a:pPr>
            <a:r>
              <a:rPr lang="en-GB" sz="4000" dirty="0" smtClean="0"/>
              <a:t>    4. new-&gt;</a:t>
            </a:r>
            <a:r>
              <a:rPr lang="en-GB" sz="4000" dirty="0" err="1" smtClean="0"/>
              <a:t>rchild</a:t>
            </a:r>
            <a:r>
              <a:rPr lang="en-GB" sz="4000" dirty="0" smtClean="0"/>
              <a:t>=NULL</a:t>
            </a:r>
          </a:p>
          <a:p>
            <a:pPr marL="914400" lvl="1" indent="-514350">
              <a:buNone/>
            </a:pPr>
            <a:r>
              <a:rPr lang="en-GB" sz="4000" dirty="0" smtClean="0"/>
              <a:t>    5. if(item&gt;ptr1-&gt;data)</a:t>
            </a:r>
          </a:p>
          <a:p>
            <a:pPr marL="1314450" lvl="2" indent="-514350">
              <a:buNone/>
            </a:pPr>
            <a:r>
              <a:rPr lang="en-GB" sz="4000" dirty="0" smtClean="0"/>
              <a:t>     1. ptr1-&gt;</a:t>
            </a:r>
            <a:r>
              <a:rPr lang="en-GB" sz="4000" dirty="0" err="1" smtClean="0"/>
              <a:t>rchild</a:t>
            </a:r>
            <a:r>
              <a:rPr lang="en-GB" sz="4000" dirty="0" smtClean="0"/>
              <a:t>=new</a:t>
            </a:r>
          </a:p>
          <a:p>
            <a:pPr marL="914400" lvl="1" indent="-514350">
              <a:buNone/>
            </a:pPr>
            <a:r>
              <a:rPr lang="en-GB" sz="4000" dirty="0" smtClean="0"/>
              <a:t>    6. else</a:t>
            </a:r>
          </a:p>
          <a:p>
            <a:pPr marL="1314450" lvl="2" indent="-514350">
              <a:buNone/>
            </a:pPr>
            <a:r>
              <a:rPr lang="en-GB" sz="4000" dirty="0" smtClean="0"/>
              <a:t>     1. ptr1-&gt;</a:t>
            </a:r>
            <a:r>
              <a:rPr lang="en-GB" sz="4000" dirty="0" err="1" smtClean="0"/>
              <a:t>lchild</a:t>
            </a:r>
            <a:r>
              <a:rPr lang="en-GB" sz="4000" dirty="0" smtClean="0"/>
              <a:t>=new</a:t>
            </a:r>
          </a:p>
          <a:p>
            <a:pPr marL="514350" indent="-514350">
              <a:buAutoNum type="arabicPeriod"/>
            </a:pPr>
            <a:r>
              <a:rPr lang="en-GB" sz="4000" dirty="0" smtClean="0"/>
              <a:t>End If</a:t>
            </a:r>
          </a:p>
          <a:p>
            <a:pPr marL="514350" indent="-514350">
              <a:buAutoNum type="arabicPeriod"/>
            </a:pPr>
            <a:r>
              <a:rPr lang="en-GB" sz="4000" dirty="0" smtClean="0"/>
              <a:t>Stop</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Deleting a node from a BST</a:t>
            </a:r>
            <a:endParaRPr lang="en-GB" dirty="0"/>
          </a:p>
        </p:txBody>
      </p:sp>
      <p:sp>
        <p:nvSpPr>
          <p:cNvPr id="3" name="Content Placeholder 2"/>
          <p:cNvSpPr>
            <a:spLocks noGrp="1"/>
          </p:cNvSpPr>
          <p:nvPr>
            <p:ph idx="1"/>
          </p:nvPr>
        </p:nvSpPr>
        <p:spPr/>
        <p:txBody>
          <a:bodyPr/>
          <a:lstStyle/>
          <a:p>
            <a:r>
              <a:rPr lang="en-GB" dirty="0" smtClean="0"/>
              <a:t>Three cases exist</a:t>
            </a:r>
          </a:p>
          <a:p>
            <a:pPr>
              <a:buNone/>
            </a:pPr>
            <a:r>
              <a:rPr lang="en-GB" dirty="0" smtClean="0"/>
              <a:t>Case 1: N is the leaf node.</a:t>
            </a:r>
          </a:p>
          <a:p>
            <a:pPr>
              <a:buNone/>
            </a:pPr>
            <a:r>
              <a:rPr lang="en-GB" dirty="0" smtClean="0"/>
              <a:t>Case 2: N has exactly one child.</a:t>
            </a:r>
          </a:p>
          <a:p>
            <a:pPr>
              <a:buNone/>
            </a:pPr>
            <a:r>
              <a:rPr lang="en-GB" dirty="0" smtClean="0"/>
              <a:t>Case 3: N has two </a:t>
            </a:r>
            <a:r>
              <a:rPr lang="en-GB" dirty="0" err="1" smtClean="0"/>
              <a:t>childs</a:t>
            </a:r>
            <a:r>
              <a:rPr lang="en-GB" dirty="0" smtClean="0"/>
              <a:t>.</a:t>
            </a:r>
            <a:endParaRPr lang="en-GB"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071562" y="1417638"/>
            <a:ext cx="7000875" cy="4449762"/>
          </a:xfrm>
          <a:prstGeom prst="rect">
            <a:avLst/>
          </a:prstGeom>
        </p:spPr>
      </p:pic>
    </p:spTree>
    <p:extLst>
      <p:ext uri="{BB962C8B-B14F-4D97-AF65-F5344CB8AC3E}">
        <p14:creationId xmlns:p14="http://schemas.microsoft.com/office/powerpoint/2010/main" val="4519066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685800" y="838200"/>
            <a:ext cx="8001000" cy="4949031"/>
          </a:xfrm>
          <a:prstGeom prst="rect">
            <a:avLst/>
          </a:prstGeom>
        </p:spPr>
      </p:pic>
    </p:spTree>
    <p:extLst>
      <p:ext uri="{BB962C8B-B14F-4D97-AF65-F5344CB8AC3E}">
        <p14:creationId xmlns:p14="http://schemas.microsoft.com/office/powerpoint/2010/main" val="12118996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457200" y="287148"/>
            <a:ext cx="8288724" cy="6342252"/>
          </a:xfrm>
          <a:prstGeom prst="rect">
            <a:avLst/>
          </a:prstGeom>
        </p:spPr>
      </p:pic>
    </p:spTree>
    <p:extLst>
      <p:ext uri="{BB962C8B-B14F-4D97-AF65-F5344CB8AC3E}">
        <p14:creationId xmlns:p14="http://schemas.microsoft.com/office/powerpoint/2010/main" val="6916392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stretch>
            <a:fillRect/>
          </a:stretch>
        </p:blipFill>
        <p:spPr>
          <a:xfrm>
            <a:off x="152400" y="274638"/>
            <a:ext cx="8686799" cy="6536095"/>
          </a:xfrm>
          <a:prstGeom prst="rect">
            <a:avLst/>
          </a:prstGeom>
        </p:spPr>
      </p:pic>
    </p:spTree>
    <p:extLst>
      <p:ext uri="{BB962C8B-B14F-4D97-AF65-F5344CB8AC3E}">
        <p14:creationId xmlns:p14="http://schemas.microsoft.com/office/powerpoint/2010/main" val="3565403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484438" y="89936"/>
            <a:ext cx="8202362" cy="6691863"/>
          </a:xfrm>
          <a:prstGeom prst="rect">
            <a:avLst/>
          </a:prstGeom>
        </p:spPr>
      </p:pic>
    </p:spTree>
    <p:extLst>
      <p:ext uri="{BB962C8B-B14F-4D97-AF65-F5344CB8AC3E}">
        <p14:creationId xmlns:p14="http://schemas.microsoft.com/office/powerpoint/2010/main" val="16244275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956904" y="152400"/>
            <a:ext cx="7577495" cy="6248400"/>
          </a:xfrm>
          <a:prstGeom prst="rect">
            <a:avLst/>
          </a:prstGeom>
        </p:spPr>
      </p:pic>
    </p:spTree>
    <p:extLst>
      <p:ext uri="{BB962C8B-B14F-4D97-AF65-F5344CB8AC3E}">
        <p14:creationId xmlns:p14="http://schemas.microsoft.com/office/powerpoint/2010/main" val="16422816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0"/>
            <a:ext cx="8534400" cy="6858000"/>
          </a:xfrm>
        </p:spPr>
        <p:txBody>
          <a:bodyPr>
            <a:normAutofit fontScale="70000" lnSpcReduction="20000"/>
          </a:bodyPr>
          <a:lstStyle/>
          <a:p>
            <a:pPr>
              <a:buFontTx/>
              <a:buNone/>
              <a:defRPr/>
            </a:pPr>
            <a:r>
              <a:rPr lang="en-US" sz="3400" b="1" dirty="0" smtClean="0"/>
              <a:t>Algorithm </a:t>
            </a:r>
            <a:r>
              <a:rPr lang="en-US" sz="3400" b="1" dirty="0" err="1" smtClean="0"/>
              <a:t>delete_BST</a:t>
            </a:r>
            <a:r>
              <a:rPr lang="en-US" sz="3400" b="1" dirty="0" smtClean="0"/>
              <a:t>(</a:t>
            </a:r>
            <a:r>
              <a:rPr lang="en-US" sz="3400" b="1" dirty="0" err="1" smtClean="0"/>
              <a:t>root,item</a:t>
            </a:r>
            <a:r>
              <a:rPr lang="en-US" sz="3400" b="1" dirty="0" smtClean="0"/>
              <a:t>)</a:t>
            </a:r>
          </a:p>
          <a:p>
            <a:pPr>
              <a:buFontTx/>
              <a:buNone/>
              <a:defRPr/>
            </a:pPr>
            <a:r>
              <a:rPr lang="en-US" sz="3400" dirty="0" err="1" smtClean="0">
                <a:solidFill>
                  <a:srgbClr val="FF0000"/>
                </a:solidFill>
              </a:rPr>
              <a:t>i</a:t>
            </a:r>
            <a:r>
              <a:rPr lang="en-US" sz="3400" dirty="0" smtClean="0">
                <a:solidFill>
                  <a:srgbClr val="FF0000"/>
                </a:solidFill>
              </a:rPr>
              <a:t>/p: item is the data to be deleted, root of BST</a:t>
            </a:r>
          </a:p>
          <a:p>
            <a:pPr>
              <a:buFontTx/>
              <a:buNone/>
              <a:defRPr/>
            </a:pPr>
            <a:r>
              <a:rPr lang="en-US" sz="3400" dirty="0" smtClean="0">
                <a:solidFill>
                  <a:srgbClr val="FF0000"/>
                </a:solidFill>
              </a:rPr>
              <a:t>o/p: if node with item exists it is deleted else a message</a:t>
            </a:r>
          </a:p>
          <a:p>
            <a:pPr>
              <a:buFontTx/>
              <a:buNone/>
              <a:defRPr/>
            </a:pPr>
            <a:r>
              <a:rPr lang="en-US" sz="3400" dirty="0" smtClean="0">
                <a:solidFill>
                  <a:srgbClr val="FF0000"/>
                </a:solidFill>
              </a:rPr>
              <a:t>DS: linked structure of BT</a:t>
            </a:r>
          </a:p>
          <a:p>
            <a:pPr>
              <a:buFontTx/>
              <a:buNone/>
              <a:defRPr/>
            </a:pPr>
            <a:endParaRPr lang="en-US" sz="3400" dirty="0" smtClean="0">
              <a:solidFill>
                <a:srgbClr val="FF0000"/>
              </a:solidFill>
            </a:endParaRPr>
          </a:p>
          <a:p>
            <a:pPr marL="514350" indent="-514350">
              <a:buFontTx/>
              <a:buAutoNum type="arabicPeriod"/>
              <a:defRPr/>
            </a:pPr>
            <a:r>
              <a:rPr lang="en-US" sz="2900" dirty="0" err="1" smtClean="0"/>
              <a:t>ptr</a:t>
            </a:r>
            <a:r>
              <a:rPr lang="en-US" sz="2900" dirty="0" smtClean="0"/>
              <a:t>= Root, flag=0</a:t>
            </a:r>
          </a:p>
          <a:p>
            <a:pPr marL="0" indent="0">
              <a:buNone/>
              <a:defRPr/>
            </a:pPr>
            <a:endParaRPr lang="en-US" sz="2900" dirty="0" smtClean="0"/>
          </a:p>
          <a:p>
            <a:pPr>
              <a:buFontTx/>
              <a:buNone/>
              <a:defRPr/>
            </a:pPr>
            <a:r>
              <a:rPr lang="en-US" sz="2900" dirty="0" smtClean="0"/>
              <a:t>2. While(</a:t>
            </a:r>
            <a:r>
              <a:rPr lang="en-US" sz="2900" dirty="0" err="1" smtClean="0"/>
              <a:t>ptr</a:t>
            </a:r>
            <a:r>
              <a:rPr lang="en-US" sz="2900" dirty="0" smtClean="0"/>
              <a:t>!=NULL) &amp;&amp;(flag==0)</a:t>
            </a:r>
          </a:p>
          <a:p>
            <a:pPr>
              <a:buFontTx/>
              <a:buNone/>
              <a:defRPr/>
            </a:pPr>
            <a:r>
              <a:rPr lang="en-US" sz="2900" dirty="0" smtClean="0"/>
              <a:t>         2.1. </a:t>
            </a:r>
            <a:r>
              <a:rPr lang="en-US" sz="2900" b="1" dirty="0" smtClean="0"/>
              <a:t>If item&lt;</a:t>
            </a:r>
            <a:r>
              <a:rPr lang="en-US" sz="2900" b="1" dirty="0" err="1" smtClean="0"/>
              <a:t>ptr</a:t>
            </a:r>
            <a:r>
              <a:rPr lang="en-US" sz="2900" b="1" dirty="0" smtClean="0"/>
              <a:t>-&gt;data</a:t>
            </a:r>
          </a:p>
          <a:p>
            <a:pPr>
              <a:buFontTx/>
              <a:buNone/>
              <a:defRPr/>
            </a:pPr>
            <a:r>
              <a:rPr lang="en-US" sz="2900" dirty="0" smtClean="0"/>
              <a:t>          	    1. parent=</a:t>
            </a:r>
            <a:r>
              <a:rPr lang="en-US" sz="2900" dirty="0" err="1" smtClean="0"/>
              <a:t>ptr</a:t>
            </a:r>
            <a:endParaRPr lang="en-US" sz="2900" dirty="0" smtClean="0"/>
          </a:p>
          <a:p>
            <a:pPr>
              <a:buFontTx/>
              <a:buNone/>
              <a:defRPr/>
            </a:pPr>
            <a:r>
              <a:rPr lang="en-US" sz="2900" dirty="0" smtClean="0"/>
              <a:t>          	    2. </a:t>
            </a:r>
            <a:r>
              <a:rPr lang="en-US" sz="2900" dirty="0" err="1" smtClean="0"/>
              <a:t>ptr</a:t>
            </a:r>
            <a:r>
              <a:rPr lang="en-US" sz="2900" dirty="0" smtClean="0"/>
              <a:t>=</a:t>
            </a:r>
            <a:r>
              <a:rPr lang="en-US" sz="2900" dirty="0" err="1" smtClean="0"/>
              <a:t>ptr</a:t>
            </a:r>
            <a:r>
              <a:rPr lang="en-US" sz="2900" dirty="0" smtClean="0"/>
              <a:t>-&gt;</a:t>
            </a:r>
            <a:r>
              <a:rPr lang="en-US" sz="2900" dirty="0" err="1" smtClean="0"/>
              <a:t>lchild</a:t>
            </a:r>
            <a:endParaRPr lang="en-US" sz="2900" dirty="0" smtClean="0"/>
          </a:p>
          <a:p>
            <a:pPr>
              <a:buFontTx/>
              <a:buNone/>
              <a:defRPr/>
            </a:pPr>
            <a:r>
              <a:rPr lang="en-US" sz="2900" dirty="0" smtClean="0"/>
              <a:t>         2.2. </a:t>
            </a:r>
            <a:r>
              <a:rPr lang="en-US" sz="2900" b="1" dirty="0" smtClean="0"/>
              <a:t>Else if item&gt;</a:t>
            </a:r>
            <a:r>
              <a:rPr lang="en-US" sz="2900" b="1" dirty="0" err="1" smtClean="0"/>
              <a:t>ptr</a:t>
            </a:r>
            <a:r>
              <a:rPr lang="en-US" sz="2900" b="1" dirty="0" smtClean="0"/>
              <a:t>-&gt;data</a:t>
            </a:r>
          </a:p>
          <a:p>
            <a:pPr>
              <a:buFontTx/>
              <a:buNone/>
              <a:defRPr/>
            </a:pPr>
            <a:r>
              <a:rPr lang="en-US" sz="2900" dirty="0" smtClean="0"/>
              <a:t>         	    1. parent=</a:t>
            </a:r>
            <a:r>
              <a:rPr lang="en-US" sz="2900" dirty="0" err="1" smtClean="0"/>
              <a:t>ptr</a:t>
            </a:r>
            <a:endParaRPr lang="en-US" sz="2900" dirty="0" smtClean="0"/>
          </a:p>
          <a:p>
            <a:pPr>
              <a:buFontTx/>
              <a:buNone/>
              <a:defRPr/>
            </a:pPr>
            <a:r>
              <a:rPr lang="en-US" sz="2900" dirty="0" smtClean="0"/>
              <a:t>         	    2. </a:t>
            </a:r>
            <a:r>
              <a:rPr lang="en-US" sz="2900" dirty="0" err="1" smtClean="0"/>
              <a:t>ptr</a:t>
            </a:r>
            <a:r>
              <a:rPr lang="en-US" sz="2900" dirty="0" smtClean="0"/>
              <a:t>=</a:t>
            </a:r>
            <a:r>
              <a:rPr lang="en-US" sz="2900" dirty="0" err="1" smtClean="0"/>
              <a:t>ptr</a:t>
            </a:r>
            <a:r>
              <a:rPr lang="en-US" sz="2900" dirty="0" smtClean="0"/>
              <a:t>-&gt;</a:t>
            </a:r>
            <a:r>
              <a:rPr lang="en-US" sz="2900" dirty="0" err="1" smtClean="0"/>
              <a:t>rchild</a:t>
            </a:r>
            <a:endParaRPr lang="en-US" sz="2900" dirty="0" smtClean="0"/>
          </a:p>
          <a:p>
            <a:pPr>
              <a:buFontTx/>
              <a:buNone/>
              <a:defRPr/>
            </a:pPr>
            <a:r>
              <a:rPr lang="en-US" sz="2900" dirty="0" smtClean="0"/>
              <a:t>         2.3. </a:t>
            </a:r>
            <a:r>
              <a:rPr lang="en-US" sz="2900" b="1" dirty="0" smtClean="0"/>
              <a:t>Else </a:t>
            </a:r>
          </a:p>
          <a:p>
            <a:pPr>
              <a:buFontTx/>
              <a:buNone/>
              <a:defRPr/>
            </a:pPr>
            <a:r>
              <a:rPr lang="en-US" sz="2900" dirty="0" smtClean="0"/>
              <a:t>          	   1. flag=1</a:t>
            </a:r>
          </a:p>
          <a:p>
            <a:pPr>
              <a:buFontTx/>
              <a:buNone/>
              <a:defRPr/>
            </a:pPr>
            <a:endParaRPr lang="en-US" sz="2900" dirty="0" smtClean="0"/>
          </a:p>
          <a:p>
            <a:pPr>
              <a:buNone/>
            </a:pPr>
            <a:r>
              <a:rPr lang="en-US" sz="2900" dirty="0" smtClean="0"/>
              <a:t>3. If(flag==0)</a:t>
            </a:r>
          </a:p>
          <a:p>
            <a:pPr>
              <a:buNone/>
            </a:pPr>
            <a:r>
              <a:rPr lang="en-US" sz="2900" dirty="0" smtClean="0"/>
              <a:t>      1. Print “Item does not exist”</a:t>
            </a:r>
          </a:p>
          <a:p>
            <a:pPr>
              <a:buNone/>
            </a:pPr>
            <a:r>
              <a:rPr lang="en-US" sz="2900" dirty="0" smtClean="0"/>
              <a:t>      2. Exit</a:t>
            </a:r>
          </a:p>
          <a:p>
            <a:pPr>
              <a:buNone/>
            </a:pPr>
            <a:endParaRPr lang="en-US" sz="3400" dirty="0" smtClean="0"/>
          </a:p>
          <a:p>
            <a:pPr>
              <a:buFontTx/>
              <a:buNone/>
              <a:defRPr/>
            </a:pPr>
            <a:endParaRPr lang="en-US" dirty="0" smtClean="0"/>
          </a:p>
          <a:p>
            <a:pPr>
              <a:buNone/>
            </a:pPr>
            <a:endParaRPr lang="en-GB"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0"/>
            <a:ext cx="8534400" cy="6858000"/>
          </a:xfrm>
        </p:spPr>
        <p:txBody>
          <a:bodyPr>
            <a:noAutofit/>
          </a:bodyPr>
          <a:lstStyle/>
          <a:p>
            <a:pPr>
              <a:buNone/>
            </a:pPr>
            <a:endParaRPr lang="en-US" sz="2200" dirty="0" smtClean="0"/>
          </a:p>
          <a:p>
            <a:pPr>
              <a:buNone/>
            </a:pPr>
            <a:r>
              <a:rPr lang="en-US" sz="2200" dirty="0" smtClean="0"/>
              <a:t>4. If((</a:t>
            </a:r>
            <a:r>
              <a:rPr lang="en-US" sz="2200" dirty="0" err="1" smtClean="0"/>
              <a:t>ptr</a:t>
            </a:r>
            <a:r>
              <a:rPr lang="en-US" sz="2200" dirty="0" smtClean="0"/>
              <a:t>-&gt;</a:t>
            </a:r>
            <a:r>
              <a:rPr lang="en-US" sz="2200" dirty="0" err="1" smtClean="0"/>
              <a:t>lchild</a:t>
            </a:r>
            <a:r>
              <a:rPr lang="en-US" sz="2200" dirty="0" smtClean="0"/>
              <a:t>==NULL) &amp;&amp;(</a:t>
            </a:r>
            <a:r>
              <a:rPr lang="en-US" sz="2200" dirty="0" err="1" smtClean="0"/>
              <a:t>ptr</a:t>
            </a:r>
            <a:r>
              <a:rPr lang="en-US" sz="2200" dirty="0" smtClean="0"/>
              <a:t>-&gt;</a:t>
            </a:r>
            <a:r>
              <a:rPr lang="en-US" sz="2200" dirty="0" err="1" smtClean="0"/>
              <a:t>rchild</a:t>
            </a:r>
            <a:r>
              <a:rPr lang="en-US" sz="2200" dirty="0" smtClean="0"/>
              <a:t>==NULL))</a:t>
            </a:r>
          </a:p>
          <a:p>
            <a:pPr>
              <a:buNone/>
            </a:pPr>
            <a:r>
              <a:rPr lang="en-US" sz="2200" dirty="0" smtClean="0"/>
              <a:t>     		 case=1</a:t>
            </a:r>
          </a:p>
          <a:p>
            <a:pPr>
              <a:buNone/>
            </a:pPr>
            <a:r>
              <a:rPr lang="en-US" sz="2200" dirty="0"/>
              <a:t>5</a:t>
            </a:r>
            <a:r>
              <a:rPr lang="en-US" sz="2200" dirty="0" smtClean="0"/>
              <a:t>. else if(</a:t>
            </a:r>
            <a:r>
              <a:rPr lang="en-US" sz="2200" dirty="0" err="1" smtClean="0"/>
              <a:t>ptr</a:t>
            </a:r>
            <a:r>
              <a:rPr lang="en-US" sz="2200" dirty="0" smtClean="0"/>
              <a:t>-&gt;</a:t>
            </a:r>
            <a:r>
              <a:rPr lang="en-US" sz="2200" dirty="0" err="1" smtClean="0"/>
              <a:t>lchild</a:t>
            </a:r>
            <a:r>
              <a:rPr lang="en-US" sz="2200" dirty="0" smtClean="0"/>
              <a:t>==NULL) ||(</a:t>
            </a:r>
            <a:r>
              <a:rPr lang="en-US" sz="2200" dirty="0" err="1" smtClean="0"/>
              <a:t>ptr</a:t>
            </a:r>
            <a:r>
              <a:rPr lang="en-US" sz="2200" dirty="0" smtClean="0"/>
              <a:t>-&gt;</a:t>
            </a:r>
            <a:r>
              <a:rPr lang="en-US" sz="2200" dirty="0" err="1" smtClean="0"/>
              <a:t>rchild</a:t>
            </a:r>
            <a:r>
              <a:rPr lang="en-US" sz="2200" dirty="0" smtClean="0"/>
              <a:t>==NULL)</a:t>
            </a:r>
          </a:p>
          <a:p>
            <a:pPr>
              <a:buNone/>
            </a:pPr>
            <a:r>
              <a:rPr lang="en-US" sz="2200" dirty="0" smtClean="0"/>
              <a:t>           </a:t>
            </a:r>
            <a:r>
              <a:rPr lang="en-US" sz="2200" dirty="0"/>
              <a:t>	</a:t>
            </a:r>
            <a:r>
              <a:rPr lang="en-US" sz="2200" dirty="0" smtClean="0"/>
              <a:t> case=2</a:t>
            </a:r>
          </a:p>
          <a:p>
            <a:pPr>
              <a:buNone/>
            </a:pPr>
            <a:r>
              <a:rPr lang="en-US" sz="2200" dirty="0"/>
              <a:t>6</a:t>
            </a:r>
            <a:r>
              <a:rPr lang="en-US" sz="2200" dirty="0" smtClean="0"/>
              <a:t>. </a:t>
            </a:r>
            <a:r>
              <a:rPr lang="en-US" sz="2200" dirty="0"/>
              <a:t>e</a:t>
            </a:r>
            <a:r>
              <a:rPr lang="en-US" sz="2200" dirty="0" smtClean="0"/>
              <a:t>lse</a:t>
            </a:r>
          </a:p>
          <a:p>
            <a:pPr>
              <a:buNone/>
            </a:pPr>
            <a:r>
              <a:rPr lang="en-US" sz="2200" dirty="0" smtClean="0"/>
              <a:t>                case=3 </a:t>
            </a:r>
          </a:p>
          <a:p>
            <a:pPr>
              <a:buNone/>
            </a:pPr>
            <a:endParaRPr lang="en-US" sz="2200" dirty="0" smtClean="0"/>
          </a:p>
          <a:p>
            <a:pPr>
              <a:buFontTx/>
              <a:buNone/>
            </a:pPr>
            <a:r>
              <a:rPr lang="en-US" sz="2200" dirty="0"/>
              <a:t>7</a:t>
            </a:r>
            <a:r>
              <a:rPr lang="en-US" sz="2200" dirty="0" smtClean="0"/>
              <a:t>. if(case==1)</a:t>
            </a:r>
          </a:p>
          <a:p>
            <a:pPr>
              <a:buFontTx/>
              <a:buNone/>
            </a:pPr>
            <a:r>
              <a:rPr lang="en-US" sz="2200" dirty="0" smtClean="0"/>
              <a:t>      	</a:t>
            </a:r>
            <a:r>
              <a:rPr lang="en-US" sz="2200" dirty="0" smtClean="0"/>
              <a:t>7.1</a:t>
            </a:r>
            <a:r>
              <a:rPr lang="en-US" sz="2200" dirty="0" smtClean="0"/>
              <a:t>. if(parent-&gt;</a:t>
            </a:r>
            <a:r>
              <a:rPr lang="en-US" sz="2200" dirty="0" err="1" smtClean="0"/>
              <a:t>lchild</a:t>
            </a:r>
            <a:r>
              <a:rPr lang="en-US" sz="2200" dirty="0" smtClean="0"/>
              <a:t>=</a:t>
            </a:r>
            <a:r>
              <a:rPr lang="en-US" sz="2200" dirty="0" err="1" smtClean="0"/>
              <a:t>ptr</a:t>
            </a:r>
            <a:r>
              <a:rPr lang="en-US" sz="2200" dirty="0" smtClean="0"/>
              <a:t>) </a:t>
            </a:r>
          </a:p>
          <a:p>
            <a:pPr>
              <a:buFontTx/>
              <a:buNone/>
            </a:pPr>
            <a:r>
              <a:rPr lang="en-US" sz="2200" dirty="0" smtClean="0"/>
              <a:t>         		  parent-&gt;</a:t>
            </a:r>
            <a:r>
              <a:rPr lang="en-US" sz="2200" dirty="0" err="1" smtClean="0"/>
              <a:t>lchild</a:t>
            </a:r>
            <a:r>
              <a:rPr lang="en-US" sz="2200" dirty="0" smtClean="0"/>
              <a:t>=NULL</a:t>
            </a:r>
          </a:p>
          <a:p>
            <a:pPr>
              <a:buFontTx/>
              <a:buNone/>
            </a:pPr>
            <a:r>
              <a:rPr lang="en-US" sz="2200" dirty="0" smtClean="0"/>
              <a:t>     		</a:t>
            </a:r>
            <a:r>
              <a:rPr lang="en-US" sz="2200" dirty="0" smtClean="0"/>
              <a:t>7.2</a:t>
            </a:r>
            <a:r>
              <a:rPr lang="en-US" sz="2200" dirty="0" smtClean="0"/>
              <a:t>. Else</a:t>
            </a:r>
          </a:p>
          <a:p>
            <a:pPr>
              <a:buFontTx/>
              <a:buNone/>
            </a:pPr>
            <a:r>
              <a:rPr lang="en-US" sz="2200" dirty="0" smtClean="0"/>
              <a:t>           		parent-&gt;</a:t>
            </a:r>
            <a:r>
              <a:rPr lang="en-US" sz="2200" dirty="0" err="1" smtClean="0"/>
              <a:t>rchild</a:t>
            </a:r>
            <a:r>
              <a:rPr lang="en-US" sz="2200" dirty="0" smtClean="0"/>
              <a:t>=NULL</a:t>
            </a:r>
          </a:p>
          <a:p>
            <a:pPr>
              <a:buFontTx/>
              <a:buNone/>
            </a:pPr>
            <a:r>
              <a:rPr lang="en-US" sz="2200" dirty="0" smtClean="0"/>
              <a:t>      	</a:t>
            </a:r>
          </a:p>
          <a:p>
            <a:pPr>
              <a:buNone/>
            </a:pPr>
            <a:endParaRPr lang="en-US" sz="2200" dirty="0" smtClean="0"/>
          </a:p>
          <a:p>
            <a:pPr>
              <a:buNone/>
            </a:pPr>
            <a:endParaRPr lang="en-US" sz="2200" dirty="0" smtClean="0"/>
          </a:p>
          <a:p>
            <a:pPr>
              <a:buFontTx/>
              <a:buNone/>
            </a:pPr>
            <a:endParaRPr lang="en-US" sz="2200" dirty="0" smtClean="0"/>
          </a:p>
          <a:p>
            <a:pPr>
              <a:buNone/>
            </a:pPr>
            <a:endParaRPr lang="en-GB" sz="2200"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0"/>
            <a:ext cx="9067800" cy="6858000"/>
          </a:xfrm>
        </p:spPr>
        <p:txBody>
          <a:bodyPr>
            <a:normAutofit/>
          </a:bodyPr>
          <a:lstStyle/>
          <a:p>
            <a:pPr>
              <a:buNone/>
            </a:pPr>
            <a:r>
              <a:rPr lang="en-US" sz="2000" dirty="0"/>
              <a:t>8</a:t>
            </a:r>
            <a:r>
              <a:rPr lang="en-US" sz="2000" dirty="0" smtClean="0"/>
              <a:t>. Else If(case==2)</a:t>
            </a:r>
          </a:p>
          <a:p>
            <a:pPr>
              <a:buNone/>
            </a:pPr>
            <a:r>
              <a:rPr lang="en-US" sz="2000" dirty="0" smtClean="0"/>
              <a:t>    	     8.1. If(parent-&gt;</a:t>
            </a:r>
            <a:r>
              <a:rPr lang="en-US" sz="2000" dirty="0" err="1" smtClean="0"/>
              <a:t>lchild</a:t>
            </a:r>
            <a:r>
              <a:rPr lang="en-US" sz="2000" dirty="0" smtClean="0"/>
              <a:t>=</a:t>
            </a:r>
            <a:r>
              <a:rPr lang="en-US" sz="2000" dirty="0" err="1" smtClean="0"/>
              <a:t>ptr</a:t>
            </a:r>
            <a:r>
              <a:rPr lang="en-US" sz="2000" dirty="0" smtClean="0"/>
              <a:t>)</a:t>
            </a:r>
          </a:p>
          <a:p>
            <a:pPr>
              <a:buNone/>
            </a:pPr>
            <a:r>
              <a:rPr lang="en-US" sz="2000" dirty="0" smtClean="0"/>
              <a:t>           	    1. If(</a:t>
            </a:r>
            <a:r>
              <a:rPr lang="en-US" sz="2000" dirty="0" err="1" smtClean="0"/>
              <a:t>ptr</a:t>
            </a:r>
            <a:r>
              <a:rPr lang="en-US" sz="2000" dirty="0" smtClean="0"/>
              <a:t>-&gt;</a:t>
            </a:r>
            <a:r>
              <a:rPr lang="en-US" sz="2000" dirty="0" err="1" smtClean="0"/>
              <a:t>lchild</a:t>
            </a:r>
            <a:r>
              <a:rPr lang="en-US" sz="2000" dirty="0" smtClean="0"/>
              <a:t>==NULL)</a:t>
            </a:r>
          </a:p>
          <a:p>
            <a:pPr>
              <a:buNone/>
            </a:pPr>
            <a:r>
              <a:rPr lang="en-US" sz="2000" dirty="0" smtClean="0"/>
              <a:t>                		   1. parent-&gt;</a:t>
            </a:r>
            <a:r>
              <a:rPr lang="en-US" sz="2000" dirty="0" err="1" smtClean="0"/>
              <a:t>lchild</a:t>
            </a:r>
            <a:r>
              <a:rPr lang="en-US" sz="2000" dirty="0" smtClean="0"/>
              <a:t>=</a:t>
            </a:r>
            <a:r>
              <a:rPr lang="en-US" sz="2000" dirty="0" err="1" smtClean="0"/>
              <a:t>ptr</a:t>
            </a:r>
            <a:r>
              <a:rPr lang="en-US" sz="2000" dirty="0" smtClean="0"/>
              <a:t>-&gt;</a:t>
            </a:r>
            <a:r>
              <a:rPr lang="en-US" sz="2000" dirty="0" err="1" smtClean="0"/>
              <a:t>rchild</a:t>
            </a:r>
            <a:endParaRPr lang="en-US" sz="2000" dirty="0" smtClean="0"/>
          </a:p>
          <a:p>
            <a:pPr>
              <a:buNone/>
            </a:pPr>
            <a:r>
              <a:rPr lang="en-US" sz="2000" dirty="0" smtClean="0"/>
              <a:t>             	    2. Else</a:t>
            </a:r>
          </a:p>
          <a:p>
            <a:pPr>
              <a:buNone/>
            </a:pPr>
            <a:r>
              <a:rPr lang="en-US" sz="2000" dirty="0" smtClean="0"/>
              <a:t>                 		  1. parent-&gt;</a:t>
            </a:r>
            <a:r>
              <a:rPr lang="en-US" sz="2000" dirty="0" err="1" smtClean="0"/>
              <a:t>lchild</a:t>
            </a:r>
            <a:r>
              <a:rPr lang="en-US" sz="2000" dirty="0" smtClean="0"/>
              <a:t>=</a:t>
            </a:r>
            <a:r>
              <a:rPr lang="en-US" sz="2000" dirty="0" err="1" smtClean="0"/>
              <a:t>ptr</a:t>
            </a:r>
            <a:r>
              <a:rPr lang="en-US" sz="2000" dirty="0" smtClean="0"/>
              <a:t>-&gt;</a:t>
            </a:r>
            <a:r>
              <a:rPr lang="en-US" sz="2000" dirty="0" err="1" smtClean="0"/>
              <a:t>lchild</a:t>
            </a:r>
            <a:endParaRPr lang="en-US" sz="2000" dirty="0" smtClean="0"/>
          </a:p>
          <a:p>
            <a:pPr>
              <a:buNone/>
            </a:pPr>
            <a:r>
              <a:rPr lang="en-US" sz="2000" dirty="0" smtClean="0"/>
              <a:t>                       </a:t>
            </a:r>
          </a:p>
          <a:p>
            <a:pPr>
              <a:buNone/>
            </a:pPr>
            <a:r>
              <a:rPr lang="en-US" sz="2000" dirty="0" smtClean="0"/>
              <a:t>           8.2. Else If(parent-&gt;</a:t>
            </a:r>
            <a:r>
              <a:rPr lang="en-US" sz="2000" dirty="0" err="1" smtClean="0"/>
              <a:t>rchild</a:t>
            </a:r>
            <a:r>
              <a:rPr lang="en-US" sz="2000" dirty="0" smtClean="0"/>
              <a:t>=</a:t>
            </a:r>
            <a:r>
              <a:rPr lang="en-US" sz="2000" dirty="0" err="1" smtClean="0"/>
              <a:t>ptr</a:t>
            </a:r>
            <a:r>
              <a:rPr lang="en-US" sz="2000" dirty="0" smtClean="0"/>
              <a:t>)</a:t>
            </a:r>
          </a:p>
          <a:p>
            <a:pPr>
              <a:buNone/>
            </a:pPr>
            <a:r>
              <a:rPr lang="en-US" sz="2000" dirty="0" smtClean="0"/>
              <a:t>                       1. If(</a:t>
            </a:r>
            <a:r>
              <a:rPr lang="en-US" sz="2000" dirty="0" err="1" smtClean="0"/>
              <a:t>ptr</a:t>
            </a:r>
            <a:r>
              <a:rPr lang="en-US" sz="2000" dirty="0" smtClean="0"/>
              <a:t>-&gt;</a:t>
            </a:r>
            <a:r>
              <a:rPr lang="en-US" sz="2000" dirty="0" err="1" smtClean="0"/>
              <a:t>lchild</a:t>
            </a:r>
            <a:r>
              <a:rPr lang="en-US" sz="2000" dirty="0" smtClean="0"/>
              <a:t>=NULL)</a:t>
            </a:r>
          </a:p>
          <a:p>
            <a:pPr>
              <a:buNone/>
            </a:pPr>
            <a:r>
              <a:rPr lang="en-US" sz="2000" dirty="0" smtClean="0"/>
              <a:t>                           	 1. parent-&gt;</a:t>
            </a:r>
            <a:r>
              <a:rPr lang="en-US" sz="2000" dirty="0" err="1" smtClean="0"/>
              <a:t>rchild</a:t>
            </a:r>
            <a:r>
              <a:rPr lang="en-US" sz="2000" dirty="0" smtClean="0"/>
              <a:t>=</a:t>
            </a:r>
            <a:r>
              <a:rPr lang="en-US" sz="2000" dirty="0" err="1" smtClean="0"/>
              <a:t>ptr</a:t>
            </a:r>
            <a:r>
              <a:rPr lang="en-US" sz="2000" dirty="0" smtClean="0"/>
              <a:t>-&gt;</a:t>
            </a:r>
            <a:r>
              <a:rPr lang="en-US" sz="2000" dirty="0" err="1" smtClean="0"/>
              <a:t>rchild</a:t>
            </a:r>
            <a:endParaRPr lang="en-US" sz="2000" dirty="0" smtClean="0"/>
          </a:p>
          <a:p>
            <a:pPr>
              <a:buNone/>
            </a:pPr>
            <a:r>
              <a:rPr lang="en-US" sz="2000" dirty="0" smtClean="0"/>
              <a:t>                       2. Else</a:t>
            </a:r>
          </a:p>
          <a:p>
            <a:pPr>
              <a:buNone/>
            </a:pPr>
            <a:r>
              <a:rPr lang="en-US" sz="2000" dirty="0" smtClean="0"/>
              <a:t>                            	2. parent-&gt;</a:t>
            </a:r>
            <a:r>
              <a:rPr lang="en-US" sz="2000" dirty="0" err="1" smtClean="0"/>
              <a:t>rchild</a:t>
            </a:r>
            <a:r>
              <a:rPr lang="en-US" sz="2000" dirty="0" smtClean="0"/>
              <a:t>=</a:t>
            </a:r>
            <a:r>
              <a:rPr lang="en-US" sz="2000" dirty="0" err="1" smtClean="0"/>
              <a:t>ptr</a:t>
            </a:r>
            <a:r>
              <a:rPr lang="en-US" sz="2000" dirty="0" smtClean="0"/>
              <a:t>-&gt;</a:t>
            </a:r>
            <a:r>
              <a:rPr lang="en-US" sz="2000" dirty="0" err="1" smtClean="0"/>
              <a:t>lchild</a:t>
            </a:r>
            <a:endParaRPr lang="en-US" sz="2000" dirty="0" smtClean="0"/>
          </a:p>
          <a:p>
            <a:pPr>
              <a:buNone/>
            </a:pPr>
            <a:r>
              <a:rPr lang="en-US" sz="2000" dirty="0" smtClean="0"/>
              <a:t>                       </a:t>
            </a:r>
          </a:p>
          <a:p>
            <a:pPr>
              <a:buNone/>
            </a:pPr>
            <a:r>
              <a:rPr lang="en-US" sz="2000" dirty="0" smtClean="0"/>
              <a:t>9. Else </a:t>
            </a:r>
          </a:p>
          <a:p>
            <a:pPr>
              <a:buNone/>
            </a:pPr>
            <a:r>
              <a:rPr lang="en-US" sz="2000" dirty="0"/>
              <a:t> </a:t>
            </a:r>
            <a:r>
              <a:rPr lang="en-US" sz="2000" dirty="0" smtClean="0"/>
              <a:t>          9.1. ptr1=</a:t>
            </a:r>
            <a:r>
              <a:rPr lang="en-US" sz="2000" dirty="0" err="1" smtClean="0"/>
              <a:t>inorder_succ</a:t>
            </a:r>
            <a:r>
              <a:rPr lang="en-US" sz="2000" dirty="0" smtClean="0"/>
              <a:t>(</a:t>
            </a:r>
            <a:r>
              <a:rPr lang="en-US" sz="2000" dirty="0" err="1" smtClean="0"/>
              <a:t>ptr</a:t>
            </a:r>
            <a:r>
              <a:rPr lang="en-US" sz="2000" dirty="0" smtClean="0"/>
              <a:t>)</a:t>
            </a:r>
          </a:p>
          <a:p>
            <a:pPr>
              <a:buNone/>
            </a:pPr>
            <a:r>
              <a:rPr lang="en-US" sz="2000" dirty="0" smtClean="0"/>
              <a:t>           9.2. item1=ptr1-&gt;data</a:t>
            </a:r>
          </a:p>
          <a:p>
            <a:pPr>
              <a:buNone/>
            </a:pPr>
            <a:r>
              <a:rPr lang="en-US" sz="2000" dirty="0" smtClean="0"/>
              <a:t>           9.3. </a:t>
            </a:r>
            <a:r>
              <a:rPr lang="en-US" sz="2000" dirty="0" err="1" smtClean="0"/>
              <a:t>delete_BST</a:t>
            </a:r>
            <a:r>
              <a:rPr lang="en-US" sz="2000" dirty="0" smtClean="0"/>
              <a:t>(root,item1)</a:t>
            </a:r>
          </a:p>
          <a:p>
            <a:pPr>
              <a:buNone/>
            </a:pPr>
            <a:r>
              <a:rPr lang="en-US" sz="2000" dirty="0" smtClean="0"/>
              <a:t>           9.4. </a:t>
            </a:r>
            <a:r>
              <a:rPr lang="en-US" sz="2000" dirty="0" err="1" smtClean="0"/>
              <a:t>ptr</a:t>
            </a:r>
            <a:r>
              <a:rPr lang="en-US" sz="2000" dirty="0" smtClean="0"/>
              <a:t>-&gt;data=item1</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dirty="0" err="1" smtClean="0"/>
              <a:t>struct</a:t>
            </a:r>
            <a:r>
              <a:rPr lang="en-US" dirty="0" smtClean="0"/>
              <a:t> tree *</a:t>
            </a:r>
            <a:r>
              <a:rPr lang="en-US" dirty="0" err="1" smtClean="0"/>
              <a:t>inorder_succ</a:t>
            </a:r>
            <a:r>
              <a:rPr lang="en-US" dirty="0" smtClean="0"/>
              <a:t>(</a:t>
            </a:r>
            <a:r>
              <a:rPr lang="en-US" dirty="0" err="1" smtClean="0"/>
              <a:t>struct</a:t>
            </a:r>
            <a:r>
              <a:rPr lang="en-US" dirty="0" smtClean="0"/>
              <a:t> tree *ptr2)</a:t>
            </a:r>
          </a:p>
          <a:p>
            <a:pPr>
              <a:buNone/>
            </a:pPr>
            <a:r>
              <a:rPr lang="en-US" dirty="0" smtClean="0"/>
              <a:t> 1. ptr2=ptr2-&gt;</a:t>
            </a:r>
            <a:r>
              <a:rPr lang="en-US" dirty="0" err="1" smtClean="0"/>
              <a:t>rc</a:t>
            </a:r>
            <a:r>
              <a:rPr lang="en-US" dirty="0" smtClean="0"/>
              <a:t>;</a:t>
            </a:r>
          </a:p>
          <a:p>
            <a:pPr>
              <a:buNone/>
            </a:pPr>
            <a:r>
              <a:rPr lang="en-US" dirty="0" smtClean="0"/>
              <a:t> 2. while(ptr2-&gt;</a:t>
            </a:r>
            <a:r>
              <a:rPr lang="en-US" dirty="0" err="1" smtClean="0"/>
              <a:t>lc</a:t>
            </a:r>
            <a:r>
              <a:rPr lang="en-US" dirty="0" smtClean="0"/>
              <a:t>!=NULL)</a:t>
            </a:r>
          </a:p>
          <a:p>
            <a:pPr>
              <a:buNone/>
            </a:pPr>
            <a:r>
              <a:rPr lang="en-US" dirty="0" smtClean="0"/>
              <a:t>		2.1 </a:t>
            </a:r>
            <a:r>
              <a:rPr lang="en-US" dirty="0"/>
              <a:t> </a:t>
            </a:r>
            <a:r>
              <a:rPr lang="en-US" dirty="0" smtClean="0"/>
              <a:t> ptr2=ptr2-&gt;</a:t>
            </a:r>
            <a:r>
              <a:rPr lang="en-US" dirty="0" err="1" smtClean="0"/>
              <a:t>lc</a:t>
            </a:r>
            <a:r>
              <a:rPr lang="en-US" dirty="0" smtClean="0"/>
              <a:t>;</a:t>
            </a:r>
          </a:p>
          <a:p>
            <a:pPr>
              <a:buNone/>
            </a:pPr>
            <a:r>
              <a:rPr lang="en-US" dirty="0" smtClean="0"/>
              <a:t> 3. return(ptr2);</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Applications of BST</a:t>
            </a:r>
            <a:endParaRPr lang="en-GB" dirty="0"/>
          </a:p>
        </p:txBody>
      </p:sp>
      <p:sp>
        <p:nvSpPr>
          <p:cNvPr id="3" name="Content Placeholder 2"/>
          <p:cNvSpPr>
            <a:spLocks noGrp="1"/>
          </p:cNvSpPr>
          <p:nvPr>
            <p:ph idx="1"/>
          </p:nvPr>
        </p:nvSpPr>
        <p:spPr>
          <a:xfrm>
            <a:off x="0" y="1600200"/>
            <a:ext cx="9144000" cy="4525963"/>
          </a:xfrm>
        </p:spPr>
        <p:txBody>
          <a:bodyPr/>
          <a:lstStyle/>
          <a:p>
            <a:r>
              <a:rPr lang="en-GB" dirty="0" smtClean="0"/>
              <a:t>Searching for an element.</a:t>
            </a:r>
          </a:p>
          <a:p>
            <a:r>
              <a:rPr lang="en-GB" dirty="0" smtClean="0"/>
              <a:t>Sorting a set of data.</a:t>
            </a:r>
          </a:p>
          <a:p>
            <a:r>
              <a:rPr lang="en-GB" dirty="0" smtClean="0"/>
              <a:t>Remove Duplicates</a:t>
            </a:r>
          </a:p>
          <a:p>
            <a:r>
              <a:rPr lang="en-GB" dirty="0" smtClean="0"/>
              <a:t>Used to define other Data structures such as B tree</a:t>
            </a:r>
            <a:endParaRPr lang="en-GB"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3842</TotalTime>
  <Words>2861</Words>
  <Application>Microsoft Office PowerPoint</Application>
  <PresentationFormat>On-screen Show (4:3)</PresentationFormat>
  <Paragraphs>584</Paragraphs>
  <Slides>68</Slides>
  <Notes>2</Notes>
  <HiddenSlides>0</HiddenSlides>
  <MMClips>0</MMClips>
  <ScaleCrop>false</ScaleCrop>
  <HeadingPairs>
    <vt:vector size="4" baseType="variant">
      <vt:variant>
        <vt:lpstr>Theme</vt:lpstr>
      </vt:variant>
      <vt:variant>
        <vt:i4>1</vt:i4>
      </vt:variant>
      <vt:variant>
        <vt:lpstr>Slide Titles</vt:lpstr>
      </vt:variant>
      <vt:variant>
        <vt:i4>68</vt:i4>
      </vt:variant>
    </vt:vector>
  </HeadingPairs>
  <TitlesOfParts>
    <vt:vector size="69" baseType="lpstr">
      <vt:lpstr>Office Theme</vt:lpstr>
      <vt:lpstr>Trees </vt:lpstr>
      <vt:lpstr>PowerPoint Presentation</vt:lpstr>
      <vt:lpstr>PowerPoint Presentation</vt:lpstr>
      <vt:lpstr>PowerPoint Presentation</vt:lpstr>
      <vt:lpstr>PowerPoint Presentation</vt:lpstr>
      <vt:lpstr>Basic Terminologies</vt:lpstr>
      <vt:lpstr>PowerPoint Presentation</vt:lpstr>
      <vt:lpstr>PowerPoint Presentation</vt:lpstr>
      <vt:lpstr>PowerPoint Presentation</vt:lpstr>
      <vt:lpstr>PowerPoint Presentation</vt:lpstr>
      <vt:lpstr>Tree Definition</vt:lpstr>
      <vt:lpstr>PowerPoint Presentation</vt:lpstr>
      <vt:lpstr>k-ary or m-ary Tree</vt:lpstr>
      <vt:lpstr>Binary Trees- Definition</vt:lpstr>
      <vt:lpstr>Full Binary Tree</vt:lpstr>
      <vt:lpstr>Complete BT</vt:lpstr>
      <vt:lpstr>PowerPoint Presentation</vt:lpstr>
      <vt:lpstr>Skewed BT </vt:lpstr>
      <vt:lpstr>PowerPoint Presentation</vt:lpstr>
      <vt:lpstr>Representation of a binary tree</vt:lpstr>
      <vt:lpstr>PowerPoint Presentation</vt:lpstr>
      <vt:lpstr>PowerPoint Presentation</vt:lpstr>
      <vt:lpstr>PowerPoint Presentation</vt:lpstr>
      <vt:lpstr>PowerPoint Presentation</vt:lpstr>
      <vt:lpstr>PowerPoint Presentation</vt:lpstr>
      <vt:lpstr>PowerPoint Presentation</vt:lpstr>
      <vt:lpstr>TUTORIAL 7</vt:lpstr>
      <vt:lpstr>Implementation of BT using Array </vt:lpstr>
      <vt:lpstr>Binary Tree Operations using Array Representation</vt:lpstr>
      <vt:lpstr>Insertion To BT using Array (or Insertion to sequential representation of BT)</vt:lpstr>
      <vt:lpstr>Search Operation in array repr</vt:lpstr>
      <vt:lpstr>Deletion in array/sequential representation of BT</vt:lpstr>
      <vt:lpstr>PowerPoint Presentation</vt:lpstr>
      <vt:lpstr>PowerPoint Presentation</vt:lpstr>
      <vt:lpstr>Creation of Linked BT</vt:lpstr>
      <vt:lpstr>Operations on a BT</vt:lpstr>
      <vt:lpstr>Tree traversals</vt:lpstr>
      <vt:lpstr>PowerPoint Presentation</vt:lpstr>
      <vt:lpstr>PowerPoint Presentation</vt:lpstr>
      <vt:lpstr>Preorder traversal</vt:lpstr>
      <vt:lpstr>Inorder traversal</vt:lpstr>
      <vt:lpstr>Postorder traversal</vt:lpstr>
      <vt:lpstr>Other traversals</vt:lpstr>
      <vt:lpstr>PowerPoint Presentation</vt:lpstr>
      <vt:lpstr>Search Operation</vt:lpstr>
      <vt:lpstr>Delete a node(leaf)</vt:lpstr>
      <vt:lpstr>Search parent</vt:lpstr>
      <vt:lpstr>Merge Operation</vt:lpstr>
      <vt:lpstr>PowerPoint Presentation</vt:lpstr>
      <vt:lpstr>Height of BT</vt:lpstr>
      <vt:lpstr>Application of BT</vt:lpstr>
      <vt:lpstr>BINARY SEARCH TREE</vt:lpstr>
      <vt:lpstr>Operations on a BST</vt:lpstr>
      <vt:lpstr>Traversals on BST</vt:lpstr>
      <vt:lpstr>Searching a BST</vt:lpstr>
      <vt:lpstr>Inserting a node into a BST</vt:lpstr>
      <vt:lpstr>Deleting a node from a BST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Applications of BST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Cinita</dc:creator>
  <cp:lastModifiedBy>Ms. Cinita Mary Mathew</cp:lastModifiedBy>
  <cp:revision>155</cp:revision>
  <dcterms:created xsi:type="dcterms:W3CDTF">2016-09-18T03:38:06Z</dcterms:created>
  <dcterms:modified xsi:type="dcterms:W3CDTF">2023-11-28T05:03:33Z</dcterms:modified>
</cp:coreProperties>
</file>