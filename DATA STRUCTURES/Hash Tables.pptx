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1"/>
  </p:handoutMasterIdLst>
  <p:sldIdLst>
    <p:sldId id="324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276" r:id="rId19"/>
    <p:sldId id="277" r:id="rId20"/>
    <p:sldId id="281" r:id="rId21"/>
    <p:sldId id="282" r:id="rId22"/>
    <p:sldId id="283" r:id="rId23"/>
    <p:sldId id="305" r:id="rId24"/>
    <p:sldId id="284" r:id="rId25"/>
    <p:sldId id="306" r:id="rId26"/>
    <p:sldId id="288" r:id="rId27"/>
    <p:sldId id="289" r:id="rId28"/>
    <p:sldId id="290" r:id="rId29"/>
    <p:sldId id="29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70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6A502-5928-493B-8E12-7ED7BDCF9C10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03EE2-1EFA-4300-AE08-8ECAAA6380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19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56232-F4C1-4B0E-838C-CA80E2A1940D}" type="datetimeFigureOut">
              <a:rPr lang="en-US" smtClean="0"/>
              <a:pPr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58921-01DB-4803-9F67-8A5112101DC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Module </a:t>
            </a:r>
            <a:r>
              <a:rPr lang="en-US" b="1" dirty="0" smtClean="0"/>
              <a:t>5(Part 2): </a:t>
            </a:r>
            <a:r>
              <a:rPr lang="en-US" b="1" dirty="0" smtClean="0"/>
              <a:t>Hashing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8382000" cy="1371600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tx1"/>
                </a:solidFill>
              </a:rPr>
              <a:t>Hashing- Hashing Techniques, Collision Resolution, Overflow handling, Hashing functions – Mid square, Division, Folding, Digit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5635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Table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Hash Table is a data structure which help us to retrieve information very effectively.</a:t>
            </a: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is an array of constant size and contains key values.</a:t>
            </a: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Key values are placed into hash table. The array index where key values are present is calculated from the key itself.</a:t>
            </a: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Hash Table uses hash technique/function to generate index where a key value is stored. This process is known as hashing.</a:t>
            </a:r>
          </a:p>
        </p:txBody>
      </p:sp>
    </p:spTree>
    <p:extLst>
      <p:ext uri="{BB962C8B-B14F-4D97-AF65-F5344CB8AC3E}">
        <p14:creationId xmlns:p14="http://schemas.microsoft.com/office/powerpoint/2010/main" val="3884073355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Hashing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Footlight MT Light" pitchFamily="18" charset="0"/>
              </a:rPr>
              <a:t>Hashing is a technique of mapping keys into indices in a hash table by using a hash function.</a:t>
            </a: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600" dirty="0" smtClean="0">
              <a:solidFill>
                <a:srgbClr val="000000"/>
              </a:solidFill>
              <a:latin typeface="Footlight MT Light" pitchFamily="18" charset="0"/>
              <a:sym typeface="Wingdings" pitchFamily="2" charset="2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 pitchFamily="2" charset="2"/>
              </a:rPr>
              <a:t>H: K→I      where H is the mapping hash function </a:t>
            </a:r>
          </a:p>
          <a:p>
            <a:r>
              <a:rPr lang="en-US" sz="2600" dirty="0" smtClean="0"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 pitchFamily="2" charset="2"/>
              </a:rPr>
              <a:t>                                 K is the set of key value</a:t>
            </a:r>
          </a:p>
          <a:p>
            <a:r>
              <a:rPr lang="en-US" sz="2600" dirty="0" smtClean="0"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 pitchFamily="2" charset="2"/>
              </a:rPr>
              <a:t>                                 I is the range of indices</a:t>
            </a:r>
          </a:p>
          <a:p>
            <a:endParaRPr lang="en-US" altLang="zh-TW" sz="2600" dirty="0" smtClean="0">
              <a:latin typeface="Footlight MT Light" pitchFamily="18" charset="0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 pitchFamily="2" charset="2"/>
              </a:rPr>
              <a:t>The main idea behind any hashing technique is to find a one to one correspondence between a key value and index in the hash table where the key value can be placed. </a:t>
            </a:r>
          </a:p>
        </p:txBody>
      </p:sp>
    </p:spTree>
    <p:extLst>
      <p:ext uri="{BB962C8B-B14F-4D97-AF65-F5344CB8AC3E}">
        <p14:creationId xmlns:p14="http://schemas.microsoft.com/office/powerpoint/2010/main" val="271158768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8156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Hashing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Few criteria while deciding hash function: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The function H should be very easy and quick to compute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The function H should as far as possible give two different indices for two different key values. i.e. there should be minimum no. of collision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err="1" smtClean="0">
                <a:latin typeface="Footlight MT Light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: H: k mod m where m is usually prime no.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K={17,10,19,35,43,62}   m=7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7048500" y="3415958"/>
          <a:ext cx="1371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10,17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19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29400" y="6138081"/>
            <a:ext cx="2209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 </a:t>
            </a:r>
            <a:r>
              <a:rPr lang="en-US" sz="2200" dirty="0" smtClean="0"/>
              <a:t>       Hash Table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2177803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4572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Consider a hash	table of size 10 whose indices are 0,1,2…9. Suppose a set of key values are: 10,19,35,43,62,59,31,49,77,33.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	Assume the hash function, H as stated below: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1. Add the two digits in the key.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2. Take the digit in units place of the result as index.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8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609600"/>
          <a:ext cx="2209800" cy="5469255"/>
        </p:xfrm>
        <a:graphic>
          <a:graphicData uri="http://schemas.openxmlformats.org/drawingml/2006/table">
            <a:tbl>
              <a:tblPr/>
              <a:tblGrid>
                <a:gridCol w="1104900"/>
                <a:gridCol w="1104900"/>
              </a:tblGrid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7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00600" y="609600"/>
          <a:ext cx="2667000" cy="5410197"/>
        </p:xfrm>
        <a:graphic>
          <a:graphicData uri="http://schemas.openxmlformats.org/drawingml/2006/table">
            <a:tbl>
              <a:tblPr/>
              <a:tblGrid>
                <a:gridCol w="990600"/>
                <a:gridCol w="1676400"/>
              </a:tblGrid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59,31,77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35,62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2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752600" y="6248400"/>
            <a:ext cx="821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 H:K-&gt;I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5943600" y="6172200"/>
            <a:ext cx="1217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Hash Table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8366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Collision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8839200" cy="46482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 values were not distributed uniformly in the previous example.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were many Blank entries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 entries had more than one key values.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Allotment of more than one key value to a location is known as collision.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Good hash function has minimum number of collisions and distributes keys uniformly.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8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Functions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3000" dirty="0" smtClean="0">
                <a:latin typeface="Footlight MT Light" pitchFamily="18" charset="0"/>
                <a:cs typeface="Times New Roman" pitchFamily="18" charset="0"/>
              </a:rPr>
              <a:t>Some popular hash functions are:</a:t>
            </a:r>
          </a:p>
          <a:p>
            <a:pPr marL="971550" lvl="1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/>
              <a:defRPr/>
            </a:pPr>
            <a:r>
              <a:rPr lang="en-US" sz="3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Division method</a:t>
            </a:r>
          </a:p>
          <a:p>
            <a:pPr marL="971550" lvl="1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/>
              <a:defRPr/>
            </a:pPr>
            <a:r>
              <a:rPr lang="en-US" sz="3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Mid square method</a:t>
            </a:r>
          </a:p>
          <a:p>
            <a:pPr marL="971550" lvl="1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/>
              <a:defRPr/>
            </a:pPr>
            <a:r>
              <a:rPr lang="en-US" sz="3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Folding method</a:t>
            </a:r>
          </a:p>
          <a:p>
            <a:pPr marL="971550" lvl="1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/>
              <a:defRPr/>
            </a:pPr>
            <a:r>
              <a:rPr lang="en-US" sz="3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Digit Analysis method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00" dirty="0" smtClean="0">
              <a:latin typeface="Footlight MT Light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4175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Functions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/>
              <a:defRPr/>
            </a:pPr>
            <a:r>
              <a:rPr lang="en-US" sz="2600" b="1" u="sng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Division method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It is one of the fastest hashing function and most widely accepted one.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</a:rPr>
              <a:t>Choose a number h, larger than N(no of keys)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</a:rPr>
              <a:t>Then Hash function H</a:t>
            </a:r>
          </a:p>
          <a:p>
            <a:pPr>
              <a:buNone/>
            </a:pPr>
            <a:r>
              <a:rPr lang="en-US" sz="2400" dirty="0" smtClean="0">
                <a:latin typeface="Footlight MT Light" pitchFamily="18" charset="0"/>
              </a:rPr>
              <a:t>           H(k)=k(MOD h) if index start from 0</a:t>
            </a:r>
          </a:p>
          <a:p>
            <a:pPr>
              <a:buNone/>
            </a:pPr>
            <a:r>
              <a:rPr lang="en-US" sz="2400" dirty="0" smtClean="0">
                <a:latin typeface="Footlight MT Light" pitchFamily="18" charset="0"/>
              </a:rPr>
              <a:t>           H(k)=k(MOD h)+1 if index start from 1</a:t>
            </a:r>
          </a:p>
          <a:p>
            <a:pPr>
              <a:buNone/>
            </a:pPr>
            <a:r>
              <a:rPr lang="en-US" sz="2400" dirty="0" smtClean="0">
                <a:latin typeface="Footlight MT Light" pitchFamily="18" charset="0"/>
              </a:rPr>
              <a:t>            	 where k is an element of set of key values </a:t>
            </a:r>
          </a:p>
          <a:p>
            <a:pPr>
              <a:buNone/>
            </a:pPr>
            <a:endParaRPr lang="en-US" sz="2400" dirty="0" smtClean="0">
              <a:latin typeface="Footlight MT Light" pitchFamily="18" charset="0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Usually h may be any prime number since this usually </a:t>
            </a:r>
            <a:r>
              <a:rPr lang="en-US" sz="2400" dirty="0" err="1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minimises</a:t>
            </a:r>
            <a:r>
              <a:rPr lang="en-US" sz="24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 the number of collisions.</a:t>
            </a: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6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Footlight MT Light" pitchFamily="18" charset="0"/>
              <a:cs typeface="Times New Roman" pitchFamily="18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56128866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228600"/>
            <a:ext cx="8686800" cy="6248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Example: Assume that the hash table size is 8. Consider the key values 10,21,4,41,24,14,17,15,31. Apply division method and find the index of each key value.</a:t>
            </a: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  <a:cs typeface="Times New Roman" pitchFamily="18" charset="0"/>
            </a:endParaRPr>
          </a:p>
          <a:p>
            <a:pPr marL="274320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err="1" smtClean="0">
                <a:latin typeface="Footlight MT Light" pitchFamily="18" charset="0"/>
                <a:cs typeface="Times New Roman" pitchFamily="18" charset="0"/>
              </a:rPr>
              <a:t>Ans</a:t>
            </a: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:   Here the hash function is H(k) = k %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90600" y="2514600"/>
          <a:ext cx="3505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990600"/>
              </a:tblGrid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Key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Hash Function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Index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10%8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21%8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41%8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24%8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14%8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17%8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15%8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42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31%8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45894" y="2778294"/>
          <a:ext cx="172170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853"/>
                <a:gridCol w="86085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Index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Key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41,17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15,31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91200" y="2418546"/>
            <a:ext cx="164410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Footlight MT Light" pitchFamily="18" charset="0"/>
              </a:rPr>
              <a:t>Hash Table</a:t>
            </a:r>
            <a:endParaRPr lang="en-US" sz="2500" b="1" dirty="0">
              <a:latin typeface="Footlight MT Light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41060" y="3505200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Collision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67600" y="5943600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Collision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0285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Functions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914400"/>
            <a:ext cx="8915400" cy="5943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 startAt="2"/>
              <a:defRPr/>
            </a:pPr>
            <a:r>
              <a:rPr lang="en-US" sz="2800" b="1" u="sng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Mid square method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200" dirty="0" smtClean="0">
                <a:latin typeface="Footlight MT Light" pitchFamily="18" charset="0"/>
                <a:cs typeface="Times New Roman" pitchFamily="18" charset="0"/>
              </a:rPr>
              <a:t>The hash function H is </a:t>
            </a:r>
          </a:p>
          <a:p>
            <a:pPr marL="1188720" lvl="2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200" dirty="0" smtClean="0">
                <a:latin typeface="Footlight MT Light" pitchFamily="18" charset="0"/>
                <a:cs typeface="Times New Roman" pitchFamily="18" charset="0"/>
              </a:rPr>
              <a:t>H(k) = x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200" dirty="0" smtClean="0">
                <a:latin typeface="Footlight MT Light" pitchFamily="18" charset="0"/>
                <a:cs typeface="Times New Roman" pitchFamily="18" charset="0"/>
              </a:rPr>
              <a:t>Where x is obtained by selecting some digits from the middle of the square of the key value k. 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200" dirty="0" smtClean="0">
                <a:latin typeface="Footlight MT Light" pitchFamily="18" charset="0"/>
              </a:rPr>
              <a:t>Selection usually depends on the size of the hash table. If size=100, then choose two bits.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400" dirty="0" smtClean="0">
              <a:latin typeface="Footlight MT Light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200" dirty="0" smtClean="0">
                <a:latin typeface="Footlight MT Light" pitchFamily="18" charset="0"/>
              </a:rPr>
              <a:t>Keys are uniformly distributed so there is less collision. But it is not an efficient method as it is time consuming.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14400" y="3866882"/>
          <a:ext cx="6096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k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2200" baseline="30000" dirty="0" smtClean="0">
                          <a:latin typeface="Footlight MT Light" pitchFamily="18" charset="0"/>
                          <a:cs typeface="Times New Roman" pitchFamily="18" charset="0"/>
                        </a:rPr>
                        <a:t>2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H(k)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1234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1522756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525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2345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5499025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ootlight MT Light" pitchFamily="18" charset="0"/>
                        </a:rPr>
                        <a:t>492</a:t>
                      </a:r>
                      <a:endParaRPr lang="en-US" sz="22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13517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Functions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 startAt="3"/>
              <a:defRPr/>
            </a:pPr>
            <a:r>
              <a:rPr lang="en-US" sz="2800" b="1" u="sng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Folding method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Here the key k is partitioned in to number of parts, k</a:t>
            </a:r>
            <a:r>
              <a:rPr lang="en-US" sz="2800" baseline="-25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1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,k</a:t>
            </a:r>
            <a:r>
              <a:rPr lang="en-US" sz="2800" baseline="-25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2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…</a:t>
            </a:r>
            <a:r>
              <a:rPr lang="en-US" sz="2800" dirty="0" err="1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k</a:t>
            </a:r>
            <a:r>
              <a:rPr lang="en-US" sz="2800" baseline="-25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n</a:t>
            </a:r>
            <a:endParaRPr lang="en-US" sz="2800" baseline="-250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Each part except possibly the last, has the same no of digits as the required address.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These parts are added together ignoring the last carry.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atin typeface="Footlight MT Light" pitchFamily="18" charset="0"/>
                <a:cs typeface="Times New Roman" pitchFamily="18" charset="0"/>
              </a:rPr>
              <a:t>The hash function 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H(k) = k</a:t>
            </a:r>
            <a:r>
              <a:rPr lang="en-US" sz="2800" baseline="-25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1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+k</a:t>
            </a:r>
            <a:r>
              <a:rPr lang="en-US" sz="2800" baseline="-250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2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+. . </a:t>
            </a:r>
            <a:r>
              <a:rPr lang="en-US" sz="2800" dirty="0" err="1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K</a:t>
            </a:r>
            <a:r>
              <a:rPr lang="en-US" sz="2800" baseline="-25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n</a:t>
            </a: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828800" y="4724400"/>
          <a:ext cx="4572002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2235200"/>
                <a:gridCol w="10668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k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H(k)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Index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3407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34+07 = 41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41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9020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90+20=110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10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15889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15+88+9=112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Footlight MT Light" pitchFamily="18" charset="0"/>
                        </a:rPr>
                        <a:t>12</a:t>
                      </a:r>
                      <a:endParaRPr lang="en-US" sz="2500" dirty="0">
                        <a:latin typeface="Footlight MT Light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34996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Functions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 startAt="3"/>
              <a:defRPr/>
            </a:pPr>
            <a:r>
              <a:rPr lang="en-US" sz="2800" b="1" u="sng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Folding method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Three variation of folding</a:t>
            </a:r>
          </a:p>
          <a:p>
            <a:pPr marL="1188720" lvl="2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Pure folding</a:t>
            </a:r>
          </a:p>
          <a:p>
            <a:pPr marL="1188720" lvl="2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Fold shifting – even parts are reversed before addition.</a:t>
            </a:r>
          </a:p>
          <a:p>
            <a:pPr marL="1188720" lvl="2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Fold boundary – boundary parts are reversed before addition.</a:t>
            </a:r>
          </a:p>
          <a:p>
            <a:pPr lvl="2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endParaRPr lang="en-US" sz="2400" dirty="0" smtClean="0">
              <a:latin typeface="Footlight MT Light" pitchFamily="18" charset="0"/>
              <a:cs typeface="Times New Roman" pitchFamily="18" charset="0"/>
            </a:endParaRPr>
          </a:p>
          <a:p>
            <a:pPr lvl="2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r>
              <a:rPr lang="en-US" sz="2400" dirty="0" err="1" smtClean="0">
                <a:latin typeface="Footlight MT Light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: K: 1522756</a:t>
            </a:r>
          </a:p>
          <a:p>
            <a:pPr lvl="2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Chopping : 01 52 27 56</a:t>
            </a:r>
          </a:p>
          <a:p>
            <a:pPr lvl="2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Pure folding : 01+52+27+56 = 136</a:t>
            </a:r>
          </a:p>
          <a:p>
            <a:pPr lvl="2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Fold Shifting: 10+52+72+56 =190</a:t>
            </a:r>
          </a:p>
          <a:p>
            <a:pPr lvl="2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r>
              <a:rPr lang="en-US" sz="2400" dirty="0" smtClean="0">
                <a:latin typeface="Footlight MT Light" pitchFamily="18" charset="0"/>
                <a:cs typeface="Times New Roman" pitchFamily="18" charset="0"/>
              </a:rPr>
              <a:t>Fold Boundary: 10+52+27+65 =154</a:t>
            </a:r>
          </a:p>
          <a:p>
            <a:pPr marL="1188720" lvl="2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7916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Hash Functions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+mj-lt"/>
              <a:buAutoNum type="arabicPeriod" startAt="4"/>
              <a:defRPr/>
            </a:pPr>
            <a:r>
              <a:rPr lang="en-US" sz="2600" b="1" u="sng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Digit Analysis method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Footlight MT Light" pitchFamily="18" charset="0"/>
                <a:cs typeface="Times New Roman" pitchFamily="18" charset="0"/>
              </a:rPr>
              <a:t>Here, the hash address is formed by extracting the digits and rearranging them.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Footlight MT Light" pitchFamily="18" charset="0"/>
                <a:cs typeface="Times New Roman" pitchFamily="18" charset="0"/>
              </a:rPr>
              <a:t>Example: key-6732541 can be transformed to hash function 427 by extracting digits in even positions and then reversing the combination.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Footlight MT Light" pitchFamily="18" charset="0"/>
                <a:cs typeface="Times New Roman" pitchFamily="18" charset="0"/>
              </a:rPr>
              <a:t>The decision for extraction and rearrangement is based on some analysis.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Footlight MT Light" pitchFamily="18" charset="0"/>
                <a:cs typeface="Times New Roman" pitchFamily="18" charset="0"/>
              </a:rPr>
              <a:t>Here, an analysis is performed to determine which key position should be used in forming hash address.</a:t>
            </a:r>
          </a:p>
          <a:p>
            <a:pPr marL="731520" lvl="1" indent="-27432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600" dirty="0" smtClean="0">
                <a:latin typeface="Footlight MT Light" pitchFamily="18" charset="0"/>
                <a:cs typeface="Times New Roman" pitchFamily="18" charset="0"/>
              </a:rPr>
              <a:t>For each criterion, hash addresses are calculated and then a graph is plotted, then that criterion is selected which produces the most uniform distribution</a:t>
            </a:r>
            <a:r>
              <a:rPr lang="en-US" sz="26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Footlight MT Light" pitchFamily="18" charset="0"/>
                <a:cs typeface="Times New Roman" pitchFamily="18" charset="0"/>
                <a:sym typeface="Wingding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400194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715962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/>
            </a:r>
            <a:br>
              <a:rPr lang="en-US" sz="4800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</a:br>
            <a:r>
              <a:rPr lang="en-US" sz="48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Collision Resolution Techniques</a:t>
            </a:r>
            <a:endParaRPr lang="en-US" sz="5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914400"/>
            <a:ext cx="8686800" cy="5562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endParaRPr lang="en-US" sz="30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3000" dirty="0" smtClean="0">
                <a:latin typeface="Footlight MT Light" pitchFamily="18" charset="0"/>
                <a:cs typeface="Times New Roman" pitchFamily="18" charset="0"/>
              </a:rPr>
              <a:t>Two collision resolution techniques are:</a:t>
            </a:r>
          </a:p>
          <a:p>
            <a:pPr marL="971550" lvl="1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700" b="1" dirty="0" smtClean="0">
                <a:latin typeface="Footlight MT Light" pitchFamily="18" charset="0"/>
                <a:cs typeface="Times New Roman" pitchFamily="18" charset="0"/>
              </a:rPr>
              <a:t>Closed hashing / Open Addressing /Linear Probing</a:t>
            </a:r>
          </a:p>
          <a:p>
            <a:pPr marL="971550" lvl="1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700" b="1" dirty="0" smtClean="0">
                <a:latin typeface="Footlight MT Light" pitchFamily="18" charset="0"/>
                <a:cs typeface="Times New Roman" pitchFamily="18" charset="0"/>
              </a:rPr>
              <a:t>Open hashing / Closed Addressing / Chaining</a:t>
            </a: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Footlight MT Light" pitchFamily="18" charset="0"/>
              <a:cs typeface="Times New Roman" pitchFamily="18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562942829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15962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</a:br>
            <a:r>
              <a:rPr lang="en-US" sz="44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Closed Hashing(Open Addressing)</a:t>
            </a:r>
            <a:endParaRPr lang="en-US" sz="44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1447800"/>
            <a:ext cx="8686800" cy="5181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The simplest method to resolve a collision.</a:t>
            </a: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Here all elements are stored in the hash table itself. That’s why it is called </a:t>
            </a:r>
            <a:r>
              <a:rPr lang="en-US" sz="2800" b="1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Open addressing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.</a:t>
            </a: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The hash table is considered circular. That’s why the technique is termed </a:t>
            </a:r>
            <a:r>
              <a:rPr lang="en-US" sz="2800" b="1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closed hashing</a:t>
            </a: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.</a:t>
            </a: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800" dirty="0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Since the </a:t>
            </a:r>
            <a:r>
              <a:rPr lang="en-US" sz="2800" dirty="0" err="1" smtClea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Footlight MT Light" pitchFamily="18" charset="0"/>
                <a:cs typeface="Times New Roman" pitchFamily="18" charset="0"/>
                <a:sym typeface="Wingdings"/>
              </a:rPr>
              <a:t>techn</a:t>
            </a:r>
            <a:endParaRPr lang="en-US" sz="28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Footlight MT Light" pitchFamily="18" charset="0"/>
              <a:cs typeface="Times New Roman" pitchFamily="18" charset="0"/>
              <a:sym typeface="Wingdings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Footlight MT Light" pitchFamily="18" charset="0"/>
              <a:cs typeface="Times New Roman" pitchFamily="18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19309906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85" y="160338"/>
            <a:ext cx="9144000" cy="449262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 smtClean="0">
                <a:solidFill>
                  <a:schemeClr val="tx1"/>
                </a:solidFill>
                <a:latin typeface="Footlight MT Light" pitchFamily="18" charset="0"/>
                <a:cs typeface="Times New Roman" pitchFamily="18" charset="0"/>
              </a:rPr>
              <a:t>Closed Hashing(Open Addressing) contd.</a:t>
            </a:r>
            <a:endParaRPr lang="en-US" sz="3000" b="1" dirty="0">
              <a:solidFill>
                <a:schemeClr val="tx1"/>
              </a:solidFill>
              <a:latin typeface="Footlight MT Light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 Structures Tutorial - Tutorial And Examp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Footlight MT Light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5575" y="1143000"/>
            <a:ext cx="8759825" cy="5486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Suppose Hash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Table of size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and 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key to be mapped to location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there is collision at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30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location(another key value is found in same location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Then do a sequential search in the following locations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i+1,i+2……S,1,2,3…..i-1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search will continue until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key value is found.    (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successful search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unoccupied location found.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Search reaches the location where it had started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buAutoNum type="arabicPeriod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Since technique searches in straight line, it is called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linear probing</a:t>
            </a:r>
          </a:p>
          <a:p>
            <a:pPr marL="514350" indent="-514350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endParaRPr lang="en-US" sz="2800" dirty="0"/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00" dirty="0" smtClean="0">
              <a:latin typeface="Footlight MT Ligh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69457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: 15 11 25 16 9 8 12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H=10</a:t>
            </a:r>
          </a:p>
          <a:p>
            <a:r>
              <a:rPr lang="en-US" dirty="0" smtClean="0"/>
              <a:t>H(k)=k MOD 7+1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8001000" cy="3143250"/>
        </p:xfrm>
        <a:graphic>
          <a:graphicData uri="http://schemas.openxmlformats.org/drawingml/2006/table">
            <a:tbl>
              <a:tblPr/>
              <a:tblGrid>
                <a:gridCol w="320040"/>
                <a:gridCol w="960120"/>
                <a:gridCol w="960120"/>
                <a:gridCol w="320040"/>
                <a:gridCol w="960120"/>
                <a:gridCol w="960120"/>
                <a:gridCol w="320040"/>
                <a:gridCol w="960120"/>
                <a:gridCol w="960120"/>
                <a:gridCol w="320040"/>
                <a:gridCol w="960120"/>
              </a:tblGrid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6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3886200"/>
          <a:ext cx="7620000" cy="2838450"/>
        </p:xfrm>
        <a:graphic>
          <a:graphicData uri="http://schemas.openxmlformats.org/drawingml/2006/table">
            <a:tbl>
              <a:tblPr/>
              <a:tblGrid>
                <a:gridCol w="304800"/>
                <a:gridCol w="914400"/>
                <a:gridCol w="914400"/>
                <a:gridCol w="304800"/>
                <a:gridCol w="914400"/>
                <a:gridCol w="914400"/>
                <a:gridCol w="304800"/>
                <a:gridCol w="914400"/>
                <a:gridCol w="914400"/>
                <a:gridCol w="304800"/>
                <a:gridCol w="914400"/>
              </a:tblGrid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642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Drawbacks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458200" cy="5181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half the table is full it is difficult to find empty space in case of collision.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hash table gets filled, there is tendency towards clustering.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Clustering results in delayed search.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type of clustering where key values are clustered in large groups is known as primary clustering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Following are some solutions to avoid this situation.</a:t>
            </a:r>
          </a:p>
          <a:p>
            <a:pPr marL="514350" indent="-514350">
              <a:buAutoNum type="alphaL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Random Probing</a:t>
            </a:r>
          </a:p>
          <a:p>
            <a:pPr marL="514350" indent="-514350">
              <a:buAutoNum type="alphaL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Double Hashing or rehashing</a:t>
            </a:r>
          </a:p>
          <a:p>
            <a:pPr marL="514350" indent="-514350">
              <a:buAutoNum type="alphaL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Quadratic probing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Random Probing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Uses a random number generator to generate random locations.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Random number generated contains all positions from 1 to h where h is the size of the hash table.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i+m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)mod h+1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number in the sequence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 and h are integers that are relatively prime to each other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starts at 2, m=5 and h=11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err="1" smtClean="0"/>
              <a:t>i</a:t>
            </a:r>
            <a:r>
              <a:rPr lang="en-US" dirty="0" smtClean="0"/>
              <a:t>=(</a:t>
            </a:r>
            <a:r>
              <a:rPr lang="en-US" dirty="0" err="1" smtClean="0"/>
              <a:t>i+m</a:t>
            </a:r>
            <a:r>
              <a:rPr lang="en-US" dirty="0" smtClean="0"/>
              <a:t>)mod h+1</a:t>
            </a:r>
          </a:p>
          <a:p>
            <a:pPr>
              <a:buNone/>
            </a:pPr>
            <a:r>
              <a:rPr lang="en-US" dirty="0" smtClean="0"/>
              <a:t>Locations generated are</a:t>
            </a:r>
          </a:p>
          <a:p>
            <a:pPr>
              <a:buNone/>
            </a:pPr>
            <a:r>
              <a:rPr lang="en-US" dirty="0" smtClean="0"/>
              <a:t>(2+5)mod 11+1=8</a:t>
            </a:r>
          </a:p>
          <a:p>
            <a:pPr>
              <a:buNone/>
            </a:pPr>
            <a:r>
              <a:rPr lang="en-US" dirty="0" smtClean="0"/>
              <a:t>(8+5) mod 11+1=3</a:t>
            </a:r>
          </a:p>
          <a:p>
            <a:pPr>
              <a:buNone/>
            </a:pPr>
            <a:r>
              <a:rPr lang="en-US" dirty="0" smtClean="0"/>
              <a:t>(3+5)mod 11+1=9</a:t>
            </a:r>
          </a:p>
          <a:p>
            <a:pPr>
              <a:buNone/>
            </a:pPr>
            <a:r>
              <a:rPr lang="en-US" dirty="0" smtClean="0"/>
              <a:t>                            =? </a:t>
            </a:r>
          </a:p>
          <a:p>
            <a:pPr>
              <a:buNone/>
            </a:pPr>
            <a:r>
              <a:rPr lang="en-US" dirty="0" smtClean="0"/>
              <a:t>                            =?</a:t>
            </a:r>
          </a:p>
          <a:p>
            <a:pPr>
              <a:buNone/>
            </a:pPr>
            <a:r>
              <a:rPr lang="en-US" dirty="0" smtClean="0"/>
              <a:t>Stop producing the random number when the first position is duplicated.</a:t>
            </a:r>
          </a:p>
          <a:p>
            <a:pPr>
              <a:buNone/>
            </a:pPr>
            <a:r>
              <a:rPr lang="en-US" dirty="0" smtClean="0"/>
              <a:t>Avoids primary clustering.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Quadratic Probing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Eliminates primary clustering problem of linear probing.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linear probing, if there is a collision at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then next locations are i+1,i+2,i+3…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 in Quadratic probing, if there is a collision at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then probe on i+1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,i+2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,i+3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etc..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H(k)+i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MOD h for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=1,2,3…….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Double Hashing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6096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Uses a second hash function in addition to the first one.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Second hash fn should be selected in such a way that the hash address generated by two function should be distinct.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Let key x be stored in index f(x)=t of the hash table.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case of collision, define a second hash function f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(x)=d. Attempt to store key in array elements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t+d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)%N, (t+2d)%N,(t+3d)%N… until an empty slot is found. Here N is the size of hash table.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Typical second hash function is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f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(x)=R-(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x%R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where R is a prime number, R&lt;N.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Q1: Array elements to be inserted to hash table are 47,35,36,129,25,2501,65,29,16,14,99,127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H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(x)=x%15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H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(x)=11-(x%11)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Create a hash table of size=15 using double hashing.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Open Hashing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953000"/>
          </a:xfrm>
        </p:spPr>
        <p:txBody>
          <a:bodyPr>
            <a:normAutofit/>
          </a:bodyPr>
          <a:lstStyle/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Drawbacks of closed hashing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Closed hashing is unable to handle overflow.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of the keys vary from their original locations so much that it degrades the performance.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 another method to resolve collision is open hashing/Separate Chaining/Simple chaining.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534400" cy="58975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Chaining method uses hash table as an array of pointers, each pointer points to a linked list.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a given key value, hash address is calculated.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Hash address is decided by the last bit of the key.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then searches the linked list pointed by the hash address at that location.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found return the pointer else insert the key as last node in the list.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839200" cy="1143000"/>
          </a:xfrm>
        </p:spPr>
        <p:txBody>
          <a:bodyPr>
            <a:no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K={10,43,12,16,82,36,19,57,54,24,64}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Index of hash table varies from 0 to 9 and key values are taken as integers. Hash function returns integer at the last position of key.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9" name="Content Placeholder 48" descr="index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16200000">
            <a:off x="2077651" y="348842"/>
            <a:ext cx="5193506" cy="7520009"/>
          </a:xfrm>
        </p:spPr>
      </p:pic>
      <p:sp>
        <p:nvSpPr>
          <p:cNvPr id="35883" name="AutoShape 43" descr="blob:https://web.whatsapp.com/aa328300-2b9c-4c4f-a839-1e6b4f8d395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85" name="AutoShape 45" descr="blob:https://web.whatsapp.com/aa328300-2b9c-4c4f-a839-1e6b4f8d395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Overflow situation never arrives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 the list is sorted , searching is easy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Insertion and deletion is fast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Suitable for application where number of key values varies drastically as open hashing uses dynamic storage management.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Disadvantage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Extra storage required to maintain a Linked Lists.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Applications: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Retrieval of data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Verification of message integrity.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Password Verification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1714</Words>
  <Application>Microsoft Office PowerPoint</Application>
  <PresentationFormat>On-screen Show (4:3)</PresentationFormat>
  <Paragraphs>500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Module 5(Part 2): Hashing</vt:lpstr>
      <vt:lpstr>Hash Table</vt:lpstr>
      <vt:lpstr>Hashing</vt:lpstr>
      <vt:lpstr>Hashing</vt:lpstr>
      <vt:lpstr>PowerPoint Presentation</vt:lpstr>
      <vt:lpstr>PowerPoint Presentation</vt:lpstr>
      <vt:lpstr>Collision</vt:lpstr>
      <vt:lpstr>Hash Functions</vt:lpstr>
      <vt:lpstr>Hash Functions</vt:lpstr>
      <vt:lpstr>PowerPoint Presentation</vt:lpstr>
      <vt:lpstr>Hash Functions</vt:lpstr>
      <vt:lpstr>Hash Functions</vt:lpstr>
      <vt:lpstr>Hash Functions</vt:lpstr>
      <vt:lpstr>Hash Functions</vt:lpstr>
      <vt:lpstr> Collision Resolution Techniques</vt:lpstr>
      <vt:lpstr> Closed Hashing(Open Addressing)</vt:lpstr>
      <vt:lpstr>Closed Hashing(Open Addressing) contd.</vt:lpstr>
      <vt:lpstr>Eg: 15 11 25 16 9 8 12 8</vt:lpstr>
      <vt:lpstr>PowerPoint Presentation</vt:lpstr>
      <vt:lpstr>Drawbacks</vt:lpstr>
      <vt:lpstr>Random Probing</vt:lpstr>
      <vt:lpstr>Eg : i starts at 2, m=5 and h=11</vt:lpstr>
      <vt:lpstr>Quadratic Probing</vt:lpstr>
      <vt:lpstr>Double Hashing</vt:lpstr>
      <vt:lpstr>PowerPoint Presentation</vt:lpstr>
      <vt:lpstr>Open Hashing</vt:lpstr>
      <vt:lpstr>PowerPoint Presentation</vt:lpstr>
      <vt:lpstr>Eg: K={10,43,12,16,82,36,19,57,54,24,64} Index of hash table varies from 0 to 9 and key values are taken as integers. Hash function returns integer at the last position of key.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Ms. Cinita Mary Mathew</cp:lastModifiedBy>
  <cp:revision>97</cp:revision>
  <dcterms:created xsi:type="dcterms:W3CDTF">2016-10-26T14:48:26Z</dcterms:created>
  <dcterms:modified xsi:type="dcterms:W3CDTF">2023-12-21T04:56:31Z</dcterms:modified>
</cp:coreProperties>
</file>