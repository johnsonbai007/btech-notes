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handoutMasterIdLst>
    <p:handoutMasterId r:id="rId120"/>
  </p:handout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8" r:id="rId37"/>
    <p:sldId id="293" r:id="rId38"/>
    <p:sldId id="294" r:id="rId39"/>
    <p:sldId id="295" r:id="rId40"/>
    <p:sldId id="296" r:id="rId41"/>
    <p:sldId id="297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43" r:id="rId70"/>
    <p:sldId id="344" r:id="rId71"/>
    <p:sldId id="345" r:id="rId72"/>
    <p:sldId id="346" r:id="rId73"/>
    <p:sldId id="326" r:id="rId74"/>
    <p:sldId id="327" r:id="rId75"/>
    <p:sldId id="328" r:id="rId76"/>
    <p:sldId id="347" r:id="rId77"/>
    <p:sldId id="348" r:id="rId78"/>
    <p:sldId id="349" r:id="rId79"/>
    <p:sldId id="350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51" r:id="rId95"/>
    <p:sldId id="352" r:id="rId96"/>
    <p:sldId id="353" r:id="rId97"/>
    <p:sldId id="354" r:id="rId98"/>
    <p:sldId id="355" r:id="rId99"/>
    <p:sldId id="356" r:id="rId100"/>
    <p:sldId id="357" r:id="rId101"/>
    <p:sldId id="358" r:id="rId102"/>
    <p:sldId id="359" r:id="rId103"/>
    <p:sldId id="360" r:id="rId104"/>
    <p:sldId id="361" r:id="rId105"/>
    <p:sldId id="362" r:id="rId106"/>
    <p:sldId id="363" r:id="rId107"/>
    <p:sldId id="364" r:id="rId108"/>
    <p:sldId id="365" r:id="rId109"/>
    <p:sldId id="366" r:id="rId110"/>
    <p:sldId id="367" r:id="rId111"/>
    <p:sldId id="368" r:id="rId112"/>
    <p:sldId id="369" r:id="rId113"/>
    <p:sldId id="370" r:id="rId114"/>
    <p:sldId id="371" r:id="rId115"/>
    <p:sldId id="372" r:id="rId116"/>
    <p:sldId id="373" r:id="rId117"/>
    <p:sldId id="374" r:id="rId118"/>
    <p:sldId id="375" r:id="rId119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9DFF8B-9991-4053-949F-97337B3E09EA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CC2F1-5DF7-4FDD-BBE9-E6CD94988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2107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AAA3-D5F0-4DDC-93A6-BDF9F5D1F68A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76596298-5A73-43E1-9C25-277131A0AF3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AAA3-D5F0-4DDC-93A6-BDF9F5D1F68A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6298-5A73-43E1-9C25-277131A0AF37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AAA3-D5F0-4DDC-93A6-BDF9F5D1F68A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76596298-5A73-43E1-9C25-277131A0AF37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AAA3-D5F0-4DDC-93A6-BDF9F5D1F68A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6298-5A73-43E1-9C25-277131A0AF37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AAA3-D5F0-4DDC-93A6-BDF9F5D1F68A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6298-5A73-43E1-9C25-277131A0AF37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AAA3-D5F0-4DDC-93A6-BDF9F5D1F68A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6298-5A73-43E1-9C25-277131A0AF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AAA3-D5F0-4DDC-93A6-BDF9F5D1F68A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6298-5A73-43E1-9C25-277131A0AF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AAA3-D5F0-4DDC-93A6-BDF9F5D1F68A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6298-5A73-43E1-9C25-277131A0AF37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AAA3-D5F0-4DDC-93A6-BDF9F5D1F68A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76596298-5A73-43E1-9C25-277131A0AF37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AAA3-D5F0-4DDC-93A6-BDF9F5D1F68A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6298-5A73-43E1-9C25-277131A0AF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AAA3-D5F0-4DDC-93A6-BDF9F5D1F68A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6298-5A73-43E1-9C25-277131A0AF3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225AAA3-D5F0-4DDC-93A6-BDF9F5D1F68A}" type="datetimeFigureOut">
              <a:rPr lang="en-IN" smtClean="0"/>
              <a:t>11-10-2023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76596298-5A73-43E1-9C25-277131A0AF37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6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9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DATA STRUCTURES – CST 201</a:t>
            </a:r>
            <a:br>
              <a:rPr lang="en-IN" dirty="0" smtClean="0"/>
            </a:br>
            <a:r>
              <a:rPr lang="en-IN" dirty="0" smtClean="0"/>
              <a:t>MODULE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691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88640"/>
            <a:ext cx="6732240" cy="6525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6241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04664"/>
            <a:ext cx="8712968" cy="6192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1275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54810"/>
            <a:ext cx="8424936" cy="6486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2364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290" y="404664"/>
            <a:ext cx="8325420" cy="6048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5900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7" y="764704"/>
            <a:ext cx="6552729" cy="4968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55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1572" y="0"/>
            <a:ext cx="8690908" cy="683631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72" y="260648"/>
            <a:ext cx="8042836" cy="389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861048"/>
            <a:ext cx="4176464" cy="2715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3953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772400" cy="1143000"/>
          </a:xfrm>
        </p:spPr>
        <p:txBody>
          <a:bodyPr/>
          <a:lstStyle/>
          <a:p>
            <a:r>
              <a:rPr lang="en-IN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Operations on Array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7544" y="1700808"/>
            <a:ext cx="7488832" cy="4318992"/>
          </a:xfrm>
        </p:spPr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Traversal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Insertion by location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Deletion of an element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Searching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Sorting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Merging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555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332656"/>
            <a:ext cx="8640960" cy="652534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963" y="332656"/>
            <a:ext cx="3307941" cy="1169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786880"/>
            <a:ext cx="67818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7994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404664"/>
            <a:ext cx="8640960" cy="612068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881289"/>
            <a:ext cx="7992888" cy="5625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4959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260648"/>
            <a:ext cx="8712968" cy="6336704"/>
          </a:xfrm>
        </p:spPr>
        <p:txBody>
          <a:bodyPr/>
          <a:lstStyle/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332656"/>
            <a:ext cx="7678757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0087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32656"/>
            <a:ext cx="7272808" cy="3398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731630"/>
            <a:ext cx="6696744" cy="2865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862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7772400" cy="922114"/>
          </a:xfrm>
        </p:spPr>
        <p:txBody>
          <a:bodyPr>
            <a:normAutofit/>
          </a:bodyPr>
          <a:lstStyle/>
          <a:p>
            <a:r>
              <a:rPr lang="en-IN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Algorithm </a:t>
            </a:r>
            <a:r>
              <a:rPr lang="en-IN" sz="32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LinearSearch</a:t>
            </a:r>
            <a:r>
              <a:rPr lang="en-IN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sz="32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A,n,search_data</a:t>
            </a:r>
            <a:r>
              <a:rPr lang="en-IN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IN" sz="3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1124744"/>
            <a:ext cx="8363272" cy="56166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Input: Array A, size n, data to be searched</a:t>
            </a:r>
          </a:p>
          <a:p>
            <a:pPr marL="0" indent="0">
              <a:buNone/>
            </a:pPr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Output: Index of array for successful search.</a:t>
            </a:r>
          </a:p>
          <a:p>
            <a:pPr marL="0" indent="0">
              <a:buNone/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AutoNum type="arabicPeriod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Initialise flag as 0.</a:t>
            </a:r>
          </a:p>
          <a:p>
            <a:pPr marL="514350" indent="-514350">
              <a:buAutoNum type="arabicPeriod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For i=0 to n-1 do</a:t>
            </a:r>
          </a:p>
          <a:p>
            <a:pPr marL="274320" lvl="1" indent="0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  2.1 if A[i]=</a:t>
            </a:r>
            <a:r>
              <a:rPr lang="en-IN" sz="2200" dirty="0" err="1" smtClean="0">
                <a:latin typeface="Times New Roman" pitchFamily="18" charset="0"/>
                <a:cs typeface="Times New Roman" pitchFamily="18" charset="0"/>
              </a:rPr>
              <a:t>search_data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then</a:t>
            </a:r>
          </a:p>
          <a:p>
            <a:pPr marL="274320" lvl="1" indent="0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2.1.1 Assign flag as 1</a:t>
            </a:r>
          </a:p>
          <a:p>
            <a:pPr marL="274320" lvl="1" indent="0">
              <a:buNone/>
            </a:pP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2.1.2 Break</a:t>
            </a:r>
          </a:p>
          <a:p>
            <a:pPr marL="514350" indent="-514350">
              <a:buAutoNum type="arabicPeriod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If flag=0 then</a:t>
            </a:r>
          </a:p>
          <a:p>
            <a:pPr marL="274320" lvl="1" indent="0"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3.1 Print search data is not found</a:t>
            </a:r>
          </a:p>
          <a:p>
            <a:pPr marL="514350" indent="-514350">
              <a:buAutoNum type="arabicPeriod"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Else</a:t>
            </a:r>
          </a:p>
          <a:p>
            <a:pPr marL="0" indent="0">
              <a:buNone/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4.1 Print Search data is found at Index i</a:t>
            </a:r>
          </a:p>
          <a:p>
            <a:pPr marL="514350" indent="-51435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4775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116632"/>
            <a:ext cx="8784976" cy="648072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8424936" cy="6336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3620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88640"/>
            <a:ext cx="8856984" cy="648072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160"/>
            <a:ext cx="4032448" cy="2520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793" y="430381"/>
            <a:ext cx="3744416" cy="2396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928245"/>
            <a:ext cx="4230891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515" y="3068960"/>
            <a:ext cx="4188973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ight Arrow 3"/>
          <p:cNvSpPr/>
          <p:nvPr/>
        </p:nvSpPr>
        <p:spPr>
          <a:xfrm>
            <a:off x="4410403" y="1268760"/>
            <a:ext cx="449629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ight Arrow 4"/>
          <p:cNvSpPr/>
          <p:nvPr/>
        </p:nvSpPr>
        <p:spPr>
          <a:xfrm>
            <a:off x="4410403" y="4077072"/>
            <a:ext cx="449629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294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84976" cy="648072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Algorithm </a:t>
            </a:r>
            <a:r>
              <a:rPr lang="en-IN" sz="28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BinarySearch</a:t>
            </a:r>
            <a:r>
              <a:rPr lang="en-IN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sz="28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A,low,high,search_data</a:t>
            </a:r>
            <a:r>
              <a:rPr lang="en-IN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908720"/>
            <a:ext cx="8712968" cy="58326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200" i="1" dirty="0">
                <a:latin typeface="Times New Roman" pitchFamily="18" charset="0"/>
                <a:cs typeface="Times New Roman" pitchFamily="18" charset="0"/>
              </a:rPr>
              <a:t>Input: Array A, size n, data to be searched</a:t>
            </a:r>
          </a:p>
          <a:p>
            <a:pPr marL="0" indent="0">
              <a:buNone/>
            </a:pPr>
            <a:r>
              <a:rPr lang="en-IN" sz="2200" i="1" dirty="0">
                <a:latin typeface="Times New Roman" pitchFamily="18" charset="0"/>
                <a:cs typeface="Times New Roman" pitchFamily="18" charset="0"/>
              </a:rPr>
              <a:t>Output: Index of array for successful search</a:t>
            </a:r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IN" sz="2400" i="1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AutoNum type="arabicPeriod"/>
            </a:pPr>
            <a:r>
              <a:rPr lang="en-IN" sz="2100" dirty="0">
                <a:latin typeface="Times New Roman" pitchFamily="18" charset="0"/>
                <a:cs typeface="Times New Roman" pitchFamily="18" charset="0"/>
              </a:rPr>
              <a:t>Initialise flag as 0.</a:t>
            </a:r>
          </a:p>
          <a:p>
            <a:pPr marL="514350" indent="-514350">
              <a:buAutoNum type="arabicPeriod"/>
            </a:pPr>
            <a:r>
              <a:rPr lang="en-IN" sz="2100" dirty="0" smtClean="0">
                <a:latin typeface="Times New Roman" pitchFamily="18" charset="0"/>
                <a:cs typeface="Times New Roman" pitchFamily="18" charset="0"/>
              </a:rPr>
              <a:t>While low &lt;= high do</a:t>
            </a:r>
          </a:p>
          <a:p>
            <a:pPr marL="0" indent="0">
              <a:buNone/>
            </a:pP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700" dirty="0" smtClean="0">
                <a:latin typeface="Times New Roman" pitchFamily="18" charset="0"/>
                <a:cs typeface="Times New Roman" pitchFamily="18" charset="0"/>
              </a:rPr>
              <a:t>         2.1 mid=(</a:t>
            </a:r>
            <a:r>
              <a:rPr lang="en-IN" sz="1700" dirty="0" err="1" smtClean="0">
                <a:latin typeface="Times New Roman" pitchFamily="18" charset="0"/>
                <a:cs typeface="Times New Roman" pitchFamily="18" charset="0"/>
              </a:rPr>
              <a:t>low+high</a:t>
            </a:r>
            <a:r>
              <a:rPr lang="en-IN" sz="1700" dirty="0" smtClean="0">
                <a:latin typeface="Times New Roman" pitchFamily="18" charset="0"/>
                <a:cs typeface="Times New Roman" pitchFamily="18" charset="0"/>
              </a:rPr>
              <a:t>)/2</a:t>
            </a:r>
            <a:endParaRPr lang="en-IN" sz="1700" dirty="0">
              <a:latin typeface="Times New Roman" pitchFamily="18" charset="0"/>
              <a:cs typeface="Times New Roman" pitchFamily="18" charset="0"/>
            </a:endParaRPr>
          </a:p>
          <a:p>
            <a:pPr marL="274320" lvl="1" indent="0">
              <a:buNone/>
            </a:pP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IN" sz="1700" dirty="0" smtClean="0">
                <a:latin typeface="Times New Roman" pitchFamily="18" charset="0"/>
                <a:cs typeface="Times New Roman" pitchFamily="18" charset="0"/>
              </a:rPr>
              <a:t>  2.2 </a:t>
            </a: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IN" sz="1700" dirty="0" err="1" smtClean="0">
                <a:latin typeface="Times New Roman" pitchFamily="18" charset="0"/>
                <a:cs typeface="Times New Roman" pitchFamily="18" charset="0"/>
              </a:rPr>
              <a:t>search_data</a:t>
            </a:r>
            <a:r>
              <a:rPr lang="en-IN" sz="1700" dirty="0" smtClean="0">
                <a:latin typeface="Times New Roman" pitchFamily="18" charset="0"/>
                <a:cs typeface="Times New Roman" pitchFamily="18" charset="0"/>
              </a:rPr>
              <a:t> = A[mid] </a:t>
            </a: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then</a:t>
            </a:r>
          </a:p>
          <a:p>
            <a:pPr marL="274320" lvl="1" indent="0">
              <a:buNone/>
            </a:pP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	 </a:t>
            </a:r>
            <a:r>
              <a:rPr lang="en-IN" sz="1700" dirty="0" smtClean="0">
                <a:latin typeface="Times New Roman" pitchFamily="18" charset="0"/>
                <a:cs typeface="Times New Roman" pitchFamily="18" charset="0"/>
              </a:rPr>
              <a:t>   2.2.1 </a:t>
            </a: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Assign flag as 1</a:t>
            </a:r>
          </a:p>
          <a:p>
            <a:pPr marL="274320" lvl="1" indent="0">
              <a:buNone/>
            </a:pP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1700" dirty="0" smtClean="0">
                <a:latin typeface="Times New Roman" pitchFamily="18" charset="0"/>
                <a:cs typeface="Times New Roman" pitchFamily="18" charset="0"/>
              </a:rPr>
              <a:t>    2.2.2 Break</a:t>
            </a:r>
          </a:p>
          <a:p>
            <a:pPr marL="274320" lvl="1" indent="0">
              <a:buNone/>
            </a:pP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700" dirty="0" smtClean="0">
                <a:latin typeface="Times New Roman" pitchFamily="18" charset="0"/>
                <a:cs typeface="Times New Roman" pitchFamily="18" charset="0"/>
              </a:rPr>
              <a:t>    2.3 else if </a:t>
            </a:r>
            <a:r>
              <a:rPr lang="en-IN" sz="1700" dirty="0" err="1" smtClean="0">
                <a:latin typeface="Times New Roman" pitchFamily="18" charset="0"/>
                <a:cs typeface="Times New Roman" pitchFamily="18" charset="0"/>
              </a:rPr>
              <a:t>search_data</a:t>
            </a:r>
            <a:r>
              <a:rPr lang="en-IN" sz="1700" dirty="0" smtClean="0">
                <a:latin typeface="Times New Roman" pitchFamily="18" charset="0"/>
                <a:cs typeface="Times New Roman" pitchFamily="18" charset="0"/>
              </a:rPr>
              <a:t> &lt; A[mid] then</a:t>
            </a:r>
          </a:p>
          <a:p>
            <a:pPr marL="274320" lvl="1" indent="0">
              <a:buNone/>
            </a:pP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700" dirty="0" smtClean="0">
                <a:latin typeface="Times New Roman" pitchFamily="18" charset="0"/>
                <a:cs typeface="Times New Roman" pitchFamily="18" charset="0"/>
              </a:rPr>
              <a:t>               2.3.1 high=mid-1</a:t>
            </a:r>
          </a:p>
          <a:p>
            <a:pPr marL="274320" lvl="1" indent="0">
              <a:buNone/>
            </a:pP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700" dirty="0" smtClean="0">
                <a:latin typeface="Times New Roman" pitchFamily="18" charset="0"/>
                <a:cs typeface="Times New Roman" pitchFamily="18" charset="0"/>
              </a:rPr>
              <a:t>    2.4 else </a:t>
            </a:r>
          </a:p>
          <a:p>
            <a:pPr marL="274320" lvl="1" indent="0">
              <a:buNone/>
            </a:pP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1700" dirty="0" smtClean="0">
                <a:latin typeface="Times New Roman" pitchFamily="18" charset="0"/>
                <a:cs typeface="Times New Roman" pitchFamily="18" charset="0"/>
              </a:rPr>
              <a:t>   2.4.1 low=mid+1</a:t>
            </a:r>
          </a:p>
          <a:p>
            <a:pPr marL="274320" lvl="1" indent="0">
              <a:buNone/>
            </a:pPr>
            <a:endParaRPr lang="en-IN" sz="21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2100" dirty="0" smtClean="0">
                <a:latin typeface="Times New Roman" pitchFamily="18" charset="0"/>
                <a:cs typeface="Times New Roman" pitchFamily="18" charset="0"/>
              </a:rPr>
              <a:t>3.     If </a:t>
            </a:r>
            <a:r>
              <a:rPr lang="en-IN" sz="2100" dirty="0">
                <a:latin typeface="Times New Roman" pitchFamily="18" charset="0"/>
                <a:cs typeface="Times New Roman" pitchFamily="18" charset="0"/>
              </a:rPr>
              <a:t>flag=0 then</a:t>
            </a:r>
          </a:p>
          <a:p>
            <a:pPr marL="274320" lvl="1" indent="0">
              <a:buNone/>
            </a:pP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sz="17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3.1 Print search data is not found</a:t>
            </a:r>
          </a:p>
          <a:p>
            <a:pPr marL="0" indent="0">
              <a:buNone/>
            </a:pPr>
            <a:r>
              <a:rPr lang="en-IN" sz="2100" dirty="0" smtClean="0">
                <a:latin typeface="Times New Roman" pitchFamily="18" charset="0"/>
                <a:cs typeface="Times New Roman" pitchFamily="18" charset="0"/>
              </a:rPr>
              <a:t>4.     Else</a:t>
            </a:r>
            <a:endParaRPr lang="en-IN" sz="21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2100" dirty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IN" sz="21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IN" sz="1700" dirty="0" smtClean="0">
                <a:latin typeface="Times New Roman" pitchFamily="18" charset="0"/>
                <a:cs typeface="Times New Roman" pitchFamily="18" charset="0"/>
              </a:rPr>
              <a:t>4.1 </a:t>
            </a:r>
            <a:r>
              <a:rPr lang="en-IN" sz="1700" dirty="0">
                <a:latin typeface="Times New Roman" pitchFamily="18" charset="0"/>
                <a:cs typeface="Times New Roman" pitchFamily="18" charset="0"/>
              </a:rPr>
              <a:t>Print Search data is found at Index </a:t>
            </a:r>
            <a:r>
              <a:rPr lang="en-IN" sz="1700" dirty="0" smtClean="0">
                <a:latin typeface="Times New Roman" pitchFamily="18" charset="0"/>
                <a:cs typeface="Times New Roman" pitchFamily="18" charset="0"/>
              </a:rPr>
              <a:t>mid</a:t>
            </a:r>
            <a:endParaRPr lang="en-IN" sz="1700" dirty="0">
              <a:latin typeface="Times New Roman" pitchFamily="18" charset="0"/>
              <a:cs typeface="Times New Roman" pitchFamily="18" charset="0"/>
            </a:endParaRPr>
          </a:p>
          <a:p>
            <a:pPr marL="274320" lvl="1" indent="0">
              <a:buNone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sz="2800" i="1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6416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136904" cy="1143000"/>
          </a:xfrm>
        </p:spPr>
        <p:txBody>
          <a:bodyPr>
            <a:normAutofit fontScale="90000"/>
          </a:bodyPr>
          <a:lstStyle/>
          <a:p>
            <a:r>
              <a:rPr lang="en-IN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Polynomial Representation using Array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55576" y="1700808"/>
            <a:ext cx="7772400" cy="457200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35088"/>
            <a:ext cx="3953247" cy="444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2879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850106"/>
          </a:xfrm>
        </p:spPr>
        <p:txBody>
          <a:bodyPr>
            <a:normAutofit/>
          </a:bodyPr>
          <a:lstStyle/>
          <a:p>
            <a:r>
              <a:rPr lang="en-IN" sz="3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Polynomial Addition using Array</a:t>
            </a:r>
            <a:endParaRPr lang="en-IN" sz="3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556792"/>
            <a:ext cx="7344816" cy="4489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1203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81" y="1550531"/>
            <a:ext cx="6618255" cy="4110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908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06090"/>
          </a:xfrm>
        </p:spPr>
        <p:txBody>
          <a:bodyPr>
            <a:normAutofit/>
          </a:bodyPr>
          <a:lstStyle/>
          <a:p>
            <a:r>
              <a:rPr lang="en-IN" sz="3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Polynomial Addition Algorithm</a:t>
            </a:r>
            <a:endParaRPr lang="en-IN" sz="3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447800"/>
            <a:ext cx="8435280" cy="5077544"/>
          </a:xfrm>
        </p:spPr>
        <p:txBody>
          <a:bodyPr/>
          <a:lstStyle/>
          <a:p>
            <a:pPr marL="0" indent="0">
              <a:buNone/>
            </a:pPr>
            <a:r>
              <a:rPr lang="en-IN" b="1" u="sng" dirty="0" smtClean="0">
                <a:latin typeface="Times New Roman" pitchFamily="18" charset="0"/>
                <a:cs typeface="Times New Roman" pitchFamily="18" charset="0"/>
              </a:rPr>
              <a:t>Algorithm main()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7" y="1988840"/>
            <a:ext cx="7873747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9952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447799"/>
            <a:ext cx="8507288" cy="529541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12776"/>
            <a:ext cx="6480720" cy="5164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5177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188640"/>
            <a:ext cx="8712968" cy="64807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90708"/>
            <a:ext cx="6696744" cy="6650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01001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88640"/>
            <a:ext cx="8964488" cy="666936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76494"/>
            <a:ext cx="5472608" cy="666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1194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116632"/>
            <a:ext cx="7772400" cy="706090"/>
          </a:xfrm>
        </p:spPr>
        <p:txBody>
          <a:bodyPr>
            <a:noAutofit/>
          </a:bodyPr>
          <a:lstStyle/>
          <a:p>
            <a:pPr algn="ctr"/>
            <a:r>
              <a:rPr lang="en-IN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Sparse Matrix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836712"/>
            <a:ext cx="8856984" cy="583264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908720"/>
            <a:ext cx="8488560" cy="2396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2647" y="3068960"/>
            <a:ext cx="5785817" cy="3637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3238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784976" cy="640871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836712"/>
            <a:ext cx="6912768" cy="5309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5617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260648"/>
            <a:ext cx="8640960" cy="633670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620688"/>
            <a:ext cx="6120680" cy="555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03542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332656"/>
            <a:ext cx="8712968" cy="633670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25212"/>
            <a:ext cx="8064896" cy="5409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47941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88640"/>
            <a:ext cx="8507288" cy="583116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60648"/>
            <a:ext cx="7632848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013176"/>
            <a:ext cx="7632848" cy="1485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21388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260648"/>
            <a:ext cx="8640960" cy="633670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800054"/>
            <a:ext cx="7002426" cy="5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08622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507288" cy="575915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76672"/>
            <a:ext cx="8208912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01505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332656"/>
            <a:ext cx="8435280" cy="61206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800" b="1" u="sng" dirty="0" smtClean="0">
                <a:latin typeface="Times New Roman" pitchFamily="18" charset="0"/>
                <a:cs typeface="Times New Roman" pitchFamily="18" charset="0"/>
              </a:rPr>
              <a:t>Sparse Matrix Representation as Tuple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412776"/>
            <a:ext cx="7776864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261624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49811"/>
            <a:ext cx="7772400" cy="634082"/>
          </a:xfrm>
        </p:spPr>
        <p:txBody>
          <a:bodyPr>
            <a:normAutofit/>
          </a:bodyPr>
          <a:lstStyle/>
          <a:p>
            <a:r>
              <a:rPr lang="en-IN" sz="28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IN" sz="2800" b="1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908720"/>
            <a:ext cx="8892480" cy="583264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908720"/>
            <a:ext cx="7776864" cy="576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06439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88640"/>
            <a:ext cx="8784976" cy="64807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43884"/>
            <a:ext cx="8064896" cy="6353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50818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692696"/>
            <a:ext cx="7129843" cy="4968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69068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88640"/>
            <a:ext cx="8784976" cy="648072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76672"/>
            <a:ext cx="7734424" cy="5544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61866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476672"/>
            <a:ext cx="8363272" cy="6120680"/>
          </a:xfrm>
        </p:spPr>
        <p:txBody>
          <a:bodyPr/>
          <a:lstStyle/>
          <a:p>
            <a:pPr marL="0" indent="0">
              <a:buNone/>
            </a:pPr>
            <a:r>
              <a:rPr lang="en-IN" sz="2800" b="1" u="sng" dirty="0" smtClean="0">
                <a:latin typeface="Times New Roman" pitchFamily="18" charset="0"/>
                <a:cs typeface="Times New Roman" pitchFamily="18" charset="0"/>
              </a:rPr>
              <a:t>Algorithm </a:t>
            </a:r>
            <a:r>
              <a:rPr lang="en-IN" sz="2800" b="1" u="sng" dirty="0" err="1" smtClean="0">
                <a:latin typeface="Times New Roman" pitchFamily="18" charset="0"/>
                <a:cs typeface="Times New Roman" pitchFamily="18" charset="0"/>
              </a:rPr>
              <a:t>SparseTranspose</a:t>
            </a:r>
            <a:r>
              <a:rPr lang="en-IN" sz="2800" b="1" u="sng" dirty="0" smtClean="0">
                <a:latin typeface="Times New Roman" pitchFamily="18" charset="0"/>
                <a:cs typeface="Times New Roman" pitchFamily="18" charset="0"/>
              </a:rPr>
              <a:t>(S,T)</a:t>
            </a:r>
          </a:p>
          <a:p>
            <a:pPr marL="514350" indent="-514350">
              <a:buAutoNum type="arabicPeriod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T[0][0]=S[0][1], T[0][1]=S[0][0], T[0][2]=S[0][2]</a:t>
            </a:r>
          </a:p>
          <a:p>
            <a:pPr marL="514350" indent="-514350">
              <a:buAutoNum type="arabicPeriod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=1, m=S[0][1], n=S[0][2]</a:t>
            </a:r>
          </a:p>
          <a:p>
            <a:pPr marL="514350" indent="-514350">
              <a:buAutoNum type="arabicPeriod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For i=0 to m-1 do</a:t>
            </a:r>
          </a:p>
          <a:p>
            <a:pPr marL="274320" lvl="1" indent="0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  3.1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for j=1 to n do</a:t>
            </a:r>
          </a:p>
          <a:p>
            <a:pPr marL="274320" lvl="1" indent="0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3.1.1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if S[j][1]=i then</a:t>
            </a:r>
          </a:p>
          <a:p>
            <a:pPr marL="548640" lvl="2" indent="0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	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	   a) T[k][0]=S[j][1]</a:t>
            </a:r>
          </a:p>
          <a:p>
            <a:pPr marL="548640" lvl="2" indent="0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 	   b) T[k][1]=S[j][0]</a:t>
            </a:r>
          </a:p>
          <a:p>
            <a:pPr marL="548640" lvl="2" indent="0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	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	   c) T[k][2]=S[j][2]</a:t>
            </a:r>
          </a:p>
          <a:p>
            <a:pPr marL="548640" lvl="2" indent="0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 	   d) k=k+1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1713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16632"/>
            <a:ext cx="8712968" cy="648072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6632"/>
            <a:ext cx="8568952" cy="6245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892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332656"/>
            <a:ext cx="8712968" cy="633670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1"/>
            <a:ext cx="6048672" cy="6408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203" y="1772816"/>
            <a:ext cx="2478795" cy="3531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4242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7544" y="404664"/>
            <a:ext cx="8424936" cy="6048672"/>
          </a:xfrm>
        </p:spPr>
        <p:txBody>
          <a:bodyPr/>
          <a:lstStyle/>
          <a:p>
            <a:r>
              <a:rPr lang="en-IN" sz="2800" b="1" i="1" u="sng" dirty="0" smtClean="0">
                <a:latin typeface="Times New Roman" pitchFamily="18" charset="0"/>
                <a:cs typeface="Times New Roman" pitchFamily="18" charset="0"/>
              </a:rPr>
              <a:t>Real Time Examples of Stack:</a:t>
            </a:r>
          </a:p>
          <a:p>
            <a:pPr lvl="1"/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Trains in a railway yard</a:t>
            </a:r>
          </a:p>
          <a:p>
            <a:pPr lvl="1"/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Shipment of cargo</a:t>
            </a:r>
          </a:p>
          <a:p>
            <a:pPr lvl="1"/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b="1" i="1" u="sng" dirty="0" smtClean="0">
                <a:latin typeface="Times New Roman" pitchFamily="18" charset="0"/>
                <a:cs typeface="Times New Roman" pitchFamily="18" charset="0"/>
              </a:rPr>
              <a:t>Applications of Stack:</a:t>
            </a:r>
          </a:p>
          <a:p>
            <a:pPr lvl="1"/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Evaluation of Arithmetic Expressions</a:t>
            </a:r>
          </a:p>
          <a:p>
            <a:pPr lvl="1"/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Implementation of Recursion</a:t>
            </a:r>
          </a:p>
          <a:p>
            <a:pPr lvl="1"/>
            <a:endParaRPr lang="en-IN" sz="2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b="1" u="sng" dirty="0" smtClean="0">
                <a:latin typeface="Times New Roman" pitchFamily="18" charset="0"/>
                <a:cs typeface="Times New Roman" pitchFamily="18" charset="0"/>
              </a:rPr>
              <a:t>Representation of Stack in Memory</a:t>
            </a:r>
            <a:endParaRPr lang="en-IN" sz="2800" b="1" u="sng" dirty="0">
              <a:latin typeface="Times New Roman" pitchFamily="18" charset="0"/>
              <a:cs typeface="Times New Roman" pitchFamily="18" charset="0"/>
            </a:endParaRPr>
          </a:p>
          <a:p>
            <a:pPr marL="834390" lvl="1" indent="-514350">
              <a:buAutoNum type="arabicPeriod"/>
            </a:pP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Array Representation</a:t>
            </a:r>
          </a:p>
          <a:p>
            <a:pPr marL="834390" lvl="1" indent="-514350">
              <a:buAutoNum type="arabicPeriod"/>
            </a:pPr>
            <a:r>
              <a:rPr lang="en-IN" sz="2600" dirty="0" smtClean="0">
                <a:latin typeface="Times New Roman" pitchFamily="18" charset="0"/>
                <a:cs typeface="Times New Roman" pitchFamily="18" charset="0"/>
              </a:rPr>
              <a:t>Linked List Representation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9185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116632"/>
            <a:ext cx="7772400" cy="70609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Array Representation of Stack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908720"/>
            <a:ext cx="8784976" cy="576064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1124744"/>
            <a:ext cx="3384376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285873"/>
            <a:ext cx="4057633" cy="4231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ight Arrow 3"/>
          <p:cNvSpPr/>
          <p:nvPr/>
        </p:nvSpPr>
        <p:spPr>
          <a:xfrm>
            <a:off x="3995936" y="2861491"/>
            <a:ext cx="432048" cy="2794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737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447800"/>
            <a:ext cx="8507288" cy="507754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72816"/>
            <a:ext cx="3672408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578" y="1556792"/>
            <a:ext cx="3312368" cy="4374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ight Arrow 3"/>
          <p:cNvSpPr/>
          <p:nvPr/>
        </p:nvSpPr>
        <p:spPr>
          <a:xfrm>
            <a:off x="4156720" y="3537011"/>
            <a:ext cx="559296" cy="3960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0904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332656"/>
            <a:ext cx="9036496" cy="626469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560900"/>
            <a:ext cx="7776864" cy="50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76278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116632"/>
            <a:ext cx="9036496" cy="648072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96" y="955308"/>
            <a:ext cx="4108117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168860"/>
            <a:ext cx="3519331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ight Arrow 3"/>
          <p:cNvSpPr/>
          <p:nvPr/>
        </p:nvSpPr>
        <p:spPr>
          <a:xfrm>
            <a:off x="4283968" y="3933056"/>
            <a:ext cx="792088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1829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188640"/>
            <a:ext cx="9036496" cy="666936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68760"/>
            <a:ext cx="4514385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109813"/>
            <a:ext cx="2880320" cy="3263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ight Arrow 3"/>
          <p:cNvSpPr/>
          <p:nvPr/>
        </p:nvSpPr>
        <p:spPr>
          <a:xfrm>
            <a:off x="4693897" y="3344354"/>
            <a:ext cx="897873" cy="3969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2115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332656"/>
            <a:ext cx="8712968" cy="626469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908720"/>
            <a:ext cx="8280920" cy="4968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590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332656"/>
            <a:ext cx="8712968" cy="626469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106" y="782750"/>
            <a:ext cx="8064896" cy="4734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45765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640960" cy="626469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60649"/>
            <a:ext cx="7776864" cy="5966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11433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640960" cy="626469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76672"/>
            <a:ext cx="8424936" cy="6013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40567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784976" cy="64087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20688"/>
            <a:ext cx="8244223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1963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04664"/>
            <a:ext cx="8640960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83428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856984" cy="633670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444" y="404664"/>
            <a:ext cx="8002504" cy="5951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42133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548680"/>
            <a:ext cx="8291264" cy="547112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30868"/>
            <a:ext cx="7776864" cy="240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83806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88640"/>
            <a:ext cx="8856984" cy="64807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60648"/>
            <a:ext cx="4104456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30414"/>
            <a:ext cx="4170963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0045" y="4653136"/>
            <a:ext cx="3153147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25075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260648"/>
            <a:ext cx="8568952" cy="626469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673753"/>
            <a:ext cx="8280920" cy="5462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05075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404664"/>
            <a:ext cx="8784976" cy="612068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556792"/>
            <a:ext cx="3778374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533274"/>
            <a:ext cx="3374795" cy="3335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ight Arrow 3"/>
          <p:cNvSpPr/>
          <p:nvPr/>
        </p:nvSpPr>
        <p:spPr>
          <a:xfrm>
            <a:off x="4139952" y="2852936"/>
            <a:ext cx="576064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6022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712968" cy="626469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620688"/>
            <a:ext cx="8073896" cy="5544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35043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260648"/>
            <a:ext cx="8363272" cy="575915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58" y="620688"/>
            <a:ext cx="7691258" cy="3788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09099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332656"/>
            <a:ext cx="8640960" cy="619268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92696"/>
            <a:ext cx="7971532" cy="3501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24398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260648"/>
            <a:ext cx="8712968" cy="633670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9" y="399522"/>
            <a:ext cx="8352928" cy="5521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08213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88640"/>
            <a:ext cx="8712968" cy="64807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45050"/>
            <a:ext cx="8557298" cy="6252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41867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0"/>
            <a:ext cx="8712968" cy="652534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38" y="188640"/>
            <a:ext cx="8420990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38" y="4167157"/>
            <a:ext cx="8420990" cy="2454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64299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784976" cy="633670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80574"/>
            <a:ext cx="8022721" cy="6144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562093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260648"/>
            <a:ext cx="8712968" cy="64087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89" y="332656"/>
            <a:ext cx="8284690" cy="6192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28681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332656"/>
            <a:ext cx="8784976" cy="633670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31" y="476672"/>
            <a:ext cx="8453739" cy="5976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53639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404664"/>
            <a:ext cx="8784976" cy="619268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20688"/>
            <a:ext cx="8398086" cy="5547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443029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332656"/>
            <a:ext cx="8784976" cy="626469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646785"/>
            <a:ext cx="8136904" cy="5515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42259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260648"/>
            <a:ext cx="8712968" cy="64087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20688"/>
            <a:ext cx="8554734" cy="520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30914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784976" cy="633670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647953"/>
            <a:ext cx="7848871" cy="5725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772456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318" y="1556793"/>
            <a:ext cx="6347985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62741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332656"/>
            <a:ext cx="8579296" cy="633670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20688"/>
            <a:ext cx="5112567" cy="568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4005064"/>
            <a:ext cx="3429000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935603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404664"/>
            <a:ext cx="9036496" cy="619268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004423"/>
            <a:ext cx="5112568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4149080"/>
            <a:ext cx="3057525" cy="180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998817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16632"/>
            <a:ext cx="8856984" cy="64807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76672"/>
            <a:ext cx="5400600" cy="568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0212" y="3861048"/>
            <a:ext cx="3734576" cy="202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409635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16632"/>
            <a:ext cx="8712968" cy="662473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88640"/>
            <a:ext cx="8064896" cy="6534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77504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712968" cy="64087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548680"/>
            <a:ext cx="8720053" cy="6048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112274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784976" cy="64087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32656"/>
            <a:ext cx="7992888" cy="603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390423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7544" y="332656"/>
            <a:ext cx="8280920" cy="626469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08" y="861137"/>
            <a:ext cx="6222136" cy="5160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737191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332656"/>
            <a:ext cx="8928992" cy="633670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764704"/>
            <a:ext cx="4824536" cy="568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3540" y="3933056"/>
            <a:ext cx="3664683" cy="18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421518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784976" cy="64087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76672"/>
            <a:ext cx="4409791" cy="5904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3933056"/>
            <a:ext cx="3672408" cy="1808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474335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784976" cy="633670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764704"/>
            <a:ext cx="5143500" cy="5544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4225730"/>
            <a:ext cx="3209428" cy="1795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911601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88640"/>
            <a:ext cx="8640960" cy="64087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74897"/>
            <a:ext cx="7848872" cy="6281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65085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332656"/>
            <a:ext cx="8640960" cy="633670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548680"/>
            <a:ext cx="8114484" cy="5749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958032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260648"/>
            <a:ext cx="8712968" cy="64087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69628"/>
            <a:ext cx="8094438" cy="5739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495306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260648"/>
            <a:ext cx="8496944" cy="626469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954832"/>
            <a:ext cx="7903630" cy="4130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320634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332656"/>
            <a:ext cx="8640960" cy="633670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824" y="463767"/>
            <a:ext cx="8280920" cy="6089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511140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885" y="1628800"/>
            <a:ext cx="6643549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563353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188640"/>
            <a:ext cx="8784976" cy="64087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92696"/>
            <a:ext cx="8424936" cy="54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186671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332656"/>
            <a:ext cx="8712968" cy="612068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620688"/>
            <a:ext cx="8064896" cy="5040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474880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404664"/>
            <a:ext cx="8568952" cy="619268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1" y="1067902"/>
            <a:ext cx="5390158" cy="4418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441332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260648"/>
            <a:ext cx="8568952" cy="626469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817" y="476672"/>
            <a:ext cx="6535936" cy="5984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214640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16632"/>
            <a:ext cx="9036496" cy="655272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99" y="764704"/>
            <a:ext cx="8269718" cy="5544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0846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332656"/>
            <a:ext cx="8640960" cy="619268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94" y="752288"/>
            <a:ext cx="7420098" cy="5629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842090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88640"/>
            <a:ext cx="8784976" cy="64807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836712"/>
            <a:ext cx="4104456" cy="5616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836712"/>
            <a:ext cx="4428810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230797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260648"/>
            <a:ext cx="8712968" cy="64087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59" y="332656"/>
            <a:ext cx="8477113" cy="6192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3287275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770328" cy="633670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714" y="620688"/>
            <a:ext cx="8542126" cy="576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831148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260648"/>
            <a:ext cx="8640960" cy="633670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00817"/>
            <a:ext cx="7920879" cy="6056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42994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332656"/>
            <a:ext cx="8549156" cy="612068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08720"/>
            <a:ext cx="8261124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587860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556792"/>
            <a:ext cx="7784065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184321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404664"/>
            <a:ext cx="8507288" cy="619268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7" y="1052736"/>
            <a:ext cx="8136904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4163596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332656"/>
            <a:ext cx="8507288" cy="612068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80727"/>
            <a:ext cx="7776864" cy="3266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75731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507288" cy="575915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815721"/>
            <a:ext cx="8161740" cy="4968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838493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640960" cy="619268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555344"/>
            <a:ext cx="7992888" cy="5499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115304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404664"/>
            <a:ext cx="8640960" cy="633670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815396"/>
            <a:ext cx="8462940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731042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332656"/>
            <a:ext cx="8712968" cy="597666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620688"/>
            <a:ext cx="8065849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931248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95536" y="332656"/>
            <a:ext cx="8291264" cy="619268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620688"/>
            <a:ext cx="8148535" cy="5544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187262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332656"/>
            <a:ext cx="8568952" cy="6264696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366" y="692696"/>
            <a:ext cx="6936978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477137"/>
            <a:ext cx="5906292" cy="770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9" y="5223939"/>
            <a:ext cx="5112568" cy="630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423907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404664"/>
            <a:ext cx="8712968" cy="619268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548681"/>
            <a:ext cx="7776864" cy="2602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009" y="3714488"/>
            <a:ext cx="5604247" cy="794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5299267"/>
            <a:ext cx="4026260" cy="712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929939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7544" y="548680"/>
            <a:ext cx="8424936" cy="5976664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816100"/>
            <a:ext cx="8023749" cy="4759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197146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332656"/>
            <a:ext cx="8640960" cy="64087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20688"/>
            <a:ext cx="8749218" cy="5832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2357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038" y="0"/>
            <a:ext cx="7772400" cy="673100"/>
          </a:xfrm>
        </p:spPr>
        <p:txBody>
          <a:bodyPr>
            <a:normAutofit/>
          </a:bodyPr>
          <a:lstStyle/>
          <a:p>
            <a:r>
              <a:rPr lang="en-IN" sz="2200" b="1" u="sng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IN" sz="22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Infix to Postfix Conversion using stack</a:t>
            </a:r>
            <a:endParaRPr lang="en-IN" sz="2200" b="1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620688"/>
            <a:ext cx="8784976" cy="623731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620688"/>
            <a:ext cx="4176464" cy="6050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951821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188640"/>
            <a:ext cx="8712968" cy="666936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60648"/>
            <a:ext cx="4392488" cy="64660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216093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784976" cy="6264696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505320"/>
            <a:ext cx="7704855" cy="5659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119369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88640"/>
            <a:ext cx="8712968" cy="64807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04664"/>
            <a:ext cx="7992887" cy="6192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20729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9552" y="1447800"/>
            <a:ext cx="8147248" cy="4789512"/>
          </a:xfrm>
        </p:spPr>
        <p:txBody>
          <a:bodyPr/>
          <a:lstStyle/>
          <a:p>
            <a:pPr marL="0" indent="0">
              <a:buNone/>
            </a:pP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: Infix to Prefix Conversion (for steps refer your class note)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348880"/>
            <a:ext cx="5791200" cy="367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370945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88640"/>
            <a:ext cx="8784976" cy="640871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14505"/>
            <a:ext cx="8409440" cy="6048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552124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7544" y="692696"/>
            <a:ext cx="8219256" cy="6165304"/>
          </a:xfrm>
        </p:spPr>
        <p:txBody>
          <a:bodyPr/>
          <a:lstStyle/>
          <a:p>
            <a:pPr marL="0" indent="0">
              <a:buNone/>
            </a:pP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: Prefix Evaluation (For steps refer your class note)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046661"/>
            <a:ext cx="6120680" cy="4550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117206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116632"/>
            <a:ext cx="7772400" cy="504056"/>
          </a:xfrm>
        </p:spPr>
        <p:txBody>
          <a:bodyPr>
            <a:normAutofit/>
          </a:bodyPr>
          <a:lstStyle/>
          <a:p>
            <a:pPr algn="ctr"/>
            <a:r>
              <a:rPr lang="en-IN" sz="2400" b="1" u="sng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University Questions</a:t>
            </a:r>
            <a:endParaRPr lang="en-IN" sz="2400" b="1" u="sng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620688"/>
            <a:ext cx="8784976" cy="6120680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IN" sz="3600" b="1" dirty="0">
                <a:latin typeface="Times New Roman" pitchFamily="18" charset="0"/>
                <a:cs typeface="Times New Roman" pitchFamily="18" charset="0"/>
              </a:rPr>
              <a:t>Part A ( Each Question carries 3 marks)</a:t>
            </a:r>
            <a:endParaRPr lang="en-IN" sz="3600" dirty="0">
              <a:latin typeface="Times New Roman" pitchFamily="18" charset="0"/>
              <a:cs typeface="Times New Roman" pitchFamily="18" charset="0"/>
            </a:endParaRPr>
          </a:p>
          <a:p>
            <a:pPr marL="0" lvl="0" indent="0">
              <a:buNone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1. Write </a:t>
            </a: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an algorithm to insert a new element in a particular position of an array.</a:t>
            </a:r>
          </a:p>
          <a:p>
            <a:pPr marL="0" indent="0">
              <a:buNone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0" lvl="0" indent="0">
              <a:buNone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2. Represent </a:t>
            </a: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the polynomial P(X,Y) = 10X7Y 7+5X6Y 5+4X4Y 2+8X2+25 using array of structures. </a:t>
            </a:r>
          </a:p>
          <a:p>
            <a:pPr marL="0" indent="0">
              <a:buNone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0" lvl="0" indent="0">
              <a:buNone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3. Given </a:t>
            </a: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a matrix having 10 rows and 10 columns and 12 nonzero elements. How much space can be saved by representing the matrix in sparse (tuple) form?</a:t>
            </a:r>
          </a:p>
          <a:p>
            <a:pPr marL="0" indent="0">
              <a:buNone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0" lvl="0" indent="0">
              <a:buNone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4. Write </a:t>
            </a: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any three applications of Stack. </a:t>
            </a:r>
          </a:p>
          <a:p>
            <a:pPr marL="0" indent="0">
              <a:buNone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0" lvl="0" indent="0">
              <a:buNone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5. Explain </a:t>
            </a: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PUSH and POP operations in stack. </a:t>
            </a:r>
          </a:p>
          <a:p>
            <a:pPr marL="0" indent="0">
              <a:buNone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0" lvl="0" indent="0">
              <a:buNone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6. Convert </a:t>
            </a: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the expression A + B * C – D / E * H to postfix form. Show each step in the conversion including the stack contents</a:t>
            </a:r>
          </a:p>
          <a:p>
            <a:pPr marL="0" indent="0">
              <a:buNone/>
            </a:pP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0" lvl="0" indent="0">
              <a:buNone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7. Find </a:t>
            </a: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the postfix expressions of the following infix expression                                                      </a:t>
            </a:r>
            <a:endParaRPr lang="en-IN" sz="32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>
              <a:buNone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a) (A+B)*K+D/(E+F*G)+H   	</a:t>
            </a: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) ((A/D+B)*(K^Y)) </a:t>
            </a:r>
          </a:p>
          <a:p>
            <a:endParaRPr lang="en-IN" sz="3200" dirty="0">
              <a:latin typeface="Times New Roman" pitchFamily="18" charset="0"/>
              <a:cs typeface="Times New Roman" pitchFamily="18" charset="0"/>
            </a:endParaRPr>
          </a:p>
          <a:p>
            <a:pPr marL="0" lvl="0" indent="0">
              <a:buNone/>
            </a:pP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>8. Convert </a:t>
            </a:r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the expression ((A/(B-D+E))*(F-G)*H) to postfix form. Show each step in the conversion including the stack contents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674186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260648"/>
            <a:ext cx="8784976" cy="63367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PART B</a:t>
            </a:r>
          </a:p>
          <a:p>
            <a:pPr marL="0" indent="0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1. a. Write the binary search algorithms and demonstrate it with an example. 		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				(8 marks) 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b. Explain the data Structure Stack in detail. Display the status of a stack with maximum capacity 5.on the following operations (in order ) on it. Pop( ), Push(5), push(4), Pop( ), Push(9) 	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          (6 marks) 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0" indent="0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2. a. Write the algorithm to evaluate Postfix expression and show each steps in the evaluation of the expression: 2 3 + 8 – 5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       (8 marks) 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b. What do you mean by circular queue? Write algorithms to insert and delete elements on circular queue.	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	           (6 marks)</a:t>
            </a:r>
          </a:p>
          <a:p>
            <a:pPr marL="0" indent="0"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3. a. Discuss an algorithm to convert an infix expression to a postfix expression 		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                       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8 marks)</a:t>
            </a:r>
          </a:p>
          <a:p>
            <a:pPr marL="0" indent="0">
              <a:buNone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. Write an algorithm to find the transpose of a matrix represented in tuple form            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                                          (6 marks) </a:t>
            </a:r>
          </a:p>
          <a:p>
            <a:pPr marL="0" indent="0"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7040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07504" y="188640"/>
            <a:ext cx="8928992" cy="648072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3000" dirty="0">
                <a:latin typeface="Times New Roman" pitchFamily="18" charset="0"/>
                <a:cs typeface="Times New Roman" pitchFamily="18" charset="0"/>
              </a:rPr>
              <a:t>4. a. Write algorithms to insert and delete elements from a circular Queue          </a:t>
            </a:r>
            <a:r>
              <a:rPr lang="en-IN" sz="3000" dirty="0" smtClean="0">
                <a:latin typeface="Times New Roman" pitchFamily="18" charset="0"/>
                <a:cs typeface="Times New Roman" pitchFamily="18" charset="0"/>
              </a:rPr>
              <a:t>(6 marks) </a:t>
            </a:r>
            <a:endParaRPr lang="en-IN" sz="3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30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IN" sz="3000" dirty="0">
                <a:latin typeface="Times New Roman" pitchFamily="18" charset="0"/>
                <a:cs typeface="Times New Roman" pitchFamily="18" charset="0"/>
              </a:rPr>
              <a:t>. Write an algorithm to add two polynomials represented using </a:t>
            </a:r>
            <a:r>
              <a:rPr lang="en-IN" sz="3000" dirty="0" smtClean="0">
                <a:latin typeface="Times New Roman" pitchFamily="18" charset="0"/>
                <a:cs typeface="Times New Roman" pitchFamily="18" charset="0"/>
              </a:rPr>
              <a:t>arrays              (8 marks)</a:t>
            </a:r>
            <a:endParaRPr lang="en-IN" sz="3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30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0" indent="0">
              <a:buNone/>
            </a:pPr>
            <a:r>
              <a:rPr lang="en-IN" sz="3000" dirty="0">
                <a:latin typeface="Times New Roman" pitchFamily="18" charset="0"/>
                <a:cs typeface="Times New Roman" pitchFamily="18" charset="0"/>
              </a:rPr>
              <a:t>5. a. What is sparse matrix? Write an algorithm to add two sparse matrices.       </a:t>
            </a:r>
            <a:r>
              <a:rPr lang="en-IN" sz="3000" dirty="0" smtClean="0">
                <a:latin typeface="Times New Roman" pitchFamily="18" charset="0"/>
                <a:cs typeface="Times New Roman" pitchFamily="18" charset="0"/>
              </a:rPr>
              <a:t>(10 marks)</a:t>
            </a:r>
          </a:p>
          <a:p>
            <a:pPr marL="0" indent="0">
              <a:buNone/>
            </a:pPr>
            <a:r>
              <a:rPr lang="en-IN" sz="30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IN" sz="3000" dirty="0">
                <a:latin typeface="Times New Roman" pitchFamily="18" charset="0"/>
                <a:cs typeface="Times New Roman" pitchFamily="18" charset="0"/>
              </a:rPr>
              <a:t>b. Write an algorithm to insert an element to a circular queue using array. 	</a:t>
            </a:r>
            <a:r>
              <a:rPr lang="en-IN" sz="3000" dirty="0" smtClean="0">
                <a:latin typeface="Times New Roman" pitchFamily="18" charset="0"/>
                <a:cs typeface="Times New Roman" pitchFamily="18" charset="0"/>
              </a:rPr>
              <a:t>(4 marks) </a:t>
            </a:r>
            <a:endParaRPr lang="en-IN" sz="3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30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0" indent="0">
              <a:buNone/>
            </a:pPr>
            <a:r>
              <a:rPr lang="en-IN" sz="3000" dirty="0">
                <a:latin typeface="Times New Roman" pitchFamily="18" charset="0"/>
                <a:cs typeface="Times New Roman" pitchFamily="18" charset="0"/>
              </a:rPr>
              <a:t>6. a. Convert P*(Q+R)/S to postfix notation. Write algorithm and step-by-step conversion using the stack. 					</a:t>
            </a:r>
            <a:r>
              <a:rPr lang="en-IN" sz="3000" dirty="0" smtClean="0">
                <a:latin typeface="Times New Roman" pitchFamily="18" charset="0"/>
                <a:cs typeface="Times New Roman" pitchFamily="18" charset="0"/>
              </a:rPr>
              <a:t>(10 marks) </a:t>
            </a:r>
            <a:endParaRPr lang="en-IN" sz="3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30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IN" sz="3000" dirty="0">
                <a:latin typeface="Times New Roman" pitchFamily="18" charset="0"/>
                <a:cs typeface="Times New Roman" pitchFamily="18" charset="0"/>
              </a:rPr>
              <a:t>. Write an algorithm to search an element using binary search. Discuss its time complexity.                                                                                                                             </a:t>
            </a:r>
            <a:r>
              <a:rPr lang="en-IN" sz="3000" dirty="0" smtClean="0">
                <a:latin typeface="Times New Roman" pitchFamily="18" charset="0"/>
                <a:cs typeface="Times New Roman" pitchFamily="18" charset="0"/>
              </a:rPr>
              <a:t>						(4 marks)</a:t>
            </a:r>
            <a:endParaRPr lang="en-IN" sz="3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30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0" indent="0">
              <a:buNone/>
            </a:pPr>
            <a:r>
              <a:rPr lang="en-IN" sz="3000" dirty="0">
                <a:latin typeface="Times New Roman" pitchFamily="18" charset="0"/>
                <a:cs typeface="Times New Roman" pitchFamily="18" charset="0"/>
              </a:rPr>
              <a:t>7. a. Write algorithms to insert and delete elements from a double ended queue. Demonstrate with examples 						</a:t>
            </a:r>
            <a:r>
              <a:rPr lang="en-IN" sz="3000" dirty="0" smtClean="0">
                <a:latin typeface="Times New Roman" pitchFamily="18" charset="0"/>
                <a:cs typeface="Times New Roman" pitchFamily="18" charset="0"/>
              </a:rPr>
              <a:t>(10 marks) </a:t>
            </a:r>
          </a:p>
          <a:p>
            <a:pPr marL="0" indent="0">
              <a:buNone/>
            </a:pPr>
            <a:r>
              <a:rPr lang="en-IN" sz="30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IN" sz="3000" dirty="0">
                <a:latin typeface="Times New Roman" pitchFamily="18" charset="0"/>
                <a:cs typeface="Times New Roman" pitchFamily="18" charset="0"/>
              </a:rPr>
              <a:t>b. Compare and contrast Circular Queue with a Normal Queue 		</a:t>
            </a:r>
            <a:r>
              <a:rPr lang="en-IN" sz="3000" dirty="0" smtClean="0">
                <a:latin typeface="Times New Roman" pitchFamily="18" charset="0"/>
                <a:cs typeface="Times New Roman" pitchFamily="18" charset="0"/>
              </a:rPr>
              <a:t>(4 marks)</a:t>
            </a:r>
            <a:endParaRPr lang="en-IN" sz="3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sz="3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3000" dirty="0">
                <a:latin typeface="Times New Roman" pitchFamily="18" charset="0"/>
                <a:cs typeface="Times New Roman" pitchFamily="18" charset="0"/>
              </a:rPr>
              <a:t>8.  a. Write an algorithm to insert and delete elements from a Priority Queue 	</a:t>
            </a:r>
            <a:r>
              <a:rPr lang="en-IN" sz="3000" dirty="0" smtClean="0">
                <a:latin typeface="Times New Roman" pitchFamily="18" charset="0"/>
                <a:cs typeface="Times New Roman" pitchFamily="18" charset="0"/>
              </a:rPr>
              <a:t>(8 marks)                     </a:t>
            </a:r>
            <a:r>
              <a:rPr lang="en-IN" sz="3000" dirty="0">
                <a:latin typeface="Times New Roman" pitchFamily="18" charset="0"/>
                <a:cs typeface="Times New Roman" pitchFamily="18" charset="0"/>
              </a:rPr>
              <a:t>b. Discuss an algorithm to convert an infix expression to a prefix expression	</a:t>
            </a:r>
            <a:r>
              <a:rPr lang="en-IN" sz="3000" dirty="0" smtClean="0">
                <a:latin typeface="Times New Roman" pitchFamily="18" charset="0"/>
                <a:cs typeface="Times New Roman" pitchFamily="18" charset="0"/>
              </a:rPr>
              <a:t>(6 marks)</a:t>
            </a:r>
            <a:endParaRPr lang="en-IN" sz="3000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22755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855</TotalTime>
  <Words>344</Words>
  <Application>Microsoft Office PowerPoint</Application>
  <PresentationFormat>On-screen Show (4:3)</PresentationFormat>
  <Paragraphs>113</Paragraphs>
  <Slides>118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118</vt:i4>
      </vt:variant>
    </vt:vector>
  </HeadingPairs>
  <TitlesOfParts>
    <vt:vector size="119" baseType="lpstr">
      <vt:lpstr>Equity</vt:lpstr>
      <vt:lpstr>DATA STRUCTURES – CST 201 MODULE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Operations on Array</vt:lpstr>
      <vt:lpstr>PowerPoint Presentation</vt:lpstr>
      <vt:lpstr>PowerPoint Presentation</vt:lpstr>
      <vt:lpstr>PowerPoint Presentation</vt:lpstr>
      <vt:lpstr>PowerPoint Presentation</vt:lpstr>
      <vt:lpstr>Algorithm LinearSearch(A,n,search_data)</vt:lpstr>
      <vt:lpstr>PowerPoint Presentation</vt:lpstr>
      <vt:lpstr>PowerPoint Presentation</vt:lpstr>
      <vt:lpstr>Algorithm BinarySearch(A,low,high,search_data)</vt:lpstr>
      <vt:lpstr>Polynomial Representation using Array</vt:lpstr>
      <vt:lpstr>Polynomial Addition using Array</vt:lpstr>
      <vt:lpstr>PowerPoint Presentation</vt:lpstr>
      <vt:lpstr>Polynomial Addition Algorithm</vt:lpstr>
      <vt:lpstr>PowerPoint Presentation</vt:lpstr>
      <vt:lpstr>PowerPoint Presentation</vt:lpstr>
      <vt:lpstr>PowerPoint Presentation</vt:lpstr>
      <vt:lpstr>Sparse Matrix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Array Representation of Stack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Eg: Infix to Postfix Conversion using stack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University Questions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– CST 201 MODULE 2</dc:title>
  <dc:creator>Ms. Cinita Mary Mathew</dc:creator>
  <cp:lastModifiedBy>Ms. Cinita Mary Mathew</cp:lastModifiedBy>
  <cp:revision>76</cp:revision>
  <cp:lastPrinted>2023-10-04T10:29:56Z</cp:lastPrinted>
  <dcterms:created xsi:type="dcterms:W3CDTF">2023-08-21T04:11:10Z</dcterms:created>
  <dcterms:modified xsi:type="dcterms:W3CDTF">2023-10-11T09:35:02Z</dcterms:modified>
</cp:coreProperties>
</file>