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307" r:id="rId9"/>
    <p:sldId id="263" r:id="rId10"/>
    <p:sldId id="264" r:id="rId11"/>
    <p:sldId id="326" r:id="rId12"/>
    <p:sldId id="303" r:id="rId13"/>
    <p:sldId id="302" r:id="rId14"/>
    <p:sldId id="267" r:id="rId15"/>
    <p:sldId id="268" r:id="rId16"/>
    <p:sldId id="270" r:id="rId17"/>
    <p:sldId id="271" r:id="rId18"/>
    <p:sldId id="272" r:id="rId19"/>
    <p:sldId id="304" r:id="rId20"/>
    <p:sldId id="306" r:id="rId21"/>
    <p:sldId id="305" r:id="rId22"/>
    <p:sldId id="308" r:id="rId23"/>
    <p:sldId id="269" r:id="rId24"/>
    <p:sldId id="327" r:id="rId25"/>
    <p:sldId id="328" r:id="rId26"/>
    <p:sldId id="329" r:id="rId27"/>
    <p:sldId id="330" r:id="rId28"/>
    <p:sldId id="273" r:id="rId29"/>
    <p:sldId id="274" r:id="rId30"/>
    <p:sldId id="289" r:id="rId31"/>
    <p:sldId id="311" r:id="rId32"/>
    <p:sldId id="312" r:id="rId33"/>
    <p:sldId id="332" r:id="rId34"/>
    <p:sldId id="331" r:id="rId35"/>
    <p:sldId id="313" r:id="rId36"/>
    <p:sldId id="334" r:id="rId37"/>
    <p:sldId id="333" r:id="rId38"/>
    <p:sldId id="340" r:id="rId39"/>
    <p:sldId id="335" r:id="rId40"/>
    <p:sldId id="336" r:id="rId41"/>
    <p:sldId id="337" r:id="rId42"/>
    <p:sldId id="338" r:id="rId43"/>
    <p:sldId id="339" r:id="rId44"/>
    <p:sldId id="314" r:id="rId45"/>
    <p:sldId id="315" r:id="rId46"/>
    <p:sldId id="316" r:id="rId47"/>
    <p:sldId id="317" r:id="rId48"/>
    <p:sldId id="319" r:id="rId49"/>
    <p:sldId id="320" r:id="rId5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26" autoAdjust="0"/>
    <p:restoredTop sz="94660"/>
  </p:normalViewPr>
  <p:slideViewPr>
    <p:cSldViewPr>
      <p:cViewPr>
        <p:scale>
          <a:sx n="76" d="100"/>
          <a:sy n="76" d="100"/>
        </p:scale>
        <p:origin x="-318" y="1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Graphs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" y="3581400"/>
            <a:ext cx="8915400" cy="1752600"/>
          </a:xfrm>
        </p:spPr>
        <p:txBody>
          <a:bodyPr>
            <a:normAutofit/>
          </a:bodyPr>
          <a:lstStyle/>
          <a:p>
            <a:r>
              <a:rPr lang="en-US" sz="2400" dirty="0" smtClean="0">
                <a:solidFill>
                  <a:schemeClr val="tx1"/>
                </a:solidFill>
              </a:rPr>
              <a:t>Representation of Graphs, Depth First Search and Breadth First Search on Graphs, Application of Graphs</a:t>
            </a:r>
            <a:endParaRPr lang="en-US" sz="2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just"/>
            <a:r>
              <a:rPr lang="en-US" dirty="0" smtClean="0"/>
              <a:t>Graph is a non linear data structure.</a:t>
            </a:r>
          </a:p>
          <a:p>
            <a:pPr algn="just"/>
            <a:r>
              <a:rPr lang="en-US" dirty="0" smtClean="0"/>
              <a:t>In tree , hierarchical relationship exist among parent and children(one parent and many children)</a:t>
            </a:r>
          </a:p>
          <a:p>
            <a:pPr algn="just"/>
            <a:r>
              <a:rPr lang="en-US" dirty="0" smtClean="0"/>
              <a:t>In graph, there is no such hierarchical relationships. </a:t>
            </a:r>
          </a:p>
          <a:p>
            <a:pPr lvl="1" algn="just"/>
            <a:r>
              <a:rPr lang="en-US" dirty="0" smtClean="0"/>
              <a:t>Tree is a special case of graph.</a:t>
            </a:r>
          </a:p>
          <a:p>
            <a:pPr lvl="1" algn="just"/>
            <a:r>
              <a:rPr lang="en-US" dirty="0" smtClean="0"/>
              <a:t>The size of graph is the number of nodes in it.</a:t>
            </a:r>
          </a:p>
          <a:p>
            <a:pPr lvl="1" algn="just"/>
            <a:r>
              <a:rPr lang="en-US" dirty="0" smtClean="0"/>
              <a:t>Empty graph has size 0.</a:t>
            </a:r>
          </a:p>
          <a:p>
            <a:pPr algn="just"/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00200" y="4092431"/>
            <a:ext cx="4495800" cy="2460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Graph Terminologies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95400"/>
            <a:ext cx="8229600" cy="4343400"/>
          </a:xfrm>
        </p:spPr>
        <p:txBody>
          <a:bodyPr/>
          <a:lstStyle/>
          <a:p>
            <a:r>
              <a:rPr lang="en-US" dirty="0" smtClean="0"/>
              <a:t>A graph G is a data structure consisting of two sets V and E.  i.e.  G=(V,E)</a:t>
            </a:r>
          </a:p>
          <a:p>
            <a:pPr lvl="1"/>
            <a:r>
              <a:rPr lang="en-US" dirty="0" smtClean="0"/>
              <a:t>V is a finite non-empty set of </a:t>
            </a:r>
            <a:r>
              <a:rPr lang="en-US" i="1" dirty="0" smtClean="0"/>
              <a:t>vertices(or nodes)</a:t>
            </a:r>
            <a:r>
              <a:rPr lang="en-US" dirty="0" smtClean="0"/>
              <a:t>. </a:t>
            </a:r>
          </a:p>
          <a:p>
            <a:pPr lvl="1"/>
            <a:r>
              <a:rPr lang="en-US" dirty="0" smtClean="0"/>
              <a:t>E is the set of all edges. </a:t>
            </a:r>
          </a:p>
          <a:p>
            <a:pPr lvl="1"/>
            <a:endParaRPr lang="en-US" dirty="0" smtClean="0"/>
          </a:p>
        </p:txBody>
      </p:sp>
      <p:sp>
        <p:nvSpPr>
          <p:cNvPr id="7" name="Oval 6"/>
          <p:cNvSpPr/>
          <p:nvPr/>
        </p:nvSpPr>
        <p:spPr>
          <a:xfrm>
            <a:off x="4267200" y="5181600"/>
            <a:ext cx="304800" cy="152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4" name="Group 33"/>
          <p:cNvGrpSpPr/>
          <p:nvPr/>
        </p:nvGrpSpPr>
        <p:grpSpPr>
          <a:xfrm>
            <a:off x="2819400" y="3429000"/>
            <a:ext cx="3352800" cy="2274332"/>
            <a:chOff x="2590800" y="4038600"/>
            <a:chExt cx="2920480" cy="2121932"/>
          </a:xfrm>
        </p:grpSpPr>
        <p:sp>
          <p:nvSpPr>
            <p:cNvPr id="5" name="Oval 4"/>
            <p:cNvSpPr/>
            <p:nvPr/>
          </p:nvSpPr>
          <p:spPr>
            <a:xfrm>
              <a:off x="3962400" y="4343400"/>
              <a:ext cx="304800" cy="152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/>
            <p:cNvSpPr/>
            <p:nvPr/>
          </p:nvSpPr>
          <p:spPr>
            <a:xfrm>
              <a:off x="2971800" y="4953000"/>
              <a:ext cx="304800" cy="152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/>
            <p:cNvSpPr/>
            <p:nvPr/>
          </p:nvSpPr>
          <p:spPr>
            <a:xfrm>
              <a:off x="4724400" y="5029200"/>
              <a:ext cx="304800" cy="152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267200" y="4038600"/>
              <a:ext cx="4058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v1</a:t>
              </a:r>
              <a:endParaRPr lang="en-US" dirty="0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105400" y="4876800"/>
              <a:ext cx="4058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v2</a:t>
              </a:r>
              <a:endParaRPr lang="en-US" dirty="0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962400" y="5791200"/>
              <a:ext cx="4058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v3</a:t>
              </a:r>
              <a:endParaRPr lang="en-US" dirty="0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2590800" y="5029200"/>
              <a:ext cx="4058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v4</a:t>
              </a:r>
              <a:endParaRPr lang="en-US" dirty="0"/>
            </a:p>
          </p:txBody>
        </p:sp>
        <p:cxnSp>
          <p:nvCxnSpPr>
            <p:cNvPr id="19" name="Straight Connector 18"/>
            <p:cNvCxnSpPr>
              <a:stCxn id="6" idx="0"/>
              <a:endCxn id="7" idx="1"/>
            </p:cNvCxnSpPr>
            <p:nvPr/>
          </p:nvCxnSpPr>
          <p:spPr>
            <a:xfrm rot="16200000" flipH="1">
              <a:off x="3136706" y="4940493"/>
              <a:ext cx="741583" cy="76659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>
              <a:stCxn id="6" idx="0"/>
              <a:endCxn id="5" idx="3"/>
            </p:cNvCxnSpPr>
            <p:nvPr/>
          </p:nvCxnSpPr>
          <p:spPr>
            <a:xfrm flipV="1">
              <a:off x="3124200" y="4473482"/>
              <a:ext cx="882837" cy="47951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>
              <a:stCxn id="8" idx="5"/>
              <a:endCxn id="5" idx="5"/>
            </p:cNvCxnSpPr>
            <p:nvPr/>
          </p:nvCxnSpPr>
          <p:spPr>
            <a:xfrm flipH="1" flipV="1">
              <a:off x="4222563" y="4473482"/>
              <a:ext cx="762000" cy="6858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>
              <a:stCxn id="5" idx="0"/>
              <a:endCxn id="7" idx="4"/>
            </p:cNvCxnSpPr>
            <p:nvPr/>
          </p:nvCxnSpPr>
          <p:spPr>
            <a:xfrm rot="16200000" flipH="1" flipV="1">
              <a:off x="3313459" y="5014606"/>
              <a:ext cx="1472549" cy="13013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>
              <a:stCxn id="7" idx="5"/>
              <a:endCxn id="8" idx="3"/>
            </p:cNvCxnSpPr>
            <p:nvPr/>
          </p:nvCxnSpPr>
          <p:spPr>
            <a:xfrm rot="5400000" flipH="1" flipV="1">
              <a:off x="4105863" y="5131952"/>
              <a:ext cx="635844" cy="69050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Rectangle 34"/>
          <p:cNvSpPr/>
          <p:nvPr/>
        </p:nvSpPr>
        <p:spPr>
          <a:xfrm>
            <a:off x="304800" y="5867400"/>
            <a:ext cx="8382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/>
              <a:t>V={v1,v2,v3,v4}</a:t>
            </a:r>
          </a:p>
          <a:p>
            <a:r>
              <a:rPr lang="en-US" sz="2000" b="1" dirty="0" smtClean="0"/>
              <a:t>E={(v1,v2),(v1,v3),(v1,v4), (v2,v3),(v3,v4)}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6200"/>
            <a:ext cx="8991600" cy="6781800"/>
          </a:xfrm>
        </p:spPr>
        <p:txBody>
          <a:bodyPr>
            <a:normAutofit/>
          </a:bodyPr>
          <a:lstStyle/>
          <a:p>
            <a:pPr algn="l"/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22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 an undirected graph and G</a:t>
            </a:r>
            <a:r>
              <a:rPr lang="en-US" sz="22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is a directed graph.</a:t>
            </a:r>
            <a:b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V(G</a:t>
            </a:r>
            <a:r>
              <a:rPr lang="en-US" sz="22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= {1,2,3,4}</a:t>
            </a:r>
            <a:b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E(G</a:t>
            </a:r>
            <a:r>
              <a:rPr lang="en-US" sz="22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= {(1,2), (1,3), (1,4), (2,3), (2,4), (3,4)}</a:t>
            </a:r>
            <a:b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V(G</a:t>
            </a:r>
            <a:r>
              <a:rPr lang="en-US" sz="22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= {1,2,3}</a:t>
            </a:r>
            <a:b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E(G</a:t>
            </a:r>
            <a:r>
              <a:rPr lang="en-US" sz="22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= {(1,2), (2,3)}</a:t>
            </a:r>
            <a:r>
              <a:rPr lang="en-US" sz="2000" dirty="0" smtClean="0"/>
              <a:t/>
            </a:r>
            <a:br>
              <a:rPr lang="en-US" sz="2000" dirty="0" smtClean="0"/>
            </a:br>
            <a:endParaRPr lang="en-US" sz="2000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09800" y="76200"/>
            <a:ext cx="4038600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705600"/>
          </a:xfrm>
        </p:spPr>
        <p:txBody>
          <a:bodyPr>
            <a:normAutofit/>
          </a:bodyPr>
          <a:lstStyle/>
          <a:p>
            <a:pPr algn="just"/>
            <a:r>
              <a:rPr lang="en-US" sz="2600" b="1" dirty="0" smtClean="0">
                <a:latin typeface="Times New Roman" pitchFamily="18" charset="0"/>
                <a:cs typeface="Times New Roman" pitchFamily="18" charset="0"/>
              </a:rPr>
              <a:t>Digraph/Directed Graph: 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A graph with only directed edges.</a:t>
            </a:r>
          </a:p>
          <a:p>
            <a:pPr algn="just">
              <a:buNone/>
            </a:pPr>
            <a:endParaRPr lang="en-US" sz="2800" dirty="0" smtClean="0"/>
          </a:p>
          <a:p>
            <a:pPr algn="just"/>
            <a:endParaRPr lang="en-US" sz="2800" dirty="0" smtClean="0"/>
          </a:p>
          <a:p>
            <a:pPr>
              <a:buNone/>
            </a:pPr>
            <a:endParaRPr lang="en-US" b="1" dirty="0" smtClean="0"/>
          </a:p>
          <a:p>
            <a:pPr>
              <a:buNone/>
            </a:pP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	V={v1,v2,v3,v4}</a:t>
            </a:r>
          </a:p>
          <a:p>
            <a:pPr>
              <a:buNone/>
            </a:pP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	E={(v1,v2),(v1,v3),(v2,v3),(v3,v4),(v4,v1)}</a:t>
            </a:r>
          </a:p>
          <a:p>
            <a:pPr>
              <a:buNone/>
            </a:pPr>
            <a:endParaRPr lang="en-US" dirty="0" smtClean="0"/>
          </a:p>
          <a:p>
            <a:r>
              <a:rPr lang="en-US" sz="2600" b="1" dirty="0" smtClean="0">
                <a:latin typeface="Times New Roman" pitchFamily="18" charset="0"/>
                <a:cs typeface="Times New Roman" pitchFamily="18" charset="0"/>
              </a:rPr>
              <a:t>Self loop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: If there is an edge whose starting and end vertices are same, then it is called self loop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b="1" dirty="0" smtClean="0"/>
          </a:p>
          <a:p>
            <a:endParaRPr lang="en-US" dirty="0"/>
          </a:p>
        </p:txBody>
      </p:sp>
      <p:grpSp>
        <p:nvGrpSpPr>
          <p:cNvPr id="16" name="Group 15"/>
          <p:cNvGrpSpPr/>
          <p:nvPr/>
        </p:nvGrpSpPr>
        <p:grpSpPr>
          <a:xfrm>
            <a:off x="3124200" y="685800"/>
            <a:ext cx="2996680" cy="1817132"/>
            <a:chOff x="2286000" y="1676400"/>
            <a:chExt cx="2996680" cy="1817132"/>
          </a:xfrm>
        </p:grpSpPr>
        <p:sp>
          <p:nvSpPr>
            <p:cNvPr id="6" name="Oval 5"/>
            <p:cNvSpPr/>
            <p:nvPr/>
          </p:nvSpPr>
          <p:spPr>
            <a:xfrm>
              <a:off x="3733800" y="1828800"/>
              <a:ext cx="304800" cy="152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/>
            <p:cNvSpPr/>
            <p:nvPr/>
          </p:nvSpPr>
          <p:spPr>
            <a:xfrm>
              <a:off x="2743200" y="2438400"/>
              <a:ext cx="304800" cy="152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/>
            <p:cNvSpPr/>
            <p:nvPr/>
          </p:nvSpPr>
          <p:spPr>
            <a:xfrm>
              <a:off x="3581400" y="3048000"/>
              <a:ext cx="304800" cy="152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4495800" y="2514600"/>
              <a:ext cx="304800" cy="152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" name="Straight Arrow Connector 10"/>
            <p:cNvCxnSpPr>
              <a:stCxn id="6" idx="5"/>
              <a:endCxn id="9" idx="1"/>
            </p:cNvCxnSpPr>
            <p:nvPr/>
          </p:nvCxnSpPr>
          <p:spPr>
            <a:xfrm rot="16200000" flipH="1">
              <a:off x="3978182" y="1974663"/>
              <a:ext cx="578036" cy="54647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>
              <a:stCxn id="6" idx="4"/>
            </p:cNvCxnSpPr>
            <p:nvPr/>
          </p:nvCxnSpPr>
          <p:spPr>
            <a:xfrm rot="5400000">
              <a:off x="3298919" y="2429155"/>
              <a:ext cx="1035236" cy="13932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>
              <a:stCxn id="9" idx="3"/>
              <a:endCxn id="8" idx="7"/>
            </p:cNvCxnSpPr>
            <p:nvPr/>
          </p:nvCxnSpPr>
          <p:spPr>
            <a:xfrm rot="5400000">
              <a:off x="3978182" y="2508063"/>
              <a:ext cx="425636" cy="69887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>
              <a:endCxn id="6" idx="3"/>
            </p:cNvCxnSpPr>
            <p:nvPr/>
          </p:nvCxnSpPr>
          <p:spPr>
            <a:xfrm flipV="1">
              <a:off x="3048000" y="1958882"/>
              <a:ext cx="730437" cy="47951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>
              <a:endCxn id="7" idx="5"/>
            </p:cNvCxnSpPr>
            <p:nvPr/>
          </p:nvCxnSpPr>
          <p:spPr>
            <a:xfrm rot="10800000">
              <a:off x="3003364" y="2568482"/>
              <a:ext cx="622675" cy="57803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/>
            <p:cNvSpPr txBox="1"/>
            <p:nvPr/>
          </p:nvSpPr>
          <p:spPr>
            <a:xfrm>
              <a:off x="4114800" y="1676400"/>
              <a:ext cx="4058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v1</a:t>
              </a:r>
              <a:endParaRPr lang="en-US" dirty="0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4876800" y="2362200"/>
              <a:ext cx="4058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v2</a:t>
              </a:r>
              <a:endParaRPr lang="en-US" dirty="0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3810000" y="3124200"/>
              <a:ext cx="4058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v3</a:t>
              </a:r>
              <a:endParaRPr lang="en-US" dirty="0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2286000" y="2438400"/>
              <a:ext cx="4058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v4</a:t>
              </a:r>
              <a:endParaRPr lang="en-US" dirty="0"/>
            </a:p>
          </p:txBody>
        </p:sp>
      </p:grpSp>
      <p:pic>
        <p:nvPicPr>
          <p:cNvPr id="18" name="Picture 17" descr="Untitl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200" y="4724400"/>
            <a:ext cx="4858428" cy="1676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0"/>
            <a:ext cx="8229600" cy="6858000"/>
          </a:xfrm>
        </p:spPr>
        <p:txBody>
          <a:bodyPr>
            <a:normAutofit lnSpcReduction="10000"/>
          </a:bodyPr>
          <a:lstStyle/>
          <a:p>
            <a:r>
              <a:rPr lang="en-US" sz="2800" b="1" dirty="0" smtClean="0"/>
              <a:t>Weighted Graph: </a:t>
            </a:r>
            <a:r>
              <a:rPr lang="en-US" sz="2800" dirty="0" smtClean="0"/>
              <a:t>A graph in which each edge is given a numerical weight.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sz="2800" b="1" dirty="0" smtClean="0"/>
              <a:t>Adjacent vertices</a:t>
            </a:r>
            <a:r>
              <a:rPr lang="en-US" sz="2800" dirty="0" smtClean="0"/>
              <a:t>: A vertex v</a:t>
            </a:r>
            <a:r>
              <a:rPr lang="en-US" sz="2800" baseline="-25000" dirty="0" smtClean="0"/>
              <a:t>i</a:t>
            </a:r>
            <a:r>
              <a:rPr lang="en-US" sz="2800" dirty="0" smtClean="0"/>
              <a:t> is adjacent to another vertex </a:t>
            </a:r>
            <a:r>
              <a:rPr lang="en-US" sz="2800" dirty="0" err="1" smtClean="0"/>
              <a:t>v</a:t>
            </a:r>
            <a:r>
              <a:rPr lang="en-US" sz="2800" baseline="-25000" dirty="0" err="1" smtClean="0"/>
              <a:t>j</a:t>
            </a:r>
            <a:r>
              <a:rPr lang="en-US" sz="2800" dirty="0" smtClean="0"/>
              <a:t> if there is an edge from v</a:t>
            </a:r>
            <a:r>
              <a:rPr lang="en-US" sz="2800" baseline="-25000" dirty="0" smtClean="0"/>
              <a:t>i</a:t>
            </a:r>
            <a:r>
              <a:rPr lang="en-US" sz="2800" dirty="0" smtClean="0"/>
              <a:t> to </a:t>
            </a:r>
            <a:r>
              <a:rPr lang="en-US" sz="2800" dirty="0" err="1" smtClean="0"/>
              <a:t>v</a:t>
            </a:r>
            <a:r>
              <a:rPr lang="en-US" sz="2800" baseline="-25000" dirty="0" err="1" smtClean="0"/>
              <a:t>j</a:t>
            </a:r>
            <a:endParaRPr lang="en-US" sz="2800" baseline="-25000" dirty="0" smtClean="0"/>
          </a:p>
          <a:p>
            <a:endParaRPr lang="en-US" sz="2800" dirty="0" smtClean="0"/>
          </a:p>
          <a:p>
            <a:endParaRPr lang="en-US" sz="2800" dirty="0" smtClean="0"/>
          </a:p>
          <a:p>
            <a:endParaRPr lang="en-US" sz="2800" dirty="0" smtClean="0"/>
          </a:p>
          <a:p>
            <a:endParaRPr lang="en-US" sz="2800" dirty="0" smtClean="0"/>
          </a:p>
          <a:p>
            <a:r>
              <a:rPr lang="en-US" sz="2800" dirty="0" smtClean="0"/>
              <a:t>V</a:t>
            </a:r>
            <a:r>
              <a:rPr lang="en-US" sz="2800" baseline="-25000" dirty="0" smtClean="0"/>
              <a:t>4</a:t>
            </a:r>
            <a:r>
              <a:rPr lang="en-US" sz="2800" dirty="0" smtClean="0"/>
              <a:t> adjacent to v</a:t>
            </a:r>
            <a:r>
              <a:rPr lang="en-US" sz="2800" baseline="-25000" dirty="0" smtClean="0"/>
              <a:t>1</a:t>
            </a:r>
            <a:r>
              <a:rPr lang="en-US" sz="2800" dirty="0" smtClean="0"/>
              <a:t> (or v</a:t>
            </a:r>
            <a:r>
              <a:rPr lang="en-US" sz="2800" baseline="-25000" dirty="0" smtClean="0"/>
              <a:t>4</a:t>
            </a:r>
            <a:r>
              <a:rPr lang="en-US" sz="2800" dirty="0" smtClean="0"/>
              <a:t> is the neighbour of v</a:t>
            </a:r>
            <a:r>
              <a:rPr lang="en-US" sz="2800" baseline="-25000" dirty="0" smtClean="0"/>
              <a:t>1</a:t>
            </a:r>
            <a:r>
              <a:rPr lang="en-US" sz="2800" dirty="0" smtClean="0"/>
              <a:t> and not v</a:t>
            </a:r>
            <a:r>
              <a:rPr lang="en-US" sz="2800" baseline="-25000" dirty="0" smtClean="0"/>
              <a:t>2</a:t>
            </a:r>
            <a:r>
              <a:rPr lang="en-US" sz="2800" dirty="0" smtClean="0"/>
              <a:t>). </a:t>
            </a:r>
            <a:endParaRPr lang="en-US" sz="2800" baseline="-25000" dirty="0" smtClean="0"/>
          </a:p>
          <a:p>
            <a:pPr>
              <a:buNone/>
            </a:pPr>
            <a:endParaRPr lang="en-US" sz="2800" dirty="0"/>
          </a:p>
        </p:txBody>
      </p:sp>
      <p:grpSp>
        <p:nvGrpSpPr>
          <p:cNvPr id="34" name="Group 33"/>
          <p:cNvGrpSpPr/>
          <p:nvPr/>
        </p:nvGrpSpPr>
        <p:grpSpPr>
          <a:xfrm>
            <a:off x="2743200" y="1295400"/>
            <a:ext cx="2057400" cy="1371600"/>
            <a:chOff x="2743200" y="1828800"/>
            <a:chExt cx="2057400" cy="1371600"/>
          </a:xfrm>
        </p:grpSpPr>
        <p:sp>
          <p:nvSpPr>
            <p:cNvPr id="6" name="Oval 5"/>
            <p:cNvSpPr/>
            <p:nvPr/>
          </p:nvSpPr>
          <p:spPr>
            <a:xfrm>
              <a:off x="3733800" y="1828800"/>
              <a:ext cx="304800" cy="152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/>
            <p:cNvSpPr/>
            <p:nvPr/>
          </p:nvSpPr>
          <p:spPr>
            <a:xfrm>
              <a:off x="2743200" y="2438400"/>
              <a:ext cx="304800" cy="152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/>
            <p:cNvSpPr/>
            <p:nvPr/>
          </p:nvSpPr>
          <p:spPr>
            <a:xfrm>
              <a:off x="3581400" y="3048000"/>
              <a:ext cx="304800" cy="152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4495800" y="2514600"/>
              <a:ext cx="304800" cy="152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" name="Straight Arrow Connector 9"/>
            <p:cNvCxnSpPr>
              <a:stCxn id="6" idx="5"/>
              <a:endCxn id="9" idx="1"/>
            </p:cNvCxnSpPr>
            <p:nvPr/>
          </p:nvCxnSpPr>
          <p:spPr>
            <a:xfrm rot="16200000" flipH="1">
              <a:off x="3978182" y="1974663"/>
              <a:ext cx="578036" cy="54647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>
              <a:stCxn id="6" idx="4"/>
            </p:cNvCxnSpPr>
            <p:nvPr/>
          </p:nvCxnSpPr>
          <p:spPr>
            <a:xfrm rot="5400000">
              <a:off x="3298919" y="2429155"/>
              <a:ext cx="1035236" cy="13932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>
              <a:stCxn id="9" idx="3"/>
              <a:endCxn id="8" idx="7"/>
            </p:cNvCxnSpPr>
            <p:nvPr/>
          </p:nvCxnSpPr>
          <p:spPr>
            <a:xfrm rot="5400000">
              <a:off x="3978182" y="2508063"/>
              <a:ext cx="425636" cy="69887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>
              <a:endCxn id="6" idx="3"/>
            </p:cNvCxnSpPr>
            <p:nvPr/>
          </p:nvCxnSpPr>
          <p:spPr>
            <a:xfrm flipV="1">
              <a:off x="3048000" y="1958882"/>
              <a:ext cx="730437" cy="47951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>
              <a:endCxn id="7" idx="5"/>
            </p:cNvCxnSpPr>
            <p:nvPr/>
          </p:nvCxnSpPr>
          <p:spPr>
            <a:xfrm rot="10800000">
              <a:off x="3003364" y="2568482"/>
              <a:ext cx="622675" cy="57803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4267200" y="19812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9</a:t>
              </a:r>
              <a:endParaRPr lang="en-US" dirty="0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191000" y="2819400"/>
              <a:ext cx="4058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3</a:t>
              </a:r>
              <a:endParaRPr lang="en-US" dirty="0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2895600" y="2819400"/>
              <a:ext cx="4058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4</a:t>
              </a:r>
              <a:endParaRPr lang="en-US" dirty="0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124200" y="1828800"/>
              <a:ext cx="381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5</a:t>
              </a:r>
              <a:endParaRPr lang="en-US" dirty="0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3505200" y="22860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8</a:t>
              </a:r>
              <a:endParaRPr lang="en-US" dirty="0"/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2590800" y="4114800"/>
            <a:ext cx="2844280" cy="1740932"/>
            <a:chOff x="2528460" y="4391980"/>
            <a:chExt cx="2844280" cy="1740932"/>
          </a:xfrm>
        </p:grpSpPr>
        <p:sp>
          <p:nvSpPr>
            <p:cNvPr id="20" name="Oval 19"/>
            <p:cNvSpPr/>
            <p:nvPr/>
          </p:nvSpPr>
          <p:spPr>
            <a:xfrm>
              <a:off x="3886200" y="4544375"/>
              <a:ext cx="304800" cy="152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/>
            <p:cNvSpPr/>
            <p:nvPr/>
          </p:nvSpPr>
          <p:spPr>
            <a:xfrm>
              <a:off x="2895600" y="5153975"/>
              <a:ext cx="304800" cy="152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/>
            <p:cNvSpPr/>
            <p:nvPr/>
          </p:nvSpPr>
          <p:spPr>
            <a:xfrm>
              <a:off x="3733800" y="5763575"/>
              <a:ext cx="304800" cy="152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/>
            <p:cNvSpPr/>
            <p:nvPr/>
          </p:nvSpPr>
          <p:spPr>
            <a:xfrm>
              <a:off x="4648200" y="5230175"/>
              <a:ext cx="304800" cy="152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4" name="Straight Arrow Connector 23"/>
            <p:cNvCxnSpPr>
              <a:stCxn id="20" idx="5"/>
              <a:endCxn id="23" idx="1"/>
            </p:cNvCxnSpPr>
            <p:nvPr/>
          </p:nvCxnSpPr>
          <p:spPr>
            <a:xfrm rot="16200000" flipH="1">
              <a:off x="4130582" y="4690238"/>
              <a:ext cx="578036" cy="54647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>
              <a:stCxn id="20" idx="4"/>
            </p:cNvCxnSpPr>
            <p:nvPr/>
          </p:nvCxnSpPr>
          <p:spPr>
            <a:xfrm rot="5400000">
              <a:off x="3451319" y="5144730"/>
              <a:ext cx="1035236" cy="13932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>
              <a:stCxn id="23" idx="3"/>
              <a:endCxn id="22" idx="7"/>
            </p:cNvCxnSpPr>
            <p:nvPr/>
          </p:nvCxnSpPr>
          <p:spPr>
            <a:xfrm rot="5400000">
              <a:off x="4130582" y="5223638"/>
              <a:ext cx="425636" cy="69887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>
              <a:endCxn id="20" idx="3"/>
            </p:cNvCxnSpPr>
            <p:nvPr/>
          </p:nvCxnSpPr>
          <p:spPr>
            <a:xfrm flipV="1">
              <a:off x="3200400" y="4674457"/>
              <a:ext cx="730437" cy="47951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>
              <a:endCxn id="21" idx="5"/>
            </p:cNvCxnSpPr>
            <p:nvPr/>
          </p:nvCxnSpPr>
          <p:spPr>
            <a:xfrm rot="10800000">
              <a:off x="3155764" y="5284057"/>
              <a:ext cx="622675" cy="57803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/>
            <p:cNvSpPr txBox="1"/>
            <p:nvPr/>
          </p:nvSpPr>
          <p:spPr>
            <a:xfrm>
              <a:off x="4204860" y="4391980"/>
              <a:ext cx="4058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v1</a:t>
              </a:r>
              <a:endParaRPr lang="en-US" dirty="0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4966860" y="5077780"/>
              <a:ext cx="4058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v2</a:t>
              </a:r>
              <a:endParaRPr lang="en-US" dirty="0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4052460" y="5763580"/>
              <a:ext cx="4058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v3</a:t>
              </a:r>
              <a:endParaRPr lang="en-US" dirty="0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2528460" y="5153980"/>
              <a:ext cx="4058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v4</a:t>
              </a:r>
              <a:endParaRPr lang="en-US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28600"/>
            <a:ext cx="9144000" cy="6629400"/>
          </a:xfrm>
        </p:spPr>
        <p:txBody>
          <a:bodyPr>
            <a:normAutofit/>
          </a:bodyPr>
          <a:lstStyle/>
          <a:p>
            <a:pPr algn="just"/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Parallel edges: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If there is more than one edge between the same pair of vertices </a:t>
            </a:r>
          </a:p>
          <a:p>
            <a:pPr algn="just"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Multigraph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:A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graph which has either self loop or parallel edges or both is called a multigraph</a:t>
            </a:r>
          </a:p>
          <a:p>
            <a:pPr marL="0" indent="0" algn="just"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Simple Graph: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 graph if it does not have any self loop or parallel edges is called a simple graph</a:t>
            </a:r>
          </a:p>
          <a:p>
            <a:pPr algn="just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4600" y="990600"/>
            <a:ext cx="5172797" cy="180047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6824"/>
            <a:ext cx="8915400" cy="4717576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-152400" y="5410200"/>
            <a:ext cx="8763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just">
              <a:buFont typeface="Wingdings" panose="05000000000000000000" pitchFamily="2" charset="2"/>
              <a:buChar char="§"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Cyclic 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Graph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:If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there is a path containing one or more edges which start from a vertex V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and terminate into the same vertex then the path is cyclic.</a:t>
            </a:r>
          </a:p>
        </p:txBody>
      </p:sp>
    </p:spTree>
    <p:extLst>
      <p:ext uri="{BB962C8B-B14F-4D97-AF65-F5344CB8AC3E}">
        <p14:creationId xmlns:p14="http://schemas.microsoft.com/office/powerpoint/2010/main" val="42453713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0"/>
            <a:ext cx="8763000" cy="6934200"/>
          </a:xfrm>
        </p:spPr>
        <p:txBody>
          <a:bodyPr>
            <a:normAutofit/>
          </a:bodyPr>
          <a:lstStyle/>
          <a:p>
            <a:pPr algn="just"/>
            <a:r>
              <a:rPr lang="en-US" sz="2400" b="1" dirty="0" smtClean="0">
                <a:latin typeface="Times New Roman" panose="02020603050405020304" pitchFamily="18" charset="0"/>
                <a:cs typeface="Times New Roman" pitchFamily="18" charset="0"/>
              </a:rPr>
              <a:t>Acyclic Graph: If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a graph does not have any cycle then it is called acyclic graph.</a:t>
            </a:r>
          </a:p>
          <a:p>
            <a:pPr algn="just"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Isolated vertex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 A vertex is said  to be isolated if there is no edge connected from any other vertex to the vertex.</a:t>
            </a:r>
          </a:p>
          <a:p>
            <a:pPr algn="just"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Degree of vertex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 The no: of edges connected with vertex v</a:t>
            </a:r>
            <a:r>
              <a:rPr lang="en-US" sz="2400" baseline="-25000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is called the degree of vertex v</a:t>
            </a:r>
            <a:r>
              <a:rPr lang="en-US" sz="2400" baseline="-25000" dirty="0" smtClean="0">
                <a:latin typeface="Times New Roman" pitchFamily="18" charset="0"/>
                <a:cs typeface="Times New Roman" pitchFamily="18" charset="0"/>
              </a:rPr>
              <a:t>i</a:t>
            </a:r>
          </a:p>
          <a:p>
            <a:pPr algn="just"/>
            <a:endParaRPr lang="en-US" sz="2400" baseline="-250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diagraph there are 2 degrees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indegree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outdegree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Indegree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</a:t>
            </a:r>
            <a:r>
              <a:rPr 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of edges incident into v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</a:p>
          <a:p>
            <a:pPr lvl="1" algn="just"/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Outdegree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</a:t>
            </a:r>
            <a:r>
              <a:rPr 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of edges emerging from v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</a:p>
          <a:p>
            <a:pPr algn="just"/>
            <a:endParaRPr lang="en-US" sz="24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4934879"/>
            <a:ext cx="5638800" cy="190719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28600"/>
            <a:ext cx="8686800" cy="6629400"/>
          </a:xfrm>
        </p:spPr>
        <p:txBody>
          <a:bodyPr>
            <a:normAutofit/>
          </a:bodyPr>
          <a:lstStyle/>
          <a:p>
            <a:pPr algn="just"/>
            <a:r>
              <a:rPr lang="en-US" sz="2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Pendant vertex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A vertex v</a:t>
            </a:r>
            <a:r>
              <a:rPr lang="en-US" sz="26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is pendant if its </a:t>
            </a:r>
            <a:r>
              <a:rPr lang="en-US" sz="2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indegree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=1 and </a:t>
            </a:r>
            <a:r>
              <a:rPr lang="en-US" sz="2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outdegree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=0.</a:t>
            </a:r>
          </a:p>
          <a:p>
            <a:pPr algn="just">
              <a:buNone/>
            </a:pPr>
            <a:endParaRPr lang="en-US" sz="2400" dirty="0" smtClean="0"/>
          </a:p>
          <a:p>
            <a:pPr>
              <a:buNone/>
            </a:pPr>
            <a:endParaRPr lang="en-US" sz="2400" dirty="0" smtClean="0"/>
          </a:p>
          <a:p>
            <a:pPr algn="just"/>
            <a:endParaRPr lang="en-US" sz="2400" dirty="0" smtClean="0"/>
          </a:p>
          <a:p>
            <a:pPr algn="just"/>
            <a:endParaRPr lang="en-US" sz="2400" dirty="0" smtClean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911" y="1143000"/>
            <a:ext cx="7877428" cy="5410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28600"/>
            <a:ext cx="9144000" cy="6629400"/>
          </a:xfrm>
        </p:spPr>
        <p:txBody>
          <a:bodyPr>
            <a:normAutofit/>
          </a:bodyPr>
          <a:lstStyle/>
          <a:p>
            <a:pPr algn="just"/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Complete graph: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 graph G is said to be complete if each vertex V</a:t>
            </a:r>
            <a:r>
              <a:rPr lang="en-US" sz="2400" baseline="-25000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is adjacent to every other vertex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sz="2400" baseline="-25000" dirty="0" err="1" smtClean="0"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in G.</a:t>
            </a:r>
          </a:p>
          <a:p>
            <a:pPr lvl="1" algn="just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There are edges from any vertex to all other vertices.</a:t>
            </a:r>
          </a:p>
          <a:p>
            <a:pPr lvl="1" algn="just"/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lvl="1" algn="just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1" algn="just"/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lvl="1" algn="just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1" algn="just"/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lvl="1" algn="just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1" algn="just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Suppose n is the number of vertices in an undirected completed graph, then total number of edges=n(n-1)/2</a:t>
            </a:r>
          </a:p>
          <a:p>
            <a:pPr marL="457200" lvl="1" indent="0" algn="just">
              <a:buNone/>
            </a:pP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lvl="1" algn="just"/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lvl="1" algn="just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1" algn="just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400" y="1524000"/>
            <a:ext cx="2662375" cy="2482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017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457200"/>
            <a:ext cx="8991600" cy="6248400"/>
          </a:xfrm>
        </p:spPr>
        <p:txBody>
          <a:bodyPr>
            <a:normAutofit/>
          </a:bodyPr>
          <a:lstStyle/>
          <a:p>
            <a:pPr algn="just"/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Connected graph: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graph is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connected if or every pair of distinct vertices V</a:t>
            </a:r>
            <a:r>
              <a:rPr lang="en-US" sz="2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6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V(G), there is a path from V</a:t>
            </a:r>
            <a:r>
              <a:rPr lang="en-US" sz="2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6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G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digraph G is strongly connected if for every pair of vertices v</a:t>
            </a:r>
            <a:r>
              <a:rPr lang="en-US" sz="2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6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G there is a directed path from v</a:t>
            </a:r>
            <a:r>
              <a:rPr lang="en-US" sz="2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6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also from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6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v</a:t>
            </a:r>
            <a:r>
              <a:rPr lang="en-US" sz="2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lvl="1" indent="0" algn="just">
              <a:buNone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digraph G is not strongly connected 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but the underlying graph (without direction of edges) is connected, then the graph is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said to be weakly connected.</a:t>
            </a:r>
          </a:p>
          <a:p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0" y="1417638"/>
            <a:ext cx="2105025" cy="1800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9862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Complete graph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8686800" cy="43433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76400" y="5257800"/>
            <a:ext cx="6096000" cy="1309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281285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Representation of Graphs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Set Representation</a:t>
            </a:r>
          </a:p>
          <a:p>
            <a:endParaRPr lang="en-US" dirty="0" smtClean="0"/>
          </a:p>
          <a:p>
            <a:r>
              <a:rPr lang="en-US" dirty="0" smtClean="0"/>
              <a:t>Sequential (matrix) representation or Adjacency Matrix </a:t>
            </a:r>
          </a:p>
          <a:p>
            <a:endParaRPr lang="en-US" dirty="0" smtClean="0"/>
          </a:p>
          <a:p>
            <a:r>
              <a:rPr lang="en-US" dirty="0"/>
              <a:t>Linked </a:t>
            </a:r>
            <a:r>
              <a:rPr lang="en-US" dirty="0" smtClean="0"/>
              <a:t>representation or Adjacency List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Set Representation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525963"/>
          </a:xfrm>
        </p:spPr>
        <p:txBody>
          <a:bodyPr>
            <a:normAutofit/>
          </a:bodyPr>
          <a:lstStyle/>
          <a:p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Two Sets are maintained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V, the set of vertices and E, the set of edges which is a subset of V X V. </a:t>
            </a:r>
          </a:p>
          <a:p>
            <a:endParaRPr lang="en-US" sz="2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 the graph is weighted, set E is ordered collection of three </a:t>
            </a:r>
            <a:r>
              <a:rPr lang="en-US" sz="2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tuples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i.e. E=W X V X V, where W is the set of weights.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new doc 44_1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304800" y="0"/>
            <a:ext cx="8458200" cy="6874218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Untitled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28600" y="838200"/>
            <a:ext cx="8915400" cy="576795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685800"/>
            <a:ext cx="8458200" cy="5440363"/>
          </a:xfrm>
        </p:spPr>
        <p:txBody>
          <a:bodyPr>
            <a:normAutofit/>
          </a:bodyPr>
          <a:lstStyle/>
          <a:p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 lvl="1"/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Straight forward representation. Hence Easy.</a:t>
            </a:r>
          </a:p>
          <a:p>
            <a:pPr lvl="1"/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one in terms of memory.</a:t>
            </a:r>
          </a:p>
          <a:p>
            <a:pPr lvl="1">
              <a:buNone/>
            </a:pPr>
            <a:endParaRPr lang="en-US" sz="2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Drawbacks:</a:t>
            </a:r>
          </a:p>
          <a:p>
            <a:pPr lvl="1"/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Can not store parallel edges i.e. two identical elements cannot exist.</a:t>
            </a:r>
          </a:p>
          <a:p>
            <a:pPr lvl="1"/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 to manipulate graph.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0"/>
            <a:ext cx="8534400" cy="792162"/>
          </a:xfrm>
        </p:spPr>
        <p:txBody>
          <a:bodyPr>
            <a:normAutofit/>
          </a:bodyPr>
          <a:lstStyle/>
          <a:p>
            <a:r>
              <a:rPr lang="en-US" sz="3600" b="1" dirty="0" smtClean="0"/>
              <a:t>Matrix Representation/ Adjacency Matrix</a:t>
            </a:r>
            <a:endParaRPr lang="en-US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9067800" cy="6019800"/>
          </a:xfrm>
        </p:spPr>
        <p:txBody>
          <a:bodyPr>
            <a:normAutofit lnSpcReduction="10000"/>
          </a:bodyPr>
          <a:lstStyle/>
          <a:p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Most useful way of representing a graph.</a:t>
            </a:r>
          </a:p>
          <a:p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Uses a square matrix of order n x n, n being the number of vertices of a graph.</a:t>
            </a:r>
          </a:p>
          <a:p>
            <a:pPr>
              <a:buNone/>
            </a:pPr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Entries in the matrix based on</a:t>
            </a:r>
          </a:p>
          <a:p>
            <a:pPr lvl="1">
              <a:buNone/>
            </a:pP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a</a:t>
            </a:r>
            <a:r>
              <a:rPr lang="en-US" sz="26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ij 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=1, if there is an edge from v</a:t>
            </a:r>
            <a:r>
              <a:rPr lang="en-US" sz="26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sz="2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600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en-US" sz="2600" baseline="-25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None/>
            </a:pP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=0, otherwise</a:t>
            </a:r>
          </a:p>
        </p:txBody>
      </p:sp>
      <p:pic>
        <p:nvPicPr>
          <p:cNvPr id="4" name="Picture 3" descr="new doc 48_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57400" y="2209800"/>
            <a:ext cx="4067082" cy="2960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8997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0"/>
            <a:ext cx="8915400" cy="6858000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matrix is known as adjacency matrix because an entry stores the information whether two matrices are adjacent or not.</a:t>
            </a:r>
          </a:p>
          <a:p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matrix is also termed as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bit matrix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Boolean matrix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 the entries are either a 0 or 1.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57400"/>
            <a:ext cx="7391400" cy="469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669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8991600" cy="6858000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Q) Write adjacency matrix representation of the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foll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graph structures</a:t>
            </a:r>
          </a:p>
          <a:p>
            <a:endParaRPr lang="en-US" dirty="0" smtClean="0"/>
          </a:p>
        </p:txBody>
      </p:sp>
      <p:pic>
        <p:nvPicPr>
          <p:cNvPr id="4" name="Content Placeholder 3" descr="new doc 44_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11757" y="990600"/>
            <a:ext cx="8545724" cy="563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934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752600"/>
            <a:ext cx="7526690" cy="4339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564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Linked Representation/ Adjacency List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There are two types of node structures;</a:t>
            </a:r>
          </a:p>
          <a:p>
            <a:endParaRPr lang="en-US" dirty="0" smtClean="0"/>
          </a:p>
          <a:p>
            <a:pPr>
              <a:buNone/>
            </a:pPr>
            <a:endParaRPr lang="en-US" dirty="0"/>
          </a:p>
        </p:txBody>
      </p:sp>
      <p:pic>
        <p:nvPicPr>
          <p:cNvPr id="6" name="Picture 5" descr="Untitled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85800" y="2438400"/>
            <a:ext cx="6096000" cy="1752600"/>
          </a:xfrm>
          <a:prstGeom prst="rect">
            <a:avLst/>
          </a:prstGeom>
        </p:spPr>
      </p:pic>
      <p:pic>
        <p:nvPicPr>
          <p:cNvPr id="7" name="Picture 6" descr="new doc 47_1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4495800"/>
            <a:ext cx="9144000" cy="20048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800" y="1417638"/>
            <a:ext cx="8458200" cy="4830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5646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5800" y="990600"/>
            <a:ext cx="7464100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637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914400"/>
            <a:ext cx="8077200" cy="5536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79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274638"/>
            <a:ext cx="8610600" cy="1143000"/>
          </a:xfrm>
        </p:spPr>
        <p:txBody>
          <a:bodyPr>
            <a:normAutofit/>
          </a:bodyPr>
          <a:lstStyle/>
          <a:p>
            <a:r>
              <a:rPr lang="en-US" sz="2600" dirty="0" smtClean="0"/>
              <a:t>Q) Write adjacency list representation for the following graphs</a:t>
            </a:r>
            <a:endParaRPr lang="en-US" sz="2600" dirty="0"/>
          </a:p>
        </p:txBody>
      </p:sp>
      <p:pic>
        <p:nvPicPr>
          <p:cNvPr id="4" name="Content Placeholder 3" descr="new doc 44_1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066800" y="1295400"/>
            <a:ext cx="6473518" cy="5261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1497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Untitled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0" y="914400"/>
            <a:ext cx="8991600" cy="495300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Untitled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533400" y="533400"/>
            <a:ext cx="8122255" cy="586740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9762"/>
          </a:xfrm>
        </p:spPr>
        <p:txBody>
          <a:bodyPr>
            <a:normAutofit/>
          </a:bodyPr>
          <a:lstStyle/>
          <a:p>
            <a:r>
              <a:rPr lang="en-GB" sz="3200" b="1" dirty="0" smtClean="0"/>
              <a:t>Comparison among various representations</a:t>
            </a:r>
            <a:endParaRPr lang="en-GB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38200"/>
            <a:ext cx="9144000" cy="6019800"/>
          </a:xfrm>
        </p:spPr>
        <p:txBody>
          <a:bodyPr>
            <a:normAutofit fontScale="62500" lnSpcReduction="20000"/>
          </a:bodyPr>
          <a:lstStyle/>
          <a:p>
            <a:r>
              <a:rPr lang="en-GB" dirty="0" smtClean="0"/>
              <a:t>Adjacency matrix representation</a:t>
            </a:r>
          </a:p>
          <a:p>
            <a:pPr lvl="1"/>
            <a:r>
              <a:rPr lang="en-GB" dirty="0" smtClean="0"/>
              <a:t>Manipulation of data is easy.</a:t>
            </a:r>
          </a:p>
          <a:p>
            <a:pPr lvl="1"/>
            <a:r>
              <a:rPr lang="en-GB" dirty="0" smtClean="0"/>
              <a:t>Easy to search for an edge in graph.</a:t>
            </a:r>
          </a:p>
          <a:p>
            <a:pPr lvl="1"/>
            <a:r>
              <a:rPr lang="en-GB" dirty="0" smtClean="0"/>
              <a:t>Allows storing of parallel edges. </a:t>
            </a:r>
          </a:p>
          <a:p>
            <a:pPr lvl="1"/>
            <a:r>
              <a:rPr lang="en-GB" dirty="0" smtClean="0"/>
              <a:t>has the disadvantage that it always requires an </a:t>
            </a:r>
            <a:r>
              <a:rPr lang="en-GB" dirty="0" err="1" smtClean="0"/>
              <a:t>nxn</a:t>
            </a:r>
            <a:r>
              <a:rPr lang="en-GB" dirty="0" smtClean="0"/>
              <a:t> matrix with n vertices, regardless of number of edges. </a:t>
            </a:r>
          </a:p>
          <a:p>
            <a:pPr lvl="1"/>
            <a:r>
              <a:rPr lang="en-GB" dirty="0" smtClean="0"/>
              <a:t>If the graph is sparse majority of elements are null.</a:t>
            </a:r>
          </a:p>
          <a:p>
            <a:pPr lvl="1">
              <a:buNone/>
            </a:pPr>
            <a:endParaRPr lang="en-GB" dirty="0" smtClean="0"/>
          </a:p>
          <a:p>
            <a:r>
              <a:rPr lang="en-GB" dirty="0" smtClean="0"/>
              <a:t>Set Representation</a:t>
            </a:r>
          </a:p>
          <a:p>
            <a:pPr lvl="1"/>
            <a:r>
              <a:rPr lang="en-US" dirty="0" smtClean="0"/>
              <a:t>Straight forward representation. Hence Easy.</a:t>
            </a:r>
          </a:p>
          <a:p>
            <a:pPr lvl="1"/>
            <a:r>
              <a:rPr lang="en-US" dirty="0" smtClean="0"/>
              <a:t>Efficient one in terms of memory.</a:t>
            </a:r>
            <a:endParaRPr lang="en-GB" dirty="0" smtClean="0"/>
          </a:p>
          <a:p>
            <a:pPr lvl="1"/>
            <a:r>
              <a:rPr lang="en-GB" dirty="0" smtClean="0"/>
              <a:t>Manipulation of data is very difficult. </a:t>
            </a:r>
          </a:p>
          <a:p>
            <a:pPr lvl="1"/>
            <a:r>
              <a:rPr lang="en-GB" dirty="0" smtClean="0"/>
              <a:t>Difficult to search for an edge in graph.</a:t>
            </a:r>
          </a:p>
          <a:p>
            <a:pPr lvl="1">
              <a:buNone/>
            </a:pPr>
            <a:endParaRPr lang="en-GB" dirty="0" smtClean="0"/>
          </a:p>
          <a:p>
            <a:r>
              <a:rPr lang="en-GB" dirty="0" smtClean="0"/>
              <a:t>Linked List representation</a:t>
            </a:r>
          </a:p>
          <a:p>
            <a:pPr lvl="1"/>
            <a:r>
              <a:rPr lang="en-GB" dirty="0" smtClean="0"/>
              <a:t>Space saving method since dynamic in nature.</a:t>
            </a:r>
          </a:p>
          <a:p>
            <a:pPr lvl="1"/>
            <a:r>
              <a:rPr lang="en-GB" dirty="0" smtClean="0"/>
              <a:t>Insertion, Deletion, Merging easier</a:t>
            </a:r>
          </a:p>
          <a:p>
            <a:pPr lvl="1"/>
            <a:r>
              <a:rPr lang="en-GB" dirty="0" smtClean="0"/>
              <a:t>Searching for an edge takes more time compared to adjacency matrix.</a:t>
            </a:r>
          </a:p>
          <a:p>
            <a:pPr lvl="1"/>
            <a:r>
              <a:rPr lang="en-GB" dirty="0" smtClean="0"/>
              <a:t>Pointer fields are used as extra fields in addition to data fields.</a:t>
            </a:r>
          </a:p>
          <a:p>
            <a:pPr lvl="1">
              <a:buNone/>
            </a:pPr>
            <a:endParaRPr lang="en-GB" dirty="0" smtClean="0"/>
          </a:p>
          <a:p>
            <a:r>
              <a:rPr lang="en-GB" dirty="0" smtClean="0">
                <a:solidFill>
                  <a:srgbClr val="FF0000"/>
                </a:solidFill>
              </a:rPr>
              <a:t>Considering overall performance, Matrix representation is more powerful than all.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</p:spPr>
        <p:txBody>
          <a:bodyPr>
            <a:normAutofit fontScale="90000"/>
          </a:bodyPr>
          <a:lstStyle/>
          <a:p>
            <a:r>
              <a:rPr lang="en-GB" b="1" dirty="0" smtClean="0"/>
              <a:t>Graph Traversals</a:t>
            </a:r>
            <a:endParaRPr lang="en-GB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14400"/>
            <a:ext cx="9067800" cy="5943600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Traversal of a graph means visiting all vertices of the graph exactly once.</a:t>
            </a:r>
          </a:p>
          <a:p>
            <a:pPr algn="just">
              <a:buNone/>
            </a:pPr>
            <a:endParaRPr lang="en-GB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 are two graph traversal methods:</a:t>
            </a:r>
          </a:p>
          <a:p>
            <a:pPr lvl="1" algn="just"/>
            <a:r>
              <a:rPr lang="en-GB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Depth First Search(DFS)</a:t>
            </a:r>
          </a:p>
          <a:p>
            <a:pPr lvl="1" algn="just"/>
            <a:r>
              <a:rPr lang="en-GB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Breadth First Search(BFS)</a:t>
            </a:r>
          </a:p>
          <a:p>
            <a:pPr lvl="1" algn="just">
              <a:buNone/>
            </a:pPr>
            <a:endParaRPr lang="en-GB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Difference between tree and graph traversals:</a:t>
            </a:r>
          </a:p>
          <a:p>
            <a:pPr lvl="1" algn="just"/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no first node or root node in a graph, hence traversal can start from any node.</a:t>
            </a:r>
          </a:p>
          <a:p>
            <a:pPr lvl="1" algn="just"/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All nodes are traversed from first node of a tree, but in a graph only nodes reachable from starting node is traversed. So to traverse remaining nodes another starting node has to be selected.</a:t>
            </a:r>
          </a:p>
          <a:p>
            <a:pPr lvl="1" algn="just"/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Tree Traversal will visit a node exactly once while in a graph same node can be visited more than once.  So status of each node has to be maintained in graph so that it is visited only once.</a:t>
            </a:r>
          </a:p>
          <a:p>
            <a:pPr lvl="1" algn="just"/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Tree has unique traversal </a:t>
            </a:r>
            <a:r>
              <a:rPr lang="en-GB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eg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GB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inorder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traversal on tree will always give same sequence. This is not the case for a graph.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1554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38200"/>
          </a:xfrm>
        </p:spPr>
        <p:txBody>
          <a:bodyPr>
            <a:normAutofit/>
          </a:bodyPr>
          <a:lstStyle/>
          <a:p>
            <a:r>
              <a:rPr lang="en-GB" sz="3600" b="1" dirty="0" smtClean="0"/>
              <a:t>Depth First Search</a:t>
            </a:r>
            <a:endParaRPr lang="en-GB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838200"/>
            <a:ext cx="8915400" cy="6019800"/>
          </a:xfrm>
        </p:spPr>
        <p:txBody>
          <a:bodyPr>
            <a:normAutofit fontScale="62500" lnSpcReduction="20000"/>
          </a:bodyPr>
          <a:lstStyle/>
          <a:p>
            <a:r>
              <a:rPr lang="en-GB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Depth First Search algorithm(DFS) traverses a graph in a </a:t>
            </a:r>
            <a:r>
              <a:rPr lang="en-GB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depthward</a:t>
            </a:r>
            <a:r>
              <a:rPr lang="en-GB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motion.</a:t>
            </a:r>
          </a:p>
          <a:p>
            <a:r>
              <a:rPr lang="en-GB" sz="3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uses stack implementation.</a:t>
            </a:r>
          </a:p>
          <a:p>
            <a:pPr>
              <a:buNone/>
            </a:pPr>
            <a:endParaRPr lang="en-GB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GB" sz="35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DFS </a:t>
            </a:r>
          </a:p>
          <a:p>
            <a:pPr>
              <a:buNone/>
            </a:pPr>
            <a:r>
              <a:rPr lang="en-US" sz="35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Input: v is the starting vertex</a:t>
            </a:r>
          </a:p>
          <a:p>
            <a:pPr>
              <a:buNone/>
            </a:pPr>
            <a:r>
              <a:rPr lang="en-US" sz="35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 An array visit giving the order of visit</a:t>
            </a:r>
          </a:p>
          <a:p>
            <a:pPr>
              <a:buNone/>
            </a:pPr>
            <a:r>
              <a:rPr lang="en-US" sz="35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DS: stack, matrix representation of graph, and array visit</a:t>
            </a:r>
            <a:endParaRPr lang="en-GB" sz="3500" u="sng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rabicPeriod"/>
            </a:pPr>
            <a:r>
              <a:rPr lang="en-GB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Push starting vertex, v into stack.</a:t>
            </a:r>
          </a:p>
          <a:p>
            <a:pPr marL="514350" indent="-514350">
              <a:buAutoNum type="arabicPeriod"/>
            </a:pPr>
            <a:r>
              <a:rPr lang="en-GB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While stack not empty do</a:t>
            </a:r>
          </a:p>
          <a:p>
            <a:pPr marL="914400" lvl="1" indent="-514350">
              <a:buNone/>
            </a:pPr>
            <a:r>
              <a:rPr lang="en-GB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1. Pop a vertex v</a:t>
            </a:r>
          </a:p>
          <a:p>
            <a:pPr marL="914400" lvl="1" indent="-514350">
              <a:buNone/>
            </a:pPr>
            <a:r>
              <a:rPr lang="en-GB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2. If v is not in visit then  </a:t>
            </a:r>
          </a:p>
          <a:p>
            <a:pPr marL="914400" lvl="1" indent="-514350">
              <a:buNone/>
            </a:pPr>
            <a:r>
              <a:rPr lang="en-GB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  2.1. visit the vertex v</a:t>
            </a:r>
          </a:p>
          <a:p>
            <a:pPr marL="914400" lvl="1" indent="-514350">
              <a:buNone/>
            </a:pPr>
            <a:r>
              <a:rPr lang="en-GB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	  2.2. store v in visit</a:t>
            </a:r>
          </a:p>
          <a:p>
            <a:pPr marL="914400" lvl="1" indent="-514350">
              <a:buNone/>
            </a:pPr>
            <a:r>
              <a:rPr lang="en-GB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2.3. push all adjacent vertices of v in stack.</a:t>
            </a:r>
          </a:p>
          <a:p>
            <a:pPr marL="914400" lvl="1" indent="-514350">
              <a:buNone/>
            </a:pPr>
            <a:r>
              <a:rPr lang="en-GB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3. </a:t>
            </a:r>
            <a:r>
              <a:rPr lang="en-GB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EndIf</a:t>
            </a:r>
            <a:endParaRPr lang="en-GB" sz="3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rabicPeriod"/>
            </a:pPr>
            <a:r>
              <a:rPr lang="en-GB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End while</a:t>
            </a:r>
          </a:p>
        </p:txBody>
      </p:sp>
    </p:spTree>
    <p:extLst>
      <p:ext uri="{BB962C8B-B14F-4D97-AF65-F5344CB8AC3E}">
        <p14:creationId xmlns:p14="http://schemas.microsoft.com/office/powerpoint/2010/main" val="4237975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DFS </a:t>
            </a:r>
            <a:r>
              <a:rPr lang="en-US" sz="3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 1</a:t>
            </a:r>
            <a:endParaRPr lang="en-US" sz="3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600200"/>
            <a:ext cx="9067800" cy="4525963"/>
          </a:xfrm>
        </p:spPr>
        <p:txBody>
          <a:bodyPr/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After DFS Traversal : 1 2 3 4    (here 1 is taken as the starting vertex)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0" y="1752600"/>
            <a:ext cx="3048000" cy="2606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7733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DFS Example 2</a:t>
            </a:r>
            <a:endParaRPr 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43000"/>
            <a:ext cx="9144000" cy="5715000"/>
          </a:xfrm>
        </p:spPr>
        <p:txBody>
          <a:bodyPr>
            <a:normAutofit/>
          </a:bodyPr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  <a:p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After DFS Traversal : A B F G C I H D E  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(here A is taken as the starting vertex)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1143000"/>
            <a:ext cx="6724434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52182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38200"/>
          </a:xfrm>
        </p:spPr>
        <p:txBody>
          <a:bodyPr>
            <a:normAutofit/>
          </a:bodyPr>
          <a:lstStyle/>
          <a:p>
            <a:r>
              <a:rPr lang="en-GB" sz="4000" b="1" dirty="0" smtClean="0"/>
              <a:t>Breadth First Search</a:t>
            </a:r>
            <a:endParaRPr lang="en-GB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38200"/>
            <a:ext cx="9144000" cy="6019800"/>
          </a:xfrm>
        </p:spPr>
        <p:txBody>
          <a:bodyPr>
            <a:normAutofit fontScale="40000" lnSpcReduction="20000"/>
          </a:bodyPr>
          <a:lstStyle/>
          <a:p>
            <a:r>
              <a:rPr lang="en-GB" sz="5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Breadth First Search algorithm(BFS) traverses a graph in a level wise order.</a:t>
            </a:r>
          </a:p>
          <a:p>
            <a:r>
              <a:rPr lang="en-US" sz="5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Level by level traversal.</a:t>
            </a:r>
          </a:p>
          <a:p>
            <a:r>
              <a:rPr lang="en-US" sz="5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First visit all vertices in a level and move on to next level.</a:t>
            </a:r>
          </a:p>
          <a:p>
            <a:r>
              <a:rPr lang="en-GB" sz="5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uses queue implementation.</a:t>
            </a:r>
          </a:p>
          <a:p>
            <a:pPr>
              <a:buNone/>
            </a:pPr>
            <a:endParaRPr lang="en-GB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GB" sz="55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BFS</a:t>
            </a:r>
          </a:p>
          <a:p>
            <a:pPr>
              <a:buNone/>
            </a:pPr>
            <a:r>
              <a:rPr lang="en-US" sz="55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Input: v is the starting vertex</a:t>
            </a:r>
          </a:p>
          <a:p>
            <a:pPr>
              <a:buNone/>
            </a:pPr>
            <a:r>
              <a:rPr lang="en-US" sz="55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 An array visit giving the order of visit</a:t>
            </a:r>
          </a:p>
          <a:p>
            <a:pPr>
              <a:buNone/>
            </a:pPr>
            <a:r>
              <a:rPr lang="en-US" sz="55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DS: queue, matrix representation of graph and array visit.</a:t>
            </a:r>
            <a:endParaRPr lang="en-GB" sz="5500" u="sng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rabicPeriod"/>
            </a:pPr>
            <a:r>
              <a:rPr lang="en-GB" sz="5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Insert starting vertex, v into queue.</a:t>
            </a:r>
          </a:p>
          <a:p>
            <a:pPr marL="514350" indent="-514350">
              <a:buAutoNum type="arabicPeriod"/>
            </a:pPr>
            <a:r>
              <a:rPr lang="en-GB" sz="5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While queue not empty do</a:t>
            </a:r>
          </a:p>
          <a:p>
            <a:pPr marL="914400" lvl="1" indent="-514350">
              <a:buNone/>
            </a:pPr>
            <a:r>
              <a:rPr lang="en-GB" sz="5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1. Remove a vertex v located at front of queue.</a:t>
            </a:r>
          </a:p>
          <a:p>
            <a:pPr marL="914400" lvl="1" indent="-514350">
              <a:buNone/>
            </a:pPr>
            <a:r>
              <a:rPr lang="en-GB" sz="5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2. If v is not in visit then  </a:t>
            </a:r>
          </a:p>
          <a:p>
            <a:pPr marL="914400" lvl="1" indent="-514350">
              <a:buNone/>
            </a:pPr>
            <a:r>
              <a:rPr lang="en-GB" sz="5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 2.1</a:t>
            </a:r>
            <a:r>
              <a:rPr lang="en-GB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5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visit the vertex v</a:t>
            </a:r>
          </a:p>
          <a:p>
            <a:pPr marL="914400" lvl="1" indent="-514350">
              <a:buNone/>
            </a:pPr>
            <a:r>
              <a:rPr lang="en-GB" sz="5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	 2.2  store v in visit</a:t>
            </a:r>
          </a:p>
          <a:p>
            <a:pPr marL="914400" lvl="1" indent="-514350">
              <a:buNone/>
            </a:pPr>
            <a:r>
              <a:rPr lang="en-GB" sz="5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2.3. Insert all adjacent vertices of v in Queue.</a:t>
            </a:r>
          </a:p>
          <a:p>
            <a:pPr marL="914400" lvl="1" indent="-514350">
              <a:buNone/>
            </a:pPr>
            <a:r>
              <a:rPr lang="en-GB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5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3. </a:t>
            </a:r>
            <a:r>
              <a:rPr lang="en-GB" sz="5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EndIf</a:t>
            </a:r>
            <a:endParaRPr lang="en-GB" sz="5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rabicPeriod"/>
            </a:pPr>
            <a:r>
              <a:rPr lang="en-GB" sz="5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End while</a:t>
            </a:r>
          </a:p>
        </p:txBody>
      </p:sp>
    </p:spTree>
    <p:extLst>
      <p:ext uri="{BB962C8B-B14F-4D97-AF65-F5344CB8AC3E}">
        <p14:creationId xmlns:p14="http://schemas.microsoft.com/office/powerpoint/2010/main" val="3300389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BFS Example 1</a:t>
            </a:r>
            <a:endParaRPr lang="en-US" sz="3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600200"/>
            <a:ext cx="9067800" cy="4525963"/>
          </a:xfrm>
        </p:spPr>
        <p:txBody>
          <a:bodyPr/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After BFS Traversal : 1 2 4 3    (here 1 is taken as the starting vertex)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0" y="1752600"/>
            <a:ext cx="3048000" cy="2606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708057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3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FS Example 2</a:t>
            </a:r>
            <a:endParaRPr 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43000"/>
            <a:ext cx="9144000" cy="5715000"/>
          </a:xfrm>
        </p:spPr>
        <p:txBody>
          <a:bodyPr>
            <a:normAutofit/>
          </a:bodyPr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  <a:p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After BFS Traversal : A B C D E 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(here A is taken as the starting vertex)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1417638"/>
            <a:ext cx="4572000" cy="3618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33898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 DFS and BFS Traversals on the following Graphs:</a:t>
            </a:r>
          </a:p>
          <a:p>
            <a:endParaRPr lang="en-US" dirty="0"/>
          </a:p>
        </p:txBody>
      </p:sp>
      <p:pic>
        <p:nvPicPr>
          <p:cNvPr id="5" name="Picture 4" descr="Untitled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38200" y="2209800"/>
            <a:ext cx="2743200" cy="3680749"/>
          </a:xfrm>
          <a:prstGeom prst="rect">
            <a:avLst/>
          </a:prstGeom>
        </p:spPr>
      </p:pic>
      <p:pic>
        <p:nvPicPr>
          <p:cNvPr id="6" name="Picture 5" descr="Untitled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876800" y="2387352"/>
            <a:ext cx="2743200" cy="3503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141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457200"/>
            <a:ext cx="8991600" cy="63246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GB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Note:</a:t>
            </a:r>
          </a:p>
          <a:p>
            <a:pPr>
              <a:buNone/>
            </a:pPr>
            <a:endParaRPr lang="en-GB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DFS and BFS traversals result in acyclic graph.</a:t>
            </a:r>
          </a:p>
          <a:p>
            <a:pPr algn="just"/>
            <a:endParaRPr lang="en-GB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DFS and BFS will not give same order of vertices for a graph.</a:t>
            </a:r>
          </a:p>
          <a:p>
            <a:pPr algn="just"/>
            <a:endParaRPr lang="en-GB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DFS and BFS can be employed to decide whether there is a path from a given vertex v</a:t>
            </a:r>
            <a:r>
              <a:rPr lang="en-GB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to another vertex </a:t>
            </a:r>
            <a:r>
              <a:rPr lang="en-GB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GB" sz="2400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and if it exists then trace the path from v</a:t>
            </a:r>
            <a:r>
              <a:rPr lang="en-GB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GB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GB" sz="2400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GB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DFS and BFS cannot visit a vertex say v</a:t>
            </a:r>
            <a:r>
              <a:rPr lang="en-GB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if there is no path from the starting vertex to v</a:t>
            </a:r>
            <a:r>
              <a:rPr lang="en-GB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1182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/>
          <a:lstStyle/>
          <a:p>
            <a:r>
              <a:rPr lang="en-US" b="1" dirty="0" smtClean="0"/>
              <a:t>Application of Graph structures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900" y="1321832"/>
            <a:ext cx="8572500" cy="5410200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1. Transportation problem(or Shortest path problems)</a:t>
            </a:r>
          </a:p>
          <a:p>
            <a:pPr>
              <a:buNone/>
            </a:pP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09600" y="3429000"/>
            <a:ext cx="5334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1219200" y="4953000"/>
            <a:ext cx="5334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590800" y="3810000"/>
            <a:ext cx="5334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209800" y="2286000"/>
            <a:ext cx="5334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3581400" y="5257800"/>
            <a:ext cx="5334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724400" y="3352800"/>
            <a:ext cx="5334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705600" y="4343400"/>
            <a:ext cx="5334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6858000" y="2133600"/>
            <a:ext cx="5334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/>
          <p:cNvCxnSpPr>
            <a:stCxn id="4" idx="2"/>
          </p:cNvCxnSpPr>
          <p:nvPr/>
        </p:nvCxnSpPr>
        <p:spPr>
          <a:xfrm>
            <a:off x="876300" y="3886200"/>
            <a:ext cx="495300" cy="1066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4" idx="0"/>
            <a:endCxn id="7" idx="1"/>
          </p:cNvCxnSpPr>
          <p:nvPr/>
        </p:nvCxnSpPr>
        <p:spPr>
          <a:xfrm flipV="1">
            <a:off x="876300" y="2514600"/>
            <a:ext cx="1333500" cy="914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7" idx="2"/>
            <a:endCxn id="6" idx="0"/>
          </p:cNvCxnSpPr>
          <p:nvPr/>
        </p:nvCxnSpPr>
        <p:spPr>
          <a:xfrm>
            <a:off x="2476500" y="2743200"/>
            <a:ext cx="381000" cy="1066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5" idx="3"/>
          </p:cNvCxnSpPr>
          <p:nvPr/>
        </p:nvCxnSpPr>
        <p:spPr>
          <a:xfrm flipV="1">
            <a:off x="1752600" y="4267200"/>
            <a:ext cx="990600" cy="914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endCxn id="8" idx="0"/>
          </p:cNvCxnSpPr>
          <p:nvPr/>
        </p:nvCxnSpPr>
        <p:spPr>
          <a:xfrm>
            <a:off x="3124200" y="4267200"/>
            <a:ext cx="723900" cy="990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5" idx="3"/>
            <a:endCxn id="8" idx="1"/>
          </p:cNvCxnSpPr>
          <p:nvPr/>
        </p:nvCxnSpPr>
        <p:spPr>
          <a:xfrm>
            <a:off x="1752600" y="5181600"/>
            <a:ext cx="1828800" cy="304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7" idx="3"/>
          </p:cNvCxnSpPr>
          <p:nvPr/>
        </p:nvCxnSpPr>
        <p:spPr>
          <a:xfrm>
            <a:off x="2743200" y="2514600"/>
            <a:ext cx="2057400" cy="838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flipV="1">
            <a:off x="4114800" y="3886200"/>
            <a:ext cx="685800" cy="1371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endCxn id="10" idx="1"/>
          </p:cNvCxnSpPr>
          <p:nvPr/>
        </p:nvCxnSpPr>
        <p:spPr>
          <a:xfrm>
            <a:off x="5181600" y="3733800"/>
            <a:ext cx="1524000" cy="838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endCxn id="11" idx="1"/>
          </p:cNvCxnSpPr>
          <p:nvPr/>
        </p:nvCxnSpPr>
        <p:spPr>
          <a:xfrm flipV="1">
            <a:off x="5181600" y="2362200"/>
            <a:ext cx="1676400" cy="990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H="1">
            <a:off x="7086600" y="2590800"/>
            <a:ext cx="152400" cy="1752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143000" y="259080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1752600" y="342900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b</a:t>
            </a:r>
            <a:endParaRPr lang="en-US" dirty="0"/>
          </a:p>
        </p:txBody>
      </p:sp>
      <p:cxnSp>
        <p:nvCxnSpPr>
          <p:cNvPr id="37" name="Straight Connector 36"/>
          <p:cNvCxnSpPr>
            <a:stCxn id="4" idx="3"/>
            <a:endCxn id="6" idx="1"/>
          </p:cNvCxnSpPr>
          <p:nvPr/>
        </p:nvCxnSpPr>
        <p:spPr>
          <a:xfrm>
            <a:off x="1143000" y="3657600"/>
            <a:ext cx="1447800" cy="381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143000" y="419100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</a:t>
            </a:r>
            <a:endParaRPr lang="en-US" dirty="0"/>
          </a:p>
        </p:txBody>
      </p:sp>
      <p:sp>
        <p:nvSpPr>
          <p:cNvPr id="39" name="TextBox 38"/>
          <p:cNvSpPr txBox="1"/>
          <p:nvPr/>
        </p:nvSpPr>
        <p:spPr>
          <a:xfrm>
            <a:off x="5791200" y="365760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k</a:t>
            </a:r>
            <a:endParaRPr lang="en-US" dirty="0"/>
          </a:p>
        </p:txBody>
      </p:sp>
      <p:sp>
        <p:nvSpPr>
          <p:cNvPr id="40" name="TextBox 39"/>
          <p:cNvSpPr txBox="1"/>
          <p:nvPr/>
        </p:nvSpPr>
        <p:spPr>
          <a:xfrm>
            <a:off x="1905000" y="434340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</a:t>
            </a:r>
            <a:endParaRPr 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2590800" y="487680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</a:t>
            </a:r>
            <a:endParaRPr lang="en-US" dirty="0"/>
          </a:p>
        </p:txBody>
      </p:sp>
      <p:sp>
        <p:nvSpPr>
          <p:cNvPr id="42" name="TextBox 41"/>
          <p:cNvSpPr txBox="1"/>
          <p:nvPr/>
        </p:nvSpPr>
        <p:spPr>
          <a:xfrm>
            <a:off x="3429000" y="426720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g</a:t>
            </a:r>
            <a:endParaRPr lang="en-US" dirty="0"/>
          </a:p>
        </p:txBody>
      </p:sp>
      <p:sp>
        <p:nvSpPr>
          <p:cNvPr id="43" name="TextBox 42"/>
          <p:cNvSpPr txBox="1"/>
          <p:nvPr/>
        </p:nvSpPr>
        <p:spPr>
          <a:xfrm>
            <a:off x="3581400" y="243840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</a:t>
            </a:r>
            <a:endParaRPr lang="en-US" dirty="0"/>
          </a:p>
        </p:txBody>
      </p:sp>
      <p:sp>
        <p:nvSpPr>
          <p:cNvPr id="44" name="TextBox 43"/>
          <p:cNvSpPr txBox="1"/>
          <p:nvPr/>
        </p:nvSpPr>
        <p:spPr>
          <a:xfrm>
            <a:off x="5562600" y="251460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j</a:t>
            </a:r>
            <a:endParaRPr lang="en-US" dirty="0"/>
          </a:p>
        </p:txBody>
      </p:sp>
      <p:sp>
        <p:nvSpPr>
          <p:cNvPr id="45" name="TextBox 44"/>
          <p:cNvSpPr txBox="1"/>
          <p:nvPr/>
        </p:nvSpPr>
        <p:spPr>
          <a:xfrm>
            <a:off x="2819400" y="327660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</a:t>
            </a:r>
            <a:endParaRPr lang="en-US" dirty="0"/>
          </a:p>
        </p:txBody>
      </p:sp>
      <p:sp>
        <p:nvSpPr>
          <p:cNvPr id="46" name="TextBox 45"/>
          <p:cNvSpPr txBox="1"/>
          <p:nvPr/>
        </p:nvSpPr>
        <p:spPr>
          <a:xfrm>
            <a:off x="7315200" y="320040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7748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868362"/>
          </a:xfrm>
        </p:spPr>
        <p:txBody>
          <a:bodyPr/>
          <a:lstStyle/>
          <a:p>
            <a:r>
              <a:rPr lang="en-US" dirty="0" smtClean="0"/>
              <a:t>2. Map </a:t>
            </a:r>
            <a:r>
              <a:rPr lang="en-US" dirty="0" err="1" smtClean="0"/>
              <a:t>Colouring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14400"/>
            <a:ext cx="8382000" cy="5211763"/>
          </a:xfrm>
        </p:spPr>
        <p:txBody>
          <a:bodyPr/>
          <a:lstStyle/>
          <a:p>
            <a:r>
              <a:rPr lang="en-US" dirty="0" smtClean="0"/>
              <a:t>No two adjacent regions of the graph will have same color.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905000"/>
            <a:ext cx="3855904" cy="304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Oval 6"/>
          <p:cNvSpPr/>
          <p:nvPr/>
        </p:nvSpPr>
        <p:spPr>
          <a:xfrm>
            <a:off x="4495800" y="3657600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5410200" y="4419600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</a:t>
            </a:r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5943600" y="3657600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</a:t>
            </a:r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6477000" y="1828800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</a:t>
            </a:r>
            <a:endParaRPr lang="en-US" dirty="0"/>
          </a:p>
        </p:txBody>
      </p:sp>
      <p:sp>
        <p:nvSpPr>
          <p:cNvPr id="13" name="Oval 12"/>
          <p:cNvSpPr/>
          <p:nvPr/>
        </p:nvSpPr>
        <p:spPr>
          <a:xfrm>
            <a:off x="8001000" y="4419600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</a:t>
            </a:r>
            <a:endParaRPr lang="en-US" dirty="0"/>
          </a:p>
        </p:txBody>
      </p:sp>
      <p:sp>
        <p:nvSpPr>
          <p:cNvPr id="15" name="Oval 14"/>
          <p:cNvSpPr/>
          <p:nvPr/>
        </p:nvSpPr>
        <p:spPr>
          <a:xfrm>
            <a:off x="6705600" y="2971800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</a:t>
            </a:r>
            <a:endParaRPr lang="en-US" dirty="0"/>
          </a:p>
        </p:txBody>
      </p:sp>
      <p:cxnSp>
        <p:nvCxnSpPr>
          <p:cNvPr id="17" name="Straight Connector 16"/>
          <p:cNvCxnSpPr>
            <a:endCxn id="8" idx="1"/>
          </p:cNvCxnSpPr>
          <p:nvPr/>
        </p:nvCxnSpPr>
        <p:spPr>
          <a:xfrm>
            <a:off x="4800600" y="4038600"/>
            <a:ext cx="687715" cy="4591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4800600" y="3810002"/>
            <a:ext cx="1447800" cy="1523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5715002" y="3962400"/>
            <a:ext cx="457198" cy="609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V="1">
            <a:off x="6172200" y="2057400"/>
            <a:ext cx="609600" cy="1905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6705600" y="2209800"/>
            <a:ext cx="228600" cy="990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15" idx="3"/>
            <a:endCxn id="9" idx="7"/>
          </p:cNvCxnSpPr>
          <p:nvPr/>
        </p:nvCxnSpPr>
        <p:spPr>
          <a:xfrm flipH="1">
            <a:off x="6398885" y="3427085"/>
            <a:ext cx="384830" cy="3086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15" idx="5"/>
          </p:cNvCxnSpPr>
          <p:nvPr/>
        </p:nvCxnSpPr>
        <p:spPr>
          <a:xfrm>
            <a:off x="7160885" y="3427085"/>
            <a:ext cx="1144915" cy="12973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9" idx="5"/>
            <a:endCxn id="13" idx="1"/>
          </p:cNvCxnSpPr>
          <p:nvPr/>
        </p:nvCxnSpPr>
        <p:spPr>
          <a:xfrm>
            <a:off x="6398885" y="4112885"/>
            <a:ext cx="1680230" cy="3848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V="1">
            <a:off x="5791200" y="4648200"/>
            <a:ext cx="2514600" cy="76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/>
          <p:nvPr/>
        </p:nvCxnSpPr>
        <p:spPr>
          <a:xfrm>
            <a:off x="6781800" y="2057400"/>
            <a:ext cx="1600200" cy="2514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6490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3. Topological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382000" cy="4983163"/>
          </a:xfrm>
        </p:spPr>
        <p:txBody>
          <a:bodyPr/>
          <a:lstStyle/>
          <a:p>
            <a:r>
              <a:rPr lang="en-US" dirty="0" smtClean="0"/>
              <a:t>A </a:t>
            </a:r>
            <a:r>
              <a:rPr lang="en-US" b="1" dirty="0" smtClean="0"/>
              <a:t>topological sort</a:t>
            </a:r>
            <a:r>
              <a:rPr lang="en-US" dirty="0" smtClean="0"/>
              <a:t> or </a:t>
            </a:r>
            <a:r>
              <a:rPr lang="en-US" b="1" dirty="0" smtClean="0"/>
              <a:t>topological</a:t>
            </a:r>
            <a:r>
              <a:rPr lang="en-US" dirty="0" smtClean="0"/>
              <a:t> ordering of a directed graph is a linear ordering of its vertices such that for every directed edge </a:t>
            </a:r>
            <a:r>
              <a:rPr lang="en-US" dirty="0" err="1" smtClean="0"/>
              <a:t>uv</a:t>
            </a:r>
            <a:r>
              <a:rPr lang="en-US" dirty="0" smtClean="0"/>
              <a:t> from vertex u to vertex v, u comes before v in the ordering.</a:t>
            </a:r>
          </a:p>
          <a:p>
            <a:endParaRPr lang="en-US" dirty="0"/>
          </a:p>
        </p:txBody>
      </p:sp>
      <p:pic>
        <p:nvPicPr>
          <p:cNvPr id="4" name="Picture 3" descr="graph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505200" y="3429000"/>
            <a:ext cx="3587934" cy="2895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69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0236"/>
            <a:ext cx="8229600" cy="1143000"/>
          </a:xfrm>
        </p:spPr>
        <p:txBody>
          <a:bodyPr/>
          <a:lstStyle/>
          <a:p>
            <a:r>
              <a:rPr lang="en-US" dirty="0" smtClean="0"/>
              <a:t>Application contd.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371600"/>
            <a:ext cx="8686800" cy="51816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4. Flowchart of a program.</a:t>
            </a:r>
          </a:p>
          <a:p>
            <a:pPr marL="0" indent="0" algn="just">
              <a:buNone/>
            </a:pP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5. Graphs are nothing but connected nodes(vertex). So any network related, routing, finding relation, path etc related real life applications use graphs(.i.e. Source-Destination Networks)</a:t>
            </a:r>
          </a:p>
          <a:p>
            <a:pPr lvl="1" algn="just"/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 Connecting with friends on social media, where each user is a vertex, and when users connect they create an edge.</a:t>
            </a:r>
          </a:p>
          <a:p>
            <a:pPr lvl="1" algn="just"/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Using GPS/Google Maps/Yahoo Maps, to find a route based on shortest route.</a:t>
            </a:r>
          </a:p>
          <a:p>
            <a:pPr lvl="1" algn="just"/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On </a:t>
            </a:r>
            <a:r>
              <a:rPr lang="en-US" sz="2600" dirty="0" err="1" smtClean="0">
                <a:latin typeface="Times New Roman" pitchFamily="18" charset="0"/>
                <a:cs typeface="Times New Roman" pitchFamily="18" charset="0"/>
              </a:rPr>
              <a:t>eCommerce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 websites relationship graphs are used to show recommendations.</a:t>
            </a:r>
          </a:p>
          <a:p>
            <a:pPr lvl="1" algn="just"/>
            <a:endParaRPr lang="en-US" sz="26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8931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>
            <a:normAutofit/>
          </a:bodyPr>
          <a:lstStyle/>
          <a:p>
            <a:r>
              <a:rPr lang="en-GB" sz="3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(DS LAB) </a:t>
            </a:r>
            <a:r>
              <a:rPr lang="en-GB" sz="3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Creation </a:t>
            </a:r>
            <a:r>
              <a:rPr lang="en-GB" sz="3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 Adjacency Matrix</a:t>
            </a:r>
            <a:endParaRPr lang="en-GB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143000"/>
            <a:ext cx="8763000" cy="5562600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GB" dirty="0" smtClean="0"/>
              <a:t>void insert()</a:t>
            </a:r>
          </a:p>
          <a:p>
            <a:pPr>
              <a:buNone/>
            </a:pPr>
            <a:r>
              <a:rPr lang="en-GB" dirty="0" smtClean="0"/>
              <a:t>{</a:t>
            </a:r>
          </a:p>
          <a:p>
            <a:pPr>
              <a:buNone/>
            </a:pPr>
            <a:r>
              <a:rPr lang="en-GB" dirty="0" smtClean="0"/>
              <a:t>     </a:t>
            </a:r>
            <a:r>
              <a:rPr lang="en-GB" dirty="0" err="1" smtClean="0"/>
              <a:t>int</a:t>
            </a:r>
            <a:r>
              <a:rPr lang="en-GB" dirty="0" smtClean="0"/>
              <a:t> </a:t>
            </a:r>
            <a:r>
              <a:rPr lang="en-GB" dirty="0" err="1" smtClean="0"/>
              <a:t>i,j,item</a:t>
            </a:r>
            <a:r>
              <a:rPr lang="en-GB" dirty="0" smtClean="0"/>
              <a:t>;</a:t>
            </a:r>
          </a:p>
          <a:p>
            <a:pPr>
              <a:buNone/>
            </a:pPr>
            <a:r>
              <a:rPr lang="en-GB" dirty="0" smtClean="0"/>
              <a:t>     </a:t>
            </a:r>
            <a:r>
              <a:rPr lang="en-GB" dirty="0" err="1" smtClean="0"/>
              <a:t>int</a:t>
            </a:r>
            <a:r>
              <a:rPr lang="en-GB" dirty="0" smtClean="0"/>
              <a:t> </a:t>
            </a:r>
            <a:r>
              <a:rPr lang="en-GB" dirty="0" err="1" smtClean="0"/>
              <a:t>cho</a:t>
            </a:r>
            <a:r>
              <a:rPr lang="en-GB" dirty="0" smtClean="0"/>
              <a:t>;</a:t>
            </a:r>
          </a:p>
          <a:p>
            <a:pPr>
              <a:buNone/>
            </a:pPr>
            <a:r>
              <a:rPr lang="en-GB" dirty="0" smtClean="0"/>
              <a:t>     </a:t>
            </a:r>
            <a:r>
              <a:rPr lang="en-GB" dirty="0" err="1" smtClean="0"/>
              <a:t>printf</a:t>
            </a:r>
            <a:r>
              <a:rPr lang="en-GB" dirty="0" smtClean="0"/>
              <a:t>("Enter the no of vertices\n");</a:t>
            </a:r>
          </a:p>
          <a:p>
            <a:pPr>
              <a:buNone/>
            </a:pPr>
            <a:r>
              <a:rPr lang="en-GB" dirty="0" smtClean="0"/>
              <a:t>     </a:t>
            </a:r>
            <a:r>
              <a:rPr lang="en-GB" dirty="0" err="1" smtClean="0"/>
              <a:t>scanf</a:t>
            </a:r>
            <a:r>
              <a:rPr lang="en-GB" dirty="0" smtClean="0"/>
              <a:t>("%</a:t>
            </a:r>
            <a:r>
              <a:rPr lang="en-GB" dirty="0" err="1" smtClean="0"/>
              <a:t>d",&amp;n</a:t>
            </a:r>
            <a:r>
              <a:rPr lang="en-GB" dirty="0" smtClean="0"/>
              <a:t>);</a:t>
            </a:r>
          </a:p>
          <a:p>
            <a:pPr>
              <a:buNone/>
            </a:pPr>
            <a:r>
              <a:rPr lang="en-GB" dirty="0" smtClean="0"/>
              <a:t>     </a:t>
            </a:r>
            <a:r>
              <a:rPr lang="en-GB" dirty="0" err="1" smtClean="0"/>
              <a:t>printf</a:t>
            </a:r>
            <a:r>
              <a:rPr lang="en-GB" dirty="0" smtClean="0"/>
              <a:t>("Enter the vertices\n");</a:t>
            </a:r>
          </a:p>
          <a:p>
            <a:pPr>
              <a:buNone/>
            </a:pPr>
            <a:r>
              <a:rPr lang="en-GB" dirty="0" smtClean="0"/>
              <a:t>     for(</a:t>
            </a:r>
            <a:r>
              <a:rPr lang="en-GB" dirty="0" err="1" smtClean="0"/>
              <a:t>i</a:t>
            </a:r>
            <a:r>
              <a:rPr lang="en-GB" dirty="0" smtClean="0"/>
              <a:t>=0;i&lt;</a:t>
            </a:r>
            <a:r>
              <a:rPr lang="en-GB" dirty="0" err="1" smtClean="0"/>
              <a:t>n;i</a:t>
            </a:r>
            <a:r>
              <a:rPr lang="en-GB" dirty="0" smtClean="0"/>
              <a:t>++)</a:t>
            </a:r>
          </a:p>
          <a:p>
            <a:pPr>
              <a:buNone/>
            </a:pPr>
            <a:r>
              <a:rPr lang="en-GB" dirty="0" smtClean="0"/>
              <a:t>                     </a:t>
            </a:r>
            <a:r>
              <a:rPr lang="en-GB" dirty="0" err="1" smtClean="0"/>
              <a:t>scanf</a:t>
            </a:r>
            <a:r>
              <a:rPr lang="en-GB" dirty="0" smtClean="0"/>
              <a:t>("%</a:t>
            </a:r>
            <a:r>
              <a:rPr lang="en-GB" dirty="0" err="1" smtClean="0"/>
              <a:t>d",&amp;a</a:t>
            </a:r>
            <a:r>
              <a:rPr lang="en-GB" dirty="0" smtClean="0"/>
              <a:t>[</a:t>
            </a:r>
            <a:r>
              <a:rPr lang="en-GB" dirty="0" err="1" smtClean="0"/>
              <a:t>i</a:t>
            </a:r>
            <a:r>
              <a:rPr lang="en-GB" dirty="0" smtClean="0"/>
              <a:t>]);</a:t>
            </a:r>
          </a:p>
          <a:p>
            <a:pPr>
              <a:buNone/>
            </a:pPr>
            <a:r>
              <a:rPr lang="en-GB" dirty="0" smtClean="0"/>
              <a:t>     for(</a:t>
            </a:r>
            <a:r>
              <a:rPr lang="en-GB" dirty="0" err="1" smtClean="0"/>
              <a:t>i</a:t>
            </a:r>
            <a:r>
              <a:rPr lang="en-GB" dirty="0" smtClean="0"/>
              <a:t>=0;i&lt;</a:t>
            </a:r>
            <a:r>
              <a:rPr lang="en-GB" dirty="0" err="1" smtClean="0"/>
              <a:t>n;i</a:t>
            </a:r>
            <a:r>
              <a:rPr lang="en-GB" dirty="0" smtClean="0"/>
              <a:t>++)</a:t>
            </a:r>
          </a:p>
          <a:p>
            <a:pPr>
              <a:buNone/>
            </a:pPr>
            <a:r>
              <a:rPr lang="en-GB" dirty="0" smtClean="0"/>
              <a:t>     {</a:t>
            </a:r>
          </a:p>
          <a:p>
            <a:pPr>
              <a:buNone/>
            </a:pPr>
            <a:r>
              <a:rPr lang="en-GB" dirty="0" smtClean="0"/>
              <a:t>           for(j=0;j&lt;=</a:t>
            </a:r>
            <a:r>
              <a:rPr lang="en-GB" dirty="0" err="1" smtClean="0"/>
              <a:t>n;j</a:t>
            </a:r>
            <a:r>
              <a:rPr lang="en-GB" dirty="0" smtClean="0"/>
              <a:t>++)</a:t>
            </a:r>
          </a:p>
          <a:p>
            <a:pPr>
              <a:buNone/>
            </a:pPr>
            <a:r>
              <a:rPr lang="en-GB" dirty="0" smtClean="0"/>
              <a:t>                            m[</a:t>
            </a:r>
            <a:r>
              <a:rPr lang="en-GB" dirty="0" err="1" smtClean="0"/>
              <a:t>i</a:t>
            </a:r>
            <a:r>
              <a:rPr lang="en-GB" dirty="0" smtClean="0"/>
              <a:t>][j]=0;</a:t>
            </a:r>
          </a:p>
          <a:p>
            <a:pPr>
              <a:buNone/>
            </a:pPr>
            <a:r>
              <a:rPr lang="en-GB" dirty="0" smtClean="0"/>
              <a:t>     }</a:t>
            </a:r>
          </a:p>
          <a:p>
            <a:pPr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71595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8915400" cy="6858000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endParaRPr lang="en-GB" dirty="0" smtClean="0"/>
          </a:p>
          <a:p>
            <a:pPr>
              <a:buNone/>
            </a:pPr>
            <a:r>
              <a:rPr lang="en-GB" dirty="0" smtClean="0"/>
              <a:t>for(</a:t>
            </a:r>
            <a:r>
              <a:rPr lang="en-GB" dirty="0" err="1" smtClean="0"/>
              <a:t>i</a:t>
            </a:r>
            <a:r>
              <a:rPr lang="en-GB" dirty="0" smtClean="0"/>
              <a:t>=0;i&lt;</a:t>
            </a:r>
            <a:r>
              <a:rPr lang="en-GB" dirty="0" err="1" smtClean="0"/>
              <a:t>n;i</a:t>
            </a:r>
            <a:r>
              <a:rPr lang="en-GB" dirty="0" smtClean="0"/>
              <a:t>++)</a:t>
            </a:r>
          </a:p>
          <a:p>
            <a:pPr>
              <a:buNone/>
            </a:pPr>
            <a:r>
              <a:rPr lang="en-GB" dirty="0" smtClean="0"/>
              <a:t>     {</a:t>
            </a:r>
          </a:p>
          <a:p>
            <a:pPr>
              <a:buNone/>
            </a:pPr>
            <a:r>
              <a:rPr lang="en-GB" dirty="0" smtClean="0"/>
              <a:t>                     </a:t>
            </a:r>
            <a:r>
              <a:rPr lang="en-GB" dirty="0" err="1" smtClean="0"/>
              <a:t>printf</a:t>
            </a:r>
            <a:r>
              <a:rPr lang="en-GB" dirty="0" smtClean="0"/>
              <a:t>("\</a:t>
            </a:r>
            <a:r>
              <a:rPr lang="en-GB" dirty="0" err="1" smtClean="0"/>
              <a:t>ndo</a:t>
            </a:r>
            <a:r>
              <a:rPr lang="en-GB" dirty="0" smtClean="0"/>
              <a:t> u want adjacent node for %d (1/0) : ",a[</a:t>
            </a:r>
            <a:r>
              <a:rPr lang="en-GB" dirty="0" err="1" smtClean="0"/>
              <a:t>i</a:t>
            </a:r>
            <a:r>
              <a:rPr lang="en-GB" dirty="0" smtClean="0"/>
              <a:t>]);</a:t>
            </a:r>
          </a:p>
          <a:p>
            <a:pPr>
              <a:buNone/>
            </a:pPr>
            <a:r>
              <a:rPr lang="en-GB" dirty="0" smtClean="0"/>
              <a:t>                     </a:t>
            </a:r>
            <a:r>
              <a:rPr lang="en-GB" dirty="0" err="1" smtClean="0"/>
              <a:t>scanf</a:t>
            </a:r>
            <a:r>
              <a:rPr lang="en-GB" dirty="0" smtClean="0"/>
              <a:t>("%</a:t>
            </a:r>
            <a:r>
              <a:rPr lang="en-GB" dirty="0" err="1" smtClean="0"/>
              <a:t>d",&amp;cho</a:t>
            </a:r>
            <a:r>
              <a:rPr lang="en-GB" dirty="0" smtClean="0"/>
              <a:t>);</a:t>
            </a:r>
          </a:p>
          <a:p>
            <a:pPr>
              <a:buNone/>
            </a:pPr>
            <a:r>
              <a:rPr lang="en-GB" dirty="0" smtClean="0"/>
              <a:t>                     while(</a:t>
            </a:r>
            <a:r>
              <a:rPr lang="en-GB" dirty="0" err="1" smtClean="0"/>
              <a:t>cho</a:t>
            </a:r>
            <a:r>
              <a:rPr lang="en-GB" dirty="0" smtClean="0"/>
              <a:t>==1)</a:t>
            </a:r>
          </a:p>
          <a:p>
            <a:pPr>
              <a:buNone/>
            </a:pPr>
            <a:r>
              <a:rPr lang="en-GB" dirty="0" smtClean="0"/>
              <a:t>                     {</a:t>
            </a:r>
          </a:p>
          <a:p>
            <a:pPr>
              <a:buNone/>
            </a:pPr>
            <a:r>
              <a:rPr lang="en-GB" dirty="0" smtClean="0"/>
              <a:t>                                  </a:t>
            </a:r>
            <a:r>
              <a:rPr lang="en-GB" dirty="0" err="1" smtClean="0"/>
              <a:t>printf</a:t>
            </a:r>
            <a:r>
              <a:rPr lang="en-GB" dirty="0" smtClean="0"/>
              <a:t>("\</a:t>
            </a:r>
            <a:r>
              <a:rPr lang="en-GB" dirty="0" err="1" smtClean="0"/>
              <a:t>nEnter</a:t>
            </a:r>
            <a:r>
              <a:rPr lang="en-GB" dirty="0" smtClean="0"/>
              <a:t> the adjacent node:");</a:t>
            </a:r>
          </a:p>
          <a:p>
            <a:pPr>
              <a:buNone/>
            </a:pPr>
            <a:r>
              <a:rPr lang="en-GB" dirty="0" smtClean="0"/>
              <a:t>                                  </a:t>
            </a:r>
            <a:r>
              <a:rPr lang="en-GB" dirty="0" err="1" smtClean="0"/>
              <a:t>scanf</a:t>
            </a:r>
            <a:r>
              <a:rPr lang="en-GB" dirty="0" smtClean="0"/>
              <a:t>("%</a:t>
            </a:r>
            <a:r>
              <a:rPr lang="en-GB" dirty="0" err="1" smtClean="0"/>
              <a:t>d",&amp;item</a:t>
            </a:r>
            <a:r>
              <a:rPr lang="en-GB" dirty="0" smtClean="0"/>
              <a:t>);</a:t>
            </a:r>
          </a:p>
          <a:p>
            <a:pPr>
              <a:buNone/>
            </a:pPr>
            <a:r>
              <a:rPr lang="en-GB" dirty="0" smtClean="0"/>
              <a:t>                                  for(j=0;j&lt;</a:t>
            </a:r>
            <a:r>
              <a:rPr lang="en-GB" dirty="0" err="1" smtClean="0"/>
              <a:t>n;j</a:t>
            </a:r>
            <a:r>
              <a:rPr lang="en-GB" dirty="0" smtClean="0"/>
              <a:t>++)</a:t>
            </a:r>
          </a:p>
          <a:p>
            <a:pPr>
              <a:buNone/>
            </a:pPr>
            <a:r>
              <a:rPr lang="en-GB" dirty="0" smtClean="0"/>
              <a:t>                                  {</a:t>
            </a:r>
          </a:p>
          <a:p>
            <a:pPr>
              <a:buNone/>
            </a:pPr>
            <a:r>
              <a:rPr lang="en-GB" dirty="0" smtClean="0"/>
              <a:t>                                                  if(a[j]==item)</a:t>
            </a:r>
          </a:p>
          <a:p>
            <a:pPr>
              <a:buNone/>
            </a:pPr>
            <a:r>
              <a:rPr lang="en-GB" dirty="0" smtClean="0"/>
              <a:t>	                                                            break;</a:t>
            </a:r>
          </a:p>
          <a:p>
            <a:pPr>
              <a:buNone/>
            </a:pPr>
            <a:r>
              <a:rPr lang="en-GB" dirty="0" smtClean="0"/>
              <a:t>                                  }</a:t>
            </a:r>
          </a:p>
          <a:p>
            <a:pPr>
              <a:buNone/>
            </a:pPr>
            <a:r>
              <a:rPr lang="en-GB" dirty="0" smtClean="0"/>
              <a:t>                                  m[</a:t>
            </a:r>
            <a:r>
              <a:rPr lang="en-GB" dirty="0" err="1" smtClean="0"/>
              <a:t>i</a:t>
            </a:r>
            <a:r>
              <a:rPr lang="en-GB" dirty="0" smtClean="0"/>
              <a:t>][j]=1;</a:t>
            </a:r>
          </a:p>
          <a:p>
            <a:pPr>
              <a:buNone/>
            </a:pPr>
            <a:r>
              <a:rPr lang="en-GB" dirty="0" smtClean="0"/>
              <a:t>                                  </a:t>
            </a:r>
            <a:r>
              <a:rPr lang="en-GB" dirty="0" err="1" smtClean="0"/>
              <a:t>printf</a:t>
            </a:r>
            <a:r>
              <a:rPr lang="en-GB" dirty="0" smtClean="0"/>
              <a:t>("\</a:t>
            </a:r>
            <a:r>
              <a:rPr lang="en-GB" dirty="0" err="1" smtClean="0"/>
              <a:t>nDo</a:t>
            </a:r>
            <a:r>
              <a:rPr lang="en-GB" dirty="0" smtClean="0"/>
              <a:t> u want more nodes for %d (1/0) : ",a[</a:t>
            </a:r>
            <a:r>
              <a:rPr lang="en-GB" dirty="0" err="1" smtClean="0"/>
              <a:t>i</a:t>
            </a:r>
            <a:r>
              <a:rPr lang="en-GB" dirty="0" smtClean="0"/>
              <a:t>]);</a:t>
            </a:r>
          </a:p>
          <a:p>
            <a:pPr>
              <a:buNone/>
            </a:pPr>
            <a:r>
              <a:rPr lang="en-GB" dirty="0" smtClean="0"/>
              <a:t>                                  </a:t>
            </a:r>
            <a:r>
              <a:rPr lang="en-GB" dirty="0" err="1" smtClean="0"/>
              <a:t>scanf</a:t>
            </a:r>
            <a:r>
              <a:rPr lang="en-GB" dirty="0" smtClean="0"/>
              <a:t>("%</a:t>
            </a:r>
            <a:r>
              <a:rPr lang="en-GB" dirty="0" err="1" smtClean="0"/>
              <a:t>d",&amp;cho</a:t>
            </a:r>
            <a:r>
              <a:rPr lang="en-GB" dirty="0" smtClean="0"/>
              <a:t>);</a:t>
            </a:r>
          </a:p>
          <a:p>
            <a:pPr>
              <a:buNone/>
            </a:pPr>
            <a:r>
              <a:rPr lang="en-GB" dirty="0" smtClean="0"/>
              <a:t>                     }</a:t>
            </a:r>
          </a:p>
          <a:p>
            <a:pPr>
              <a:buNone/>
            </a:pPr>
            <a:r>
              <a:rPr lang="en-GB" dirty="0" smtClean="0"/>
              <a:t>     }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31802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8991600" cy="6858000"/>
          </a:xfrm>
        </p:spPr>
        <p:txBody>
          <a:bodyPr>
            <a:normAutofit fontScale="47500" lnSpcReduction="20000"/>
          </a:bodyPr>
          <a:lstStyle/>
          <a:p>
            <a:pPr algn="ctr">
              <a:buNone/>
            </a:pPr>
            <a:r>
              <a:rPr lang="en-GB" b="1" u="sng" dirty="0" smtClean="0"/>
              <a:t>DFS  CODE</a:t>
            </a:r>
          </a:p>
          <a:p>
            <a:pPr>
              <a:buNone/>
            </a:pPr>
            <a:endParaRPr lang="en-GB" dirty="0" smtClean="0"/>
          </a:p>
          <a:p>
            <a:pPr>
              <a:buNone/>
            </a:pPr>
            <a:r>
              <a:rPr lang="en-GB" dirty="0" smtClean="0"/>
              <a:t>void </a:t>
            </a:r>
            <a:r>
              <a:rPr lang="en-GB" dirty="0" err="1" smtClean="0"/>
              <a:t>D_first</a:t>
            </a:r>
            <a:r>
              <a:rPr lang="en-GB" dirty="0" smtClean="0"/>
              <a:t>()</a:t>
            </a:r>
          </a:p>
          <a:p>
            <a:pPr>
              <a:buNone/>
            </a:pPr>
            <a:r>
              <a:rPr lang="en-GB" dirty="0" smtClean="0"/>
              <a:t>{</a:t>
            </a:r>
          </a:p>
          <a:p>
            <a:pPr>
              <a:buNone/>
            </a:pPr>
            <a:r>
              <a:rPr lang="en-GB" dirty="0" smtClean="0"/>
              <a:t>     </a:t>
            </a:r>
            <a:r>
              <a:rPr lang="en-GB" dirty="0" err="1" smtClean="0"/>
              <a:t>int</a:t>
            </a:r>
            <a:r>
              <a:rPr lang="en-GB" dirty="0" smtClean="0"/>
              <a:t> visit[67],</a:t>
            </a:r>
            <a:r>
              <a:rPr lang="en-GB" dirty="0" err="1" smtClean="0"/>
              <a:t>loc,i,j,k,tmp</a:t>
            </a:r>
            <a:r>
              <a:rPr lang="en-GB" dirty="0" smtClean="0"/>
              <a:t>;</a:t>
            </a:r>
          </a:p>
          <a:p>
            <a:pPr>
              <a:buNone/>
            </a:pPr>
            <a:r>
              <a:rPr lang="en-GB" dirty="0" smtClean="0"/>
              <a:t>     for(</a:t>
            </a:r>
            <a:r>
              <a:rPr lang="en-GB" dirty="0" err="1" smtClean="0"/>
              <a:t>i</a:t>
            </a:r>
            <a:r>
              <a:rPr lang="en-GB" dirty="0" smtClean="0"/>
              <a:t>=0;i&lt;</a:t>
            </a:r>
            <a:r>
              <a:rPr lang="en-GB" dirty="0" err="1" smtClean="0"/>
              <a:t>n;i</a:t>
            </a:r>
            <a:r>
              <a:rPr lang="en-GB" dirty="0" smtClean="0"/>
              <a:t>++)</a:t>
            </a:r>
          </a:p>
          <a:p>
            <a:pPr>
              <a:buNone/>
            </a:pPr>
            <a:r>
              <a:rPr lang="en-GB" dirty="0" smtClean="0"/>
              <a:t>                     visit[</a:t>
            </a:r>
            <a:r>
              <a:rPr lang="en-GB" dirty="0" err="1" smtClean="0"/>
              <a:t>i</a:t>
            </a:r>
            <a:r>
              <a:rPr lang="en-GB" dirty="0" smtClean="0"/>
              <a:t>]=0;</a:t>
            </a:r>
          </a:p>
          <a:p>
            <a:pPr>
              <a:buNone/>
            </a:pPr>
            <a:endParaRPr lang="en-GB" dirty="0" smtClean="0"/>
          </a:p>
          <a:p>
            <a:pPr>
              <a:buNone/>
            </a:pPr>
            <a:r>
              <a:rPr lang="en-GB" dirty="0" smtClean="0"/>
              <a:t>     push(a[0]);</a:t>
            </a:r>
          </a:p>
          <a:p>
            <a:pPr>
              <a:buNone/>
            </a:pPr>
            <a:r>
              <a:rPr lang="en-GB" dirty="0" smtClean="0"/>
              <a:t>     while(top!=-1)</a:t>
            </a:r>
          </a:p>
          <a:p>
            <a:pPr>
              <a:buNone/>
            </a:pPr>
            <a:r>
              <a:rPr lang="en-GB" dirty="0" smtClean="0"/>
              <a:t>     {</a:t>
            </a:r>
          </a:p>
          <a:p>
            <a:pPr>
              <a:buNone/>
            </a:pPr>
            <a:r>
              <a:rPr lang="en-GB" dirty="0" smtClean="0"/>
              <a:t>	               </a:t>
            </a:r>
            <a:r>
              <a:rPr lang="en-GB" dirty="0" err="1" smtClean="0"/>
              <a:t>tmp</a:t>
            </a:r>
            <a:r>
              <a:rPr lang="en-GB" dirty="0" smtClean="0"/>
              <a:t>=pop();</a:t>
            </a:r>
          </a:p>
          <a:p>
            <a:pPr>
              <a:buNone/>
            </a:pPr>
            <a:r>
              <a:rPr lang="en-GB" dirty="0" smtClean="0"/>
              <a:t>                   for(loc=0;loc&lt;</a:t>
            </a:r>
            <a:r>
              <a:rPr lang="en-GB" dirty="0" err="1" smtClean="0"/>
              <a:t>n;loc</a:t>
            </a:r>
            <a:r>
              <a:rPr lang="en-GB" dirty="0" smtClean="0"/>
              <a:t>++)</a:t>
            </a:r>
          </a:p>
          <a:p>
            <a:pPr>
              <a:buNone/>
            </a:pPr>
            <a:r>
              <a:rPr lang="en-GB" dirty="0" smtClean="0"/>
              <a:t>	               {</a:t>
            </a:r>
          </a:p>
          <a:p>
            <a:pPr>
              <a:buNone/>
            </a:pPr>
            <a:r>
              <a:rPr lang="en-GB" dirty="0" smtClean="0"/>
              <a:t>                           if(a[loc]==</a:t>
            </a:r>
            <a:r>
              <a:rPr lang="en-GB" dirty="0" err="1" smtClean="0"/>
              <a:t>tmp</a:t>
            </a:r>
            <a:r>
              <a:rPr lang="en-GB" dirty="0" smtClean="0"/>
              <a:t>)</a:t>
            </a:r>
          </a:p>
          <a:p>
            <a:pPr>
              <a:buNone/>
            </a:pPr>
            <a:r>
              <a:rPr lang="en-GB" dirty="0" smtClean="0"/>
              <a:t>                                break;</a:t>
            </a:r>
          </a:p>
          <a:p>
            <a:pPr>
              <a:buNone/>
            </a:pPr>
            <a:r>
              <a:rPr lang="en-GB" dirty="0" smtClean="0"/>
              <a:t>                   }</a:t>
            </a:r>
          </a:p>
          <a:p>
            <a:pPr>
              <a:buNone/>
            </a:pPr>
            <a:r>
              <a:rPr lang="en-GB" dirty="0" smtClean="0"/>
              <a:t>	               if(visit[loc]==0)</a:t>
            </a:r>
          </a:p>
          <a:p>
            <a:pPr>
              <a:buNone/>
            </a:pPr>
            <a:r>
              <a:rPr lang="en-GB" dirty="0" smtClean="0"/>
              <a:t>	                               </a:t>
            </a:r>
            <a:r>
              <a:rPr lang="en-GB" dirty="0" err="1" smtClean="0"/>
              <a:t>printf</a:t>
            </a:r>
            <a:r>
              <a:rPr lang="en-GB" dirty="0" smtClean="0"/>
              <a:t>("%d ",a[loc]);</a:t>
            </a:r>
          </a:p>
          <a:p>
            <a:pPr>
              <a:buNone/>
            </a:pPr>
            <a:r>
              <a:rPr lang="en-GB" dirty="0" smtClean="0"/>
              <a:t>                   visit[loc]=1;</a:t>
            </a:r>
          </a:p>
          <a:p>
            <a:pPr>
              <a:buNone/>
            </a:pPr>
            <a:r>
              <a:rPr lang="en-GB" dirty="0" smtClean="0"/>
              <a:t>	               for(k=0;k&lt;</a:t>
            </a:r>
            <a:r>
              <a:rPr lang="en-GB" dirty="0" err="1" smtClean="0"/>
              <a:t>n;k</a:t>
            </a:r>
            <a:r>
              <a:rPr lang="en-GB" dirty="0" smtClean="0"/>
              <a:t>++)</a:t>
            </a:r>
          </a:p>
          <a:p>
            <a:pPr>
              <a:buNone/>
            </a:pPr>
            <a:r>
              <a:rPr lang="en-GB" dirty="0" smtClean="0"/>
              <a:t>	               {</a:t>
            </a:r>
          </a:p>
          <a:p>
            <a:pPr>
              <a:buNone/>
            </a:pPr>
            <a:r>
              <a:rPr lang="en-GB" dirty="0" smtClean="0"/>
              <a:t>                        if((m[loc][k]==1)&amp;&amp;visit[k]==0)</a:t>
            </a:r>
          </a:p>
          <a:p>
            <a:pPr>
              <a:buNone/>
            </a:pPr>
            <a:r>
              <a:rPr lang="en-GB" dirty="0" smtClean="0"/>
              <a:t>	                    {</a:t>
            </a:r>
          </a:p>
          <a:p>
            <a:pPr>
              <a:buNone/>
            </a:pPr>
            <a:r>
              <a:rPr lang="en-GB" dirty="0" smtClean="0"/>
              <a:t>	                         push(a[k]);</a:t>
            </a:r>
          </a:p>
          <a:p>
            <a:pPr>
              <a:buNone/>
            </a:pPr>
            <a:r>
              <a:rPr lang="en-GB" dirty="0" smtClean="0"/>
              <a:t>                        }</a:t>
            </a:r>
          </a:p>
          <a:p>
            <a:pPr>
              <a:buNone/>
            </a:pPr>
            <a:r>
              <a:rPr lang="en-GB" dirty="0" smtClean="0"/>
              <a:t>                   }</a:t>
            </a:r>
          </a:p>
          <a:p>
            <a:pPr>
              <a:buNone/>
            </a:pPr>
            <a:r>
              <a:rPr lang="en-GB" dirty="0" smtClean="0"/>
              <a:t>     }</a:t>
            </a:r>
          </a:p>
          <a:p>
            <a:pPr>
              <a:buNone/>
            </a:pPr>
            <a:r>
              <a:rPr lang="en-GB" dirty="0" smtClean="0"/>
              <a:t>}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18655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rmAutofit fontScale="47500" lnSpcReduction="20000"/>
          </a:bodyPr>
          <a:lstStyle/>
          <a:p>
            <a:pPr algn="ctr">
              <a:buNone/>
            </a:pPr>
            <a:r>
              <a:rPr lang="en-GB" b="1" u="sng" dirty="0" smtClean="0"/>
              <a:t>BFS Code</a:t>
            </a:r>
          </a:p>
          <a:p>
            <a:pPr>
              <a:buNone/>
            </a:pPr>
            <a:r>
              <a:rPr lang="en-GB" dirty="0" smtClean="0"/>
              <a:t>void </a:t>
            </a:r>
            <a:r>
              <a:rPr lang="en-GB" dirty="0" err="1" smtClean="0"/>
              <a:t>B_first</a:t>
            </a:r>
            <a:r>
              <a:rPr lang="en-GB" dirty="0" smtClean="0"/>
              <a:t>()</a:t>
            </a:r>
          </a:p>
          <a:p>
            <a:pPr>
              <a:buNone/>
            </a:pPr>
            <a:r>
              <a:rPr lang="en-GB" dirty="0" smtClean="0"/>
              <a:t>{</a:t>
            </a:r>
          </a:p>
          <a:p>
            <a:pPr>
              <a:buNone/>
            </a:pPr>
            <a:r>
              <a:rPr lang="en-GB" dirty="0" smtClean="0"/>
              <a:t>     </a:t>
            </a:r>
            <a:r>
              <a:rPr lang="en-GB" dirty="0" err="1" smtClean="0"/>
              <a:t>int</a:t>
            </a:r>
            <a:r>
              <a:rPr lang="en-GB" dirty="0" smtClean="0"/>
              <a:t> visit[67],</a:t>
            </a:r>
            <a:r>
              <a:rPr lang="en-GB" dirty="0" err="1" smtClean="0"/>
              <a:t>loc,i,j,k,tmp</a:t>
            </a:r>
            <a:r>
              <a:rPr lang="en-GB" dirty="0" smtClean="0"/>
              <a:t>;</a:t>
            </a:r>
          </a:p>
          <a:p>
            <a:pPr>
              <a:buNone/>
            </a:pPr>
            <a:r>
              <a:rPr lang="en-GB" dirty="0" smtClean="0"/>
              <a:t>     for(</a:t>
            </a:r>
            <a:r>
              <a:rPr lang="en-GB" dirty="0" err="1" smtClean="0"/>
              <a:t>i</a:t>
            </a:r>
            <a:r>
              <a:rPr lang="en-GB" dirty="0" smtClean="0"/>
              <a:t>=0;i&lt;</a:t>
            </a:r>
            <a:r>
              <a:rPr lang="en-GB" dirty="0" err="1" smtClean="0"/>
              <a:t>n;i</a:t>
            </a:r>
            <a:r>
              <a:rPr lang="en-GB" dirty="0" smtClean="0"/>
              <a:t>++)</a:t>
            </a:r>
          </a:p>
          <a:p>
            <a:pPr>
              <a:buNone/>
            </a:pPr>
            <a:r>
              <a:rPr lang="en-GB" dirty="0" smtClean="0"/>
              <a:t>     {</a:t>
            </a:r>
          </a:p>
          <a:p>
            <a:pPr>
              <a:buNone/>
            </a:pPr>
            <a:r>
              <a:rPr lang="en-GB" dirty="0" smtClean="0"/>
              <a:t>                     visit[</a:t>
            </a:r>
            <a:r>
              <a:rPr lang="en-GB" dirty="0" err="1" smtClean="0"/>
              <a:t>i</a:t>
            </a:r>
            <a:r>
              <a:rPr lang="en-GB" dirty="0" smtClean="0"/>
              <a:t>]=0;</a:t>
            </a:r>
          </a:p>
          <a:p>
            <a:pPr>
              <a:buNone/>
            </a:pPr>
            <a:r>
              <a:rPr lang="en-GB" dirty="0" smtClean="0"/>
              <a:t>     }</a:t>
            </a:r>
          </a:p>
          <a:p>
            <a:pPr>
              <a:buNone/>
            </a:pPr>
            <a:r>
              <a:rPr lang="en-GB" dirty="0" smtClean="0"/>
              <a:t>     </a:t>
            </a:r>
            <a:r>
              <a:rPr lang="en-GB" dirty="0" err="1" smtClean="0"/>
              <a:t>enqueue</a:t>
            </a:r>
            <a:r>
              <a:rPr lang="en-GB" dirty="0" smtClean="0"/>
              <a:t>(a[0]);</a:t>
            </a:r>
          </a:p>
          <a:p>
            <a:pPr>
              <a:buNone/>
            </a:pPr>
            <a:r>
              <a:rPr lang="en-GB" dirty="0" smtClean="0"/>
              <a:t>     while(front!=-1)</a:t>
            </a:r>
          </a:p>
          <a:p>
            <a:pPr>
              <a:buNone/>
            </a:pPr>
            <a:r>
              <a:rPr lang="en-GB" dirty="0" smtClean="0"/>
              <a:t>     {</a:t>
            </a:r>
          </a:p>
          <a:p>
            <a:pPr>
              <a:buNone/>
            </a:pPr>
            <a:r>
              <a:rPr lang="en-GB" dirty="0" smtClean="0"/>
              <a:t>                     </a:t>
            </a:r>
            <a:r>
              <a:rPr lang="en-GB" dirty="0" err="1" smtClean="0"/>
              <a:t>tmp</a:t>
            </a:r>
            <a:r>
              <a:rPr lang="en-GB" dirty="0" smtClean="0"/>
              <a:t>=</a:t>
            </a:r>
            <a:r>
              <a:rPr lang="en-GB" dirty="0" err="1" smtClean="0"/>
              <a:t>dequeue</a:t>
            </a:r>
            <a:r>
              <a:rPr lang="en-GB" dirty="0" smtClean="0"/>
              <a:t>();</a:t>
            </a:r>
          </a:p>
          <a:p>
            <a:pPr>
              <a:buNone/>
            </a:pPr>
            <a:r>
              <a:rPr lang="en-GB" dirty="0" smtClean="0"/>
              <a:t>                     for(loc=0;loc&lt;</a:t>
            </a:r>
            <a:r>
              <a:rPr lang="en-GB" dirty="0" err="1" smtClean="0"/>
              <a:t>n;loc</a:t>
            </a:r>
            <a:r>
              <a:rPr lang="en-GB" dirty="0" smtClean="0"/>
              <a:t>++)</a:t>
            </a:r>
          </a:p>
          <a:p>
            <a:pPr>
              <a:buNone/>
            </a:pPr>
            <a:r>
              <a:rPr lang="en-GB" dirty="0" smtClean="0"/>
              <a:t>                     {</a:t>
            </a:r>
          </a:p>
          <a:p>
            <a:pPr>
              <a:buNone/>
            </a:pPr>
            <a:r>
              <a:rPr lang="en-GB" dirty="0" smtClean="0"/>
              <a:t>                                           if(a[loc]==</a:t>
            </a:r>
            <a:r>
              <a:rPr lang="en-GB" dirty="0" err="1" smtClean="0"/>
              <a:t>tmp</a:t>
            </a:r>
            <a:r>
              <a:rPr lang="en-GB" dirty="0" smtClean="0"/>
              <a:t>)</a:t>
            </a:r>
          </a:p>
          <a:p>
            <a:pPr>
              <a:buNone/>
            </a:pPr>
            <a:r>
              <a:rPr lang="en-GB" dirty="0" smtClean="0"/>
              <a:t>                                                          break;</a:t>
            </a:r>
          </a:p>
          <a:p>
            <a:pPr>
              <a:buNone/>
            </a:pPr>
            <a:r>
              <a:rPr lang="en-GB" dirty="0" smtClean="0"/>
              <a:t>                     }</a:t>
            </a:r>
          </a:p>
          <a:p>
            <a:pPr>
              <a:buNone/>
            </a:pPr>
            <a:r>
              <a:rPr lang="en-GB" dirty="0" smtClean="0"/>
              <a:t>	                 if(visit[loc]==0)</a:t>
            </a:r>
          </a:p>
          <a:p>
            <a:pPr>
              <a:buNone/>
            </a:pPr>
            <a:r>
              <a:rPr lang="en-GB" dirty="0" smtClean="0"/>
              <a:t>	                             </a:t>
            </a:r>
            <a:r>
              <a:rPr lang="en-GB" dirty="0" err="1" smtClean="0"/>
              <a:t>printf</a:t>
            </a:r>
            <a:r>
              <a:rPr lang="en-GB" dirty="0" smtClean="0"/>
              <a:t>("%d ",a[loc]);</a:t>
            </a:r>
          </a:p>
          <a:p>
            <a:pPr>
              <a:buNone/>
            </a:pPr>
            <a:r>
              <a:rPr lang="en-GB" dirty="0" smtClean="0"/>
              <a:t>                     visit[loc]=1;</a:t>
            </a:r>
          </a:p>
          <a:p>
            <a:pPr>
              <a:buNone/>
            </a:pPr>
            <a:r>
              <a:rPr lang="en-GB" dirty="0" smtClean="0"/>
              <a:t>                     for(k=0;k&lt;</a:t>
            </a:r>
            <a:r>
              <a:rPr lang="en-GB" dirty="0" err="1" smtClean="0"/>
              <a:t>n;k</a:t>
            </a:r>
            <a:r>
              <a:rPr lang="en-GB" dirty="0" smtClean="0"/>
              <a:t>++)</a:t>
            </a:r>
          </a:p>
          <a:p>
            <a:pPr>
              <a:buNone/>
            </a:pPr>
            <a:r>
              <a:rPr lang="en-GB" dirty="0" smtClean="0"/>
              <a:t>	                 {</a:t>
            </a:r>
          </a:p>
          <a:p>
            <a:pPr>
              <a:buNone/>
            </a:pPr>
            <a:r>
              <a:rPr lang="en-GB" dirty="0" smtClean="0"/>
              <a:t>                              if(m[loc][k]==1&amp;&amp;visit[k]==0)</a:t>
            </a:r>
          </a:p>
          <a:p>
            <a:pPr>
              <a:buNone/>
            </a:pPr>
            <a:r>
              <a:rPr lang="en-GB" dirty="0" smtClean="0"/>
              <a:t>	                          {</a:t>
            </a:r>
          </a:p>
          <a:p>
            <a:pPr>
              <a:buNone/>
            </a:pPr>
            <a:r>
              <a:rPr lang="en-GB" dirty="0" smtClean="0"/>
              <a:t>	                               </a:t>
            </a:r>
            <a:r>
              <a:rPr lang="en-GB" dirty="0" err="1" smtClean="0"/>
              <a:t>enqueue</a:t>
            </a:r>
            <a:r>
              <a:rPr lang="en-GB" dirty="0" smtClean="0"/>
              <a:t>(a[k]);</a:t>
            </a:r>
          </a:p>
          <a:p>
            <a:pPr>
              <a:buNone/>
            </a:pPr>
            <a:r>
              <a:rPr lang="en-GB" dirty="0" smtClean="0"/>
              <a:t>                              }</a:t>
            </a:r>
          </a:p>
          <a:p>
            <a:pPr>
              <a:buNone/>
            </a:pPr>
            <a:r>
              <a:rPr lang="en-GB" dirty="0" smtClean="0"/>
              <a:t>	                 }</a:t>
            </a:r>
          </a:p>
          <a:p>
            <a:pPr>
              <a:buNone/>
            </a:pPr>
            <a:r>
              <a:rPr lang="en-GB" dirty="0" smtClean="0"/>
              <a:t>     }</a:t>
            </a:r>
          </a:p>
          <a:p>
            <a:pPr>
              <a:buNone/>
            </a:pPr>
            <a:r>
              <a:rPr lang="en-GB" dirty="0" smtClean="0"/>
              <a:t>}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53237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4873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Creation of Adjacency List(LL)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685800"/>
            <a:ext cx="8534400" cy="61722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1600" dirty="0" err="1" smtClean="0"/>
              <a:t>int</a:t>
            </a:r>
            <a:r>
              <a:rPr lang="en-US" sz="1600" dirty="0" smtClean="0"/>
              <a:t> main()</a:t>
            </a:r>
          </a:p>
          <a:p>
            <a:pPr>
              <a:buNone/>
            </a:pPr>
            <a:r>
              <a:rPr lang="en-US" sz="1600" dirty="0" smtClean="0"/>
              <a:t>{</a:t>
            </a:r>
          </a:p>
          <a:p>
            <a:pPr>
              <a:buNone/>
            </a:pPr>
            <a:r>
              <a:rPr lang="en-US" sz="1600" dirty="0" smtClean="0"/>
              <a:t>     </a:t>
            </a:r>
            <a:r>
              <a:rPr lang="en-US" sz="1600" dirty="0" err="1" smtClean="0"/>
              <a:t>int</a:t>
            </a:r>
            <a:r>
              <a:rPr lang="en-US" sz="1600" dirty="0" smtClean="0"/>
              <a:t> </a:t>
            </a:r>
            <a:r>
              <a:rPr lang="en-US" sz="1600" dirty="0" err="1" smtClean="0"/>
              <a:t>i,j,item</a:t>
            </a:r>
            <a:r>
              <a:rPr lang="en-US" sz="1600" dirty="0" smtClean="0"/>
              <a:t>;</a:t>
            </a:r>
          </a:p>
          <a:p>
            <a:pPr>
              <a:buNone/>
            </a:pPr>
            <a:r>
              <a:rPr lang="en-US" sz="1600" dirty="0" smtClean="0"/>
              <a:t>     </a:t>
            </a:r>
            <a:r>
              <a:rPr lang="en-US" sz="1600" dirty="0" err="1" smtClean="0"/>
              <a:t>struct</a:t>
            </a:r>
            <a:r>
              <a:rPr lang="en-US" sz="1600" dirty="0" smtClean="0"/>
              <a:t> tree *</a:t>
            </a:r>
            <a:r>
              <a:rPr lang="en-US" sz="1600" dirty="0" err="1" smtClean="0"/>
              <a:t>newnode</a:t>
            </a:r>
            <a:r>
              <a:rPr lang="en-US" sz="1600" dirty="0" smtClean="0"/>
              <a:t>,*</a:t>
            </a:r>
            <a:r>
              <a:rPr lang="en-US" sz="1600" dirty="0" err="1" smtClean="0"/>
              <a:t>ptr</a:t>
            </a:r>
            <a:r>
              <a:rPr lang="en-US" sz="1600" dirty="0" smtClean="0"/>
              <a:t>;</a:t>
            </a:r>
          </a:p>
          <a:p>
            <a:pPr>
              <a:buNone/>
            </a:pPr>
            <a:r>
              <a:rPr lang="en-US" sz="1600" dirty="0" smtClean="0"/>
              <a:t>     </a:t>
            </a:r>
            <a:r>
              <a:rPr lang="en-US" sz="1600" dirty="0" err="1" smtClean="0"/>
              <a:t>int</a:t>
            </a:r>
            <a:r>
              <a:rPr lang="en-US" sz="1600" dirty="0" smtClean="0"/>
              <a:t> </a:t>
            </a:r>
            <a:r>
              <a:rPr lang="en-US" sz="1600" dirty="0" err="1" smtClean="0"/>
              <a:t>cho</a:t>
            </a:r>
            <a:r>
              <a:rPr lang="en-US" sz="1600" dirty="0" smtClean="0"/>
              <a:t>;</a:t>
            </a:r>
          </a:p>
          <a:p>
            <a:pPr>
              <a:buNone/>
            </a:pPr>
            <a:r>
              <a:rPr lang="en-US" sz="1600" dirty="0" smtClean="0"/>
              <a:t>     </a:t>
            </a:r>
            <a:r>
              <a:rPr lang="en-US" sz="1600" dirty="0" err="1" smtClean="0"/>
              <a:t>printf</a:t>
            </a:r>
            <a:r>
              <a:rPr lang="en-US" sz="1600" dirty="0" smtClean="0"/>
              <a:t>("Enter the no of vertices\n");</a:t>
            </a:r>
          </a:p>
          <a:p>
            <a:pPr>
              <a:buNone/>
            </a:pPr>
            <a:r>
              <a:rPr lang="en-US" sz="1600" dirty="0" smtClean="0"/>
              <a:t>     </a:t>
            </a:r>
            <a:r>
              <a:rPr lang="en-US" sz="1600" dirty="0" err="1" smtClean="0"/>
              <a:t>scanf</a:t>
            </a:r>
            <a:r>
              <a:rPr lang="en-US" sz="1600" dirty="0" smtClean="0"/>
              <a:t>("%</a:t>
            </a:r>
            <a:r>
              <a:rPr lang="en-US" sz="1600" dirty="0" err="1" smtClean="0"/>
              <a:t>d",&amp;n</a:t>
            </a:r>
            <a:r>
              <a:rPr lang="en-US" sz="1600" dirty="0" smtClean="0"/>
              <a:t>);</a:t>
            </a:r>
          </a:p>
          <a:p>
            <a:pPr>
              <a:buNone/>
            </a:pPr>
            <a:r>
              <a:rPr lang="en-US" sz="1600" dirty="0" smtClean="0"/>
              <a:t>     </a:t>
            </a:r>
            <a:r>
              <a:rPr lang="en-US" sz="1600" dirty="0" err="1" smtClean="0"/>
              <a:t>printf</a:t>
            </a:r>
            <a:r>
              <a:rPr lang="en-US" sz="1600" dirty="0" smtClean="0"/>
              <a:t>("Enter the vertices\n");</a:t>
            </a:r>
          </a:p>
          <a:p>
            <a:pPr>
              <a:buNone/>
            </a:pPr>
            <a:r>
              <a:rPr lang="en-US" sz="1600" dirty="0" smtClean="0"/>
              <a:t>     for(</a:t>
            </a:r>
            <a:r>
              <a:rPr lang="en-US" sz="1600" dirty="0" err="1" smtClean="0"/>
              <a:t>i</a:t>
            </a:r>
            <a:r>
              <a:rPr lang="en-US" sz="1600" dirty="0" smtClean="0"/>
              <a:t>=0;i&lt;</a:t>
            </a:r>
            <a:r>
              <a:rPr lang="en-US" sz="1600" dirty="0" err="1" smtClean="0"/>
              <a:t>n;i</a:t>
            </a:r>
            <a:r>
              <a:rPr lang="en-US" sz="1600" dirty="0" smtClean="0"/>
              <a:t>++)</a:t>
            </a:r>
          </a:p>
          <a:p>
            <a:pPr>
              <a:buNone/>
            </a:pPr>
            <a:r>
              <a:rPr lang="en-US" sz="1600" dirty="0" smtClean="0"/>
              <a:t>     {</a:t>
            </a:r>
          </a:p>
          <a:p>
            <a:pPr>
              <a:buNone/>
            </a:pPr>
            <a:r>
              <a:rPr lang="en-US" sz="1600" dirty="0" smtClean="0"/>
              <a:t>                     </a:t>
            </a:r>
            <a:r>
              <a:rPr lang="en-US" sz="1600" dirty="0" err="1" smtClean="0"/>
              <a:t>newnode</a:t>
            </a:r>
            <a:r>
              <a:rPr lang="en-US" sz="1600" dirty="0" smtClean="0"/>
              <a:t>=(</a:t>
            </a:r>
            <a:r>
              <a:rPr lang="en-US" sz="1600" dirty="0" err="1" smtClean="0"/>
              <a:t>struct</a:t>
            </a:r>
            <a:r>
              <a:rPr lang="en-US" sz="1600" dirty="0" smtClean="0"/>
              <a:t> tree*)</a:t>
            </a:r>
            <a:r>
              <a:rPr lang="en-US" sz="1600" dirty="0" err="1" smtClean="0"/>
              <a:t>malloc</a:t>
            </a:r>
            <a:r>
              <a:rPr lang="en-US" sz="1600" dirty="0" smtClean="0"/>
              <a:t>(</a:t>
            </a:r>
            <a:r>
              <a:rPr lang="en-US" sz="1600" dirty="0" err="1" smtClean="0"/>
              <a:t>sizeof</a:t>
            </a:r>
            <a:r>
              <a:rPr lang="en-US" sz="1600" dirty="0" smtClean="0"/>
              <a:t>(</a:t>
            </a:r>
            <a:r>
              <a:rPr lang="en-US" sz="1600" dirty="0" err="1" smtClean="0"/>
              <a:t>struct</a:t>
            </a:r>
            <a:r>
              <a:rPr lang="en-US" sz="1600" dirty="0" smtClean="0"/>
              <a:t> tree));</a:t>
            </a:r>
          </a:p>
          <a:p>
            <a:pPr>
              <a:buNone/>
            </a:pPr>
            <a:r>
              <a:rPr lang="en-US" sz="1600" dirty="0" smtClean="0"/>
              <a:t>                     </a:t>
            </a:r>
            <a:r>
              <a:rPr lang="en-US" sz="1600" dirty="0" err="1" smtClean="0"/>
              <a:t>scanf</a:t>
            </a:r>
            <a:r>
              <a:rPr lang="en-US" sz="1600" dirty="0" smtClean="0"/>
              <a:t>("%</a:t>
            </a:r>
            <a:r>
              <a:rPr lang="en-US" sz="1600" dirty="0" err="1" smtClean="0"/>
              <a:t>d",&amp;newnode</a:t>
            </a:r>
            <a:r>
              <a:rPr lang="en-US" sz="1600" dirty="0" smtClean="0"/>
              <a:t>-&gt;data);</a:t>
            </a:r>
          </a:p>
          <a:p>
            <a:pPr>
              <a:buNone/>
            </a:pPr>
            <a:r>
              <a:rPr lang="en-US" sz="1600" dirty="0" smtClean="0"/>
              <a:t>                     </a:t>
            </a:r>
            <a:r>
              <a:rPr lang="en-US" sz="1600" dirty="0" err="1" smtClean="0"/>
              <a:t>newnode</a:t>
            </a:r>
            <a:r>
              <a:rPr lang="en-US" sz="1600" dirty="0" smtClean="0"/>
              <a:t>-&gt;link=NULL;</a:t>
            </a:r>
          </a:p>
          <a:p>
            <a:pPr>
              <a:buNone/>
            </a:pPr>
            <a:r>
              <a:rPr lang="en-US" sz="1600" dirty="0" smtClean="0"/>
              <a:t>                     insert(</a:t>
            </a:r>
            <a:r>
              <a:rPr lang="en-US" sz="1600" dirty="0" err="1" smtClean="0"/>
              <a:t>newnode</a:t>
            </a:r>
            <a:r>
              <a:rPr lang="en-US" sz="1600" dirty="0" smtClean="0"/>
              <a:t>);</a:t>
            </a:r>
          </a:p>
          <a:p>
            <a:pPr>
              <a:buNone/>
            </a:pPr>
            <a:r>
              <a:rPr lang="en-US" sz="1600" dirty="0" smtClean="0"/>
              <a:t>     }</a:t>
            </a:r>
          </a:p>
          <a:p>
            <a:pPr>
              <a:buNone/>
            </a:pPr>
            <a:r>
              <a:rPr lang="en-US" sz="1600" dirty="0" smtClean="0"/>
              <a:t>     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77471350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8915400" cy="68580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1400" dirty="0" smtClean="0"/>
              <a:t>for(</a:t>
            </a:r>
            <a:r>
              <a:rPr lang="en-US" sz="1400" dirty="0" err="1" smtClean="0"/>
              <a:t>i</a:t>
            </a:r>
            <a:r>
              <a:rPr lang="en-US" sz="1400" dirty="0" smtClean="0"/>
              <a:t>=0;i&lt;</a:t>
            </a:r>
            <a:r>
              <a:rPr lang="en-US" sz="1400" dirty="0" err="1" smtClean="0"/>
              <a:t>n;i</a:t>
            </a:r>
            <a:r>
              <a:rPr lang="en-US" sz="1400" dirty="0" smtClean="0"/>
              <a:t>++)</a:t>
            </a:r>
          </a:p>
          <a:p>
            <a:pPr>
              <a:buNone/>
            </a:pPr>
            <a:r>
              <a:rPr lang="en-US" sz="1400" dirty="0" smtClean="0"/>
              <a:t>     {</a:t>
            </a:r>
          </a:p>
          <a:p>
            <a:pPr>
              <a:buNone/>
            </a:pPr>
            <a:r>
              <a:rPr lang="en-US" sz="1400" dirty="0" smtClean="0"/>
              <a:t>                     </a:t>
            </a:r>
            <a:r>
              <a:rPr lang="en-US" sz="1400" dirty="0" err="1" smtClean="0"/>
              <a:t>printf</a:t>
            </a:r>
            <a:r>
              <a:rPr lang="en-US" sz="1400" dirty="0" smtClean="0"/>
              <a:t>("\</a:t>
            </a:r>
            <a:r>
              <a:rPr lang="en-US" sz="1400" dirty="0" err="1" smtClean="0"/>
              <a:t>ndo</a:t>
            </a:r>
            <a:r>
              <a:rPr lang="en-US" sz="1400" dirty="0" smtClean="0"/>
              <a:t> u want adjacent node for %d (1/0) : ",info[</a:t>
            </a:r>
            <a:r>
              <a:rPr lang="en-US" sz="1400" dirty="0" err="1" smtClean="0"/>
              <a:t>i</a:t>
            </a:r>
            <a:r>
              <a:rPr lang="en-US" sz="1400" dirty="0" smtClean="0"/>
              <a:t>]-&gt;data);</a:t>
            </a:r>
          </a:p>
          <a:p>
            <a:pPr>
              <a:buNone/>
            </a:pPr>
            <a:r>
              <a:rPr lang="en-US" sz="1400" dirty="0" smtClean="0"/>
              <a:t>                     </a:t>
            </a:r>
            <a:r>
              <a:rPr lang="en-US" sz="1400" dirty="0" err="1" smtClean="0"/>
              <a:t>scanf</a:t>
            </a:r>
            <a:r>
              <a:rPr lang="en-US" sz="1400" dirty="0" smtClean="0"/>
              <a:t>("%</a:t>
            </a:r>
            <a:r>
              <a:rPr lang="en-US" sz="1400" dirty="0" err="1" smtClean="0"/>
              <a:t>d",&amp;cho</a:t>
            </a:r>
            <a:r>
              <a:rPr lang="en-US" sz="1400" dirty="0" smtClean="0"/>
              <a:t>);</a:t>
            </a:r>
          </a:p>
          <a:p>
            <a:pPr>
              <a:buNone/>
            </a:pPr>
            <a:r>
              <a:rPr lang="en-US" sz="1400" dirty="0" smtClean="0"/>
              <a:t>                     </a:t>
            </a:r>
            <a:r>
              <a:rPr lang="en-US" sz="1400" dirty="0" err="1" smtClean="0"/>
              <a:t>ptr</a:t>
            </a:r>
            <a:r>
              <a:rPr lang="en-US" sz="1400" dirty="0" smtClean="0"/>
              <a:t>=NULL;</a:t>
            </a:r>
          </a:p>
          <a:p>
            <a:pPr>
              <a:buNone/>
            </a:pPr>
            <a:r>
              <a:rPr lang="en-US" sz="1400" dirty="0" smtClean="0"/>
              <a:t>                     while(</a:t>
            </a:r>
            <a:r>
              <a:rPr lang="en-US" sz="1400" dirty="0" err="1" smtClean="0"/>
              <a:t>cho</a:t>
            </a:r>
            <a:r>
              <a:rPr lang="en-US" sz="1400" dirty="0" smtClean="0"/>
              <a:t>==1)</a:t>
            </a:r>
          </a:p>
          <a:p>
            <a:pPr>
              <a:buNone/>
            </a:pPr>
            <a:r>
              <a:rPr lang="en-US" sz="1400" dirty="0" smtClean="0"/>
              <a:t>                     {           </a:t>
            </a:r>
            <a:r>
              <a:rPr lang="en-US" sz="1400" dirty="0" err="1" smtClean="0"/>
              <a:t>printf</a:t>
            </a:r>
            <a:r>
              <a:rPr lang="en-US" sz="1400" dirty="0" smtClean="0"/>
              <a:t>("\</a:t>
            </a:r>
            <a:r>
              <a:rPr lang="en-US" sz="1400" dirty="0" err="1" smtClean="0"/>
              <a:t>nEnter</a:t>
            </a:r>
            <a:r>
              <a:rPr lang="en-US" sz="1400" dirty="0" smtClean="0"/>
              <a:t> the adjacent node:");</a:t>
            </a:r>
          </a:p>
          <a:p>
            <a:pPr>
              <a:buNone/>
            </a:pPr>
            <a:r>
              <a:rPr lang="en-US" sz="1400" dirty="0" smtClean="0"/>
              <a:t>                                  </a:t>
            </a:r>
            <a:r>
              <a:rPr lang="en-US" sz="1400" dirty="0" err="1" smtClean="0"/>
              <a:t>newnode</a:t>
            </a:r>
            <a:r>
              <a:rPr lang="en-US" sz="1400" dirty="0" smtClean="0"/>
              <a:t>=(</a:t>
            </a:r>
            <a:r>
              <a:rPr lang="en-US" sz="1400" dirty="0" err="1" smtClean="0"/>
              <a:t>struct</a:t>
            </a:r>
            <a:r>
              <a:rPr lang="en-US" sz="1400" dirty="0" smtClean="0"/>
              <a:t> tree*)</a:t>
            </a:r>
            <a:r>
              <a:rPr lang="en-US" sz="1400" dirty="0" err="1" smtClean="0"/>
              <a:t>malloc</a:t>
            </a:r>
            <a:r>
              <a:rPr lang="en-US" sz="1400" dirty="0" smtClean="0"/>
              <a:t>(</a:t>
            </a:r>
            <a:r>
              <a:rPr lang="en-US" sz="1400" dirty="0" err="1" smtClean="0"/>
              <a:t>sizeof</a:t>
            </a:r>
            <a:r>
              <a:rPr lang="en-US" sz="1400" dirty="0" smtClean="0"/>
              <a:t>(</a:t>
            </a:r>
            <a:r>
              <a:rPr lang="en-US" sz="1400" dirty="0" err="1" smtClean="0"/>
              <a:t>struct</a:t>
            </a:r>
            <a:r>
              <a:rPr lang="en-US" sz="1400" dirty="0" smtClean="0"/>
              <a:t> tree));</a:t>
            </a:r>
          </a:p>
          <a:p>
            <a:pPr>
              <a:buNone/>
            </a:pPr>
            <a:r>
              <a:rPr lang="en-US" sz="1400" dirty="0" smtClean="0"/>
              <a:t>                                  </a:t>
            </a:r>
            <a:r>
              <a:rPr lang="en-US" sz="1400" dirty="0" err="1" smtClean="0"/>
              <a:t>scanf</a:t>
            </a:r>
            <a:r>
              <a:rPr lang="en-US" sz="1400" dirty="0" smtClean="0"/>
              <a:t>("%</a:t>
            </a:r>
            <a:r>
              <a:rPr lang="en-US" sz="1400" dirty="0" err="1" smtClean="0"/>
              <a:t>d",&amp;newnode</a:t>
            </a:r>
            <a:r>
              <a:rPr lang="en-US" sz="1400" dirty="0" smtClean="0"/>
              <a:t>-&gt;data);</a:t>
            </a:r>
          </a:p>
          <a:p>
            <a:pPr>
              <a:buNone/>
            </a:pPr>
            <a:r>
              <a:rPr lang="en-US" sz="1400" dirty="0" smtClean="0"/>
              <a:t>                                  </a:t>
            </a:r>
            <a:r>
              <a:rPr lang="en-US" sz="1400" dirty="0" err="1" smtClean="0"/>
              <a:t>newnode</a:t>
            </a:r>
            <a:r>
              <a:rPr lang="en-US" sz="1400" dirty="0" smtClean="0"/>
              <a:t>-&gt;link=NULL;</a:t>
            </a:r>
          </a:p>
          <a:p>
            <a:pPr>
              <a:buNone/>
            </a:pPr>
            <a:r>
              <a:rPr lang="en-US" sz="1400" dirty="0" smtClean="0"/>
              <a:t>                                  for(j=0;j&lt;</a:t>
            </a:r>
            <a:r>
              <a:rPr lang="en-US" sz="1400" dirty="0" err="1" smtClean="0"/>
              <a:t>n;j</a:t>
            </a:r>
            <a:r>
              <a:rPr lang="en-US" sz="1400" dirty="0" smtClean="0"/>
              <a:t>++)</a:t>
            </a:r>
          </a:p>
          <a:p>
            <a:pPr>
              <a:buNone/>
            </a:pPr>
            <a:r>
              <a:rPr lang="en-US" sz="1400" dirty="0" smtClean="0"/>
              <a:t>                                  {         if(info[j]-&gt;data==</a:t>
            </a:r>
            <a:r>
              <a:rPr lang="en-US" sz="1400" dirty="0" err="1" smtClean="0"/>
              <a:t>newnode</a:t>
            </a:r>
            <a:r>
              <a:rPr lang="en-US" sz="1400" dirty="0" smtClean="0"/>
              <a:t>-&gt;data)</a:t>
            </a:r>
          </a:p>
          <a:p>
            <a:pPr>
              <a:buNone/>
            </a:pPr>
            <a:r>
              <a:rPr lang="en-US" sz="1400" dirty="0" smtClean="0"/>
              <a:t>	                                                            break;</a:t>
            </a:r>
          </a:p>
          <a:p>
            <a:pPr>
              <a:buNone/>
            </a:pPr>
            <a:r>
              <a:rPr lang="en-US" sz="1400" dirty="0" smtClean="0"/>
              <a:t>		           }</a:t>
            </a:r>
          </a:p>
          <a:p>
            <a:pPr>
              <a:buNone/>
            </a:pPr>
            <a:r>
              <a:rPr lang="en-US" sz="1400" dirty="0" smtClean="0"/>
              <a:t>                                 if(</a:t>
            </a:r>
            <a:r>
              <a:rPr lang="en-US" sz="1400" dirty="0" err="1" smtClean="0"/>
              <a:t>ptr</a:t>
            </a:r>
            <a:r>
              <a:rPr lang="en-US" sz="1400" dirty="0" smtClean="0"/>
              <a:t>==NULL)</a:t>
            </a:r>
          </a:p>
          <a:p>
            <a:pPr>
              <a:buNone/>
            </a:pPr>
            <a:r>
              <a:rPr lang="en-US" sz="1400" dirty="0" smtClean="0"/>
              <a:t>                                  {</a:t>
            </a:r>
          </a:p>
          <a:p>
            <a:pPr>
              <a:buNone/>
            </a:pPr>
            <a:r>
              <a:rPr lang="en-US" sz="1400" dirty="0" smtClean="0"/>
              <a:t>                                                            info[</a:t>
            </a:r>
            <a:r>
              <a:rPr lang="en-US" sz="1400" dirty="0" err="1" smtClean="0"/>
              <a:t>i</a:t>
            </a:r>
            <a:r>
              <a:rPr lang="en-US" sz="1400" dirty="0" smtClean="0"/>
              <a:t>]-&gt;link=</a:t>
            </a:r>
            <a:r>
              <a:rPr lang="en-US" sz="1400" dirty="0" err="1" smtClean="0"/>
              <a:t>newnode</a:t>
            </a:r>
            <a:r>
              <a:rPr lang="en-US" sz="1400" dirty="0" smtClean="0"/>
              <a:t>;</a:t>
            </a:r>
          </a:p>
          <a:p>
            <a:pPr>
              <a:buNone/>
            </a:pPr>
            <a:r>
              <a:rPr lang="en-US" sz="1400" dirty="0" smtClean="0"/>
              <a:t>                                                            </a:t>
            </a:r>
            <a:r>
              <a:rPr lang="en-US" sz="1400" dirty="0" err="1" smtClean="0"/>
              <a:t>ptr</a:t>
            </a:r>
            <a:r>
              <a:rPr lang="en-US" sz="1400" dirty="0" smtClean="0"/>
              <a:t>=</a:t>
            </a:r>
            <a:r>
              <a:rPr lang="en-US" sz="1400" dirty="0" err="1" smtClean="0"/>
              <a:t>newnode</a:t>
            </a:r>
            <a:r>
              <a:rPr lang="en-US" sz="1400" dirty="0" smtClean="0"/>
              <a:t>;</a:t>
            </a:r>
          </a:p>
          <a:p>
            <a:pPr>
              <a:buNone/>
            </a:pPr>
            <a:r>
              <a:rPr lang="en-US" sz="1400" dirty="0" smtClean="0"/>
              <a:t>                                  }</a:t>
            </a:r>
          </a:p>
          <a:p>
            <a:pPr>
              <a:buNone/>
            </a:pPr>
            <a:r>
              <a:rPr lang="en-US" sz="1400" dirty="0" smtClean="0"/>
              <a:t>                                  else</a:t>
            </a:r>
          </a:p>
          <a:p>
            <a:pPr>
              <a:buNone/>
            </a:pPr>
            <a:r>
              <a:rPr lang="en-US" sz="1400" dirty="0" smtClean="0"/>
              <a:t>                                  {</a:t>
            </a:r>
          </a:p>
          <a:p>
            <a:pPr>
              <a:buNone/>
            </a:pPr>
            <a:r>
              <a:rPr lang="en-US" sz="1400" dirty="0" smtClean="0"/>
              <a:t>                                      </a:t>
            </a:r>
            <a:r>
              <a:rPr lang="en-US" sz="1400" dirty="0" err="1" smtClean="0"/>
              <a:t>ptr</a:t>
            </a:r>
            <a:r>
              <a:rPr lang="en-US" sz="1400" dirty="0" smtClean="0"/>
              <a:t>-&gt;link=</a:t>
            </a:r>
            <a:r>
              <a:rPr lang="en-US" sz="1400" dirty="0" err="1" smtClean="0"/>
              <a:t>newnode</a:t>
            </a:r>
            <a:r>
              <a:rPr lang="en-US" sz="1400" dirty="0" smtClean="0"/>
              <a:t>;</a:t>
            </a:r>
          </a:p>
          <a:p>
            <a:pPr>
              <a:buNone/>
            </a:pPr>
            <a:r>
              <a:rPr lang="en-US" sz="1400" dirty="0" smtClean="0"/>
              <a:t>                                      </a:t>
            </a:r>
            <a:r>
              <a:rPr lang="en-US" sz="1400" dirty="0" err="1" smtClean="0"/>
              <a:t>ptr</a:t>
            </a:r>
            <a:r>
              <a:rPr lang="en-US" sz="1400" dirty="0" smtClean="0"/>
              <a:t>=</a:t>
            </a:r>
            <a:r>
              <a:rPr lang="en-US" sz="1400" dirty="0" err="1" smtClean="0"/>
              <a:t>newnode</a:t>
            </a:r>
            <a:r>
              <a:rPr lang="en-US" sz="1400" dirty="0" smtClean="0"/>
              <a:t>;</a:t>
            </a:r>
          </a:p>
          <a:p>
            <a:pPr>
              <a:buNone/>
            </a:pPr>
            <a:r>
              <a:rPr lang="en-US" sz="1400" dirty="0" smtClean="0"/>
              <a:t>                                  }</a:t>
            </a:r>
          </a:p>
          <a:p>
            <a:pPr>
              <a:buNone/>
            </a:pPr>
            <a:r>
              <a:rPr lang="en-US" sz="1400" dirty="0" smtClean="0"/>
              <a:t>                                  </a:t>
            </a:r>
            <a:r>
              <a:rPr lang="en-US" sz="1400" dirty="0" err="1" smtClean="0"/>
              <a:t>printf</a:t>
            </a:r>
            <a:r>
              <a:rPr lang="en-US" sz="1400" dirty="0" smtClean="0"/>
              <a:t>("\</a:t>
            </a:r>
            <a:r>
              <a:rPr lang="en-US" sz="1400" dirty="0" err="1" smtClean="0"/>
              <a:t>nDo</a:t>
            </a:r>
            <a:r>
              <a:rPr lang="en-US" sz="1400" dirty="0" smtClean="0"/>
              <a:t> u want more nodes for %d (1/0) : ",info[</a:t>
            </a:r>
            <a:r>
              <a:rPr lang="en-US" sz="1400" dirty="0" err="1" smtClean="0"/>
              <a:t>i</a:t>
            </a:r>
            <a:r>
              <a:rPr lang="en-US" sz="1400" dirty="0" smtClean="0"/>
              <a:t>]-&gt;data);</a:t>
            </a:r>
          </a:p>
          <a:p>
            <a:pPr>
              <a:buNone/>
            </a:pPr>
            <a:r>
              <a:rPr lang="en-US" sz="1400" dirty="0" smtClean="0"/>
              <a:t>                                  </a:t>
            </a:r>
            <a:r>
              <a:rPr lang="en-US" sz="1400" dirty="0" err="1" smtClean="0"/>
              <a:t>scanf</a:t>
            </a:r>
            <a:r>
              <a:rPr lang="en-US" sz="1400" dirty="0" smtClean="0"/>
              <a:t>("%</a:t>
            </a:r>
            <a:r>
              <a:rPr lang="en-US" sz="1400" dirty="0" err="1" smtClean="0"/>
              <a:t>d",&amp;cho</a:t>
            </a:r>
            <a:r>
              <a:rPr lang="en-US" sz="1400" dirty="0" smtClean="0"/>
              <a:t>);</a:t>
            </a:r>
          </a:p>
          <a:p>
            <a:pPr>
              <a:buNone/>
            </a:pPr>
            <a:r>
              <a:rPr lang="en-US" sz="1400" dirty="0" smtClean="0"/>
              <a:t>                     }</a:t>
            </a:r>
          </a:p>
          <a:p>
            <a:pPr>
              <a:buNone/>
            </a:pPr>
            <a:r>
              <a:rPr lang="en-US" sz="1400" dirty="0" smtClean="0"/>
              <a:t>     }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6885358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1901</TotalTime>
  <Words>2038</Words>
  <Application>Microsoft Office PowerPoint</Application>
  <PresentationFormat>On-screen Show (4:3)</PresentationFormat>
  <Paragraphs>419</Paragraphs>
  <Slides>49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0" baseType="lpstr">
      <vt:lpstr>Office Theme</vt:lpstr>
      <vt:lpstr>Graphs</vt:lpstr>
      <vt:lpstr>PowerPoint Presentation</vt:lpstr>
      <vt:lpstr>Graph Terminologies</vt:lpstr>
      <vt:lpstr>         G1 is an undirected graph and G2 is a directed graph.  V(G1) = {1,2,3,4} E(G1) = {(1,2), (1,3), (1,4), (2,3), (2,4), (3,4)}   V(G2) = {1,2,3} E(G2) = {(1,2), (2,3)}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           Complete graph</vt:lpstr>
      <vt:lpstr>Representation of Graphs</vt:lpstr>
      <vt:lpstr>Set Representation</vt:lpstr>
      <vt:lpstr>PowerPoint Presentation</vt:lpstr>
      <vt:lpstr>PowerPoint Presentation</vt:lpstr>
      <vt:lpstr>PowerPoint Presentation</vt:lpstr>
      <vt:lpstr>Matrix Representation/ Adjacency Matrix</vt:lpstr>
      <vt:lpstr>PowerPoint Presentation</vt:lpstr>
      <vt:lpstr>PowerPoint Presentation</vt:lpstr>
      <vt:lpstr>PowerPoint Presentation</vt:lpstr>
      <vt:lpstr>Linked Representation/ Adjacency List</vt:lpstr>
      <vt:lpstr>PowerPoint Presentation</vt:lpstr>
      <vt:lpstr>PowerPoint Presentation</vt:lpstr>
      <vt:lpstr>PowerPoint Presentation</vt:lpstr>
      <vt:lpstr>Q) Write adjacency list representation for the following graphs</vt:lpstr>
      <vt:lpstr>PowerPoint Presentation</vt:lpstr>
      <vt:lpstr>PowerPoint Presentation</vt:lpstr>
      <vt:lpstr>Comparison among various representations</vt:lpstr>
      <vt:lpstr>Graph Traversals</vt:lpstr>
      <vt:lpstr>Depth First Search</vt:lpstr>
      <vt:lpstr>DFS Example 1</vt:lpstr>
      <vt:lpstr>DFS Example 2</vt:lpstr>
      <vt:lpstr>Breadth First Search</vt:lpstr>
      <vt:lpstr>BFS Example 1</vt:lpstr>
      <vt:lpstr>BFS Example 2</vt:lpstr>
      <vt:lpstr>PowerPoint Presentation</vt:lpstr>
      <vt:lpstr>PowerPoint Presentation</vt:lpstr>
      <vt:lpstr>Application of Graph structures</vt:lpstr>
      <vt:lpstr>2. Map Colouring</vt:lpstr>
      <vt:lpstr>3. Topological Sort</vt:lpstr>
      <vt:lpstr>Application contd.</vt:lpstr>
      <vt:lpstr>(DS LAB) Creation of Adjacency Matrix</vt:lpstr>
      <vt:lpstr>PowerPoint Presentation</vt:lpstr>
      <vt:lpstr>PowerPoint Presentation</vt:lpstr>
      <vt:lpstr>PowerPoint Presentation</vt:lpstr>
      <vt:lpstr>Creation of Adjacency List(LL)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Graph</dc:title>
  <dc:creator>cinita mary</dc:creator>
  <cp:lastModifiedBy>Ms. Cinita Mary Mathew</cp:lastModifiedBy>
  <cp:revision>136</cp:revision>
  <dcterms:created xsi:type="dcterms:W3CDTF">2006-08-16T00:00:00Z</dcterms:created>
  <dcterms:modified xsi:type="dcterms:W3CDTF">2023-12-05T04:38:23Z</dcterms:modified>
</cp:coreProperties>
</file>